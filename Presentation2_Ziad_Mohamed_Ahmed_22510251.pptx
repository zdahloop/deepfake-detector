
<file path=[Content_Types].xml><?xml version="1.0" encoding="utf-8"?>
<Types xmlns="http://schemas.openxmlformats.org/package/2006/content-types">
  <Default Extension="jfif"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9" r:id="rId7"/>
    <p:sldId id="262" r:id="rId8"/>
    <p:sldId id="263" r:id="rId9"/>
    <p:sldId id="276" r:id="rId10"/>
    <p:sldId id="277" r:id="rId11"/>
    <p:sldId id="265" r:id="rId12"/>
    <p:sldId id="268" r:id="rId13"/>
    <p:sldId id="278" r:id="rId14"/>
    <p:sldId id="267" r:id="rId1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7" d="100"/>
          <a:sy n="117" d="100"/>
        </p:scale>
        <p:origin x="466" y="8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22885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2913063" y="0"/>
            <a:ext cx="2228850" cy="457200"/>
          </a:xfrm>
          <a:prstGeom prst="rect">
            <a:avLst/>
          </a:prstGeom>
        </p:spPr>
        <p:txBody>
          <a:bodyPr vert="horz" lIns="91440" tIns="45720" rIns="91440" bIns="45720" rtlCol="0"/>
          <a:lstStyle>
            <a:lvl1pPr algn="r">
              <a:defRPr sz="1200"/>
            </a:lvl1pPr>
          </a:lstStyle>
          <a:p>
            <a:fld id="{C5DCFD99-6B71-41BF-978A-450975057FCF}" type="datetimeFigureOut">
              <a:rPr lang="en-US" smtClean="0"/>
              <a:t>5/14/2026</a:t>
            </a:fld>
            <a:endParaRPr lang="en-US"/>
          </a:p>
        </p:txBody>
      </p:sp>
      <p:sp>
        <p:nvSpPr>
          <p:cNvPr id="4" name="Slide Image Placeholder 3"/>
          <p:cNvSpPr>
            <a:spLocks noGrp="1" noRot="1" noChangeAspect="1"/>
          </p:cNvSpPr>
          <p:nvPr>
            <p:ph type="sldImg" idx="2"/>
          </p:nvPr>
        </p:nvSpPr>
        <p:spPr>
          <a:xfrm>
            <a:off x="-47625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514350" y="4343400"/>
            <a:ext cx="41148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22885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2913063" y="8685213"/>
            <a:ext cx="2228850" cy="457200"/>
          </a:xfrm>
          <a:prstGeom prst="rect">
            <a:avLst/>
          </a:prstGeom>
        </p:spPr>
        <p:txBody>
          <a:bodyPr vert="horz" lIns="91440" tIns="45720" rIns="91440" bIns="45720" rtlCol="0" anchor="b"/>
          <a:lstStyle>
            <a:lvl1pPr algn="r">
              <a:defRPr sz="1200"/>
            </a:lvl1pPr>
          </a:lstStyle>
          <a:p>
            <a:fld id="{BC6FD1B1-F8C3-4955-A3E9-FF352436914F}" type="slidenum">
              <a:rPr lang="en-US" smtClean="0"/>
              <a:t>‹#›</a:t>
            </a:fld>
            <a:endParaRPr lang="en-US"/>
          </a:p>
        </p:txBody>
      </p:sp>
    </p:spTree>
    <p:extLst>
      <p:ext uri="{BB962C8B-B14F-4D97-AF65-F5344CB8AC3E}">
        <p14:creationId xmlns:p14="http://schemas.microsoft.com/office/powerpoint/2010/main" val="3960674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My name is Ziad Mohamed Ahmed, student ID 22510251, presenting my final year project: the Deepfake Image Detection System, developed under the supervision of Dr. Amira Abdelfattah. This system uses VGG16 transfer learning, MTCNN face detection, and Grad-CAM explainability to classify facial images as real or fake with 96.27% accuracy.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presentation follows ten sections. I will cover the background and problem, our objectives, the proposed AI solution and how it compares to existing tools, the system design and implementation details, results, future work, and a conclusion. Total presentation time: 5 minutes.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Deepfakes are AI-generated fake images and videos made with Generative Adversarial Networks. They are used for fraud, impersonation, and spreading misinformation. As generative models like StyleGAN and Stable Diffusion become more accessible, human inspection alone is no longer sufficient. Automated, explainable detection systems are urgently needed.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problem has two dimensions. On one hand, deepfake technology has advanced to the point where GANs like StyleGAN2 produce faces indistinguishable from real ones — exposing critical weaknesses in traditional forensics. On the other hand, no accessible, explainable, and privacy-preserving detection tool exists for still images that non-technical users can actually use.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has five objectives aligned with the four functional requirements and one non-functional requirement. FR1 covers data collection; FR2 covers model training; FR3 covers performance evaluation; FR4 covers the web interface; and the NFR covers explainability through Grad-CAM heatmaps. Achieving ≥90% accuracy was a hard constraint.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Comparing our system against three leading commercial tools. Our system uniquely offers Grad-CAM visual explainability, automatic PDF report generation, anonymous use with no account needed, in-memory privacy-first processing, and full open-source availability. No competitor offers all of these features together, particularly the combination of explainability and zero data storage.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 design uses VGG16 with transfer learning. We freeze the first four convolutional blocks which already capture generic visual features from ImageNet, and fine-tune Block 5 plus a custom binary classifier head. The dataset contains 120,000 balanced images from multiple real and fake sources, split 70-15-15 for training, validation, and testing.</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VGG16 achieved 96.27% test accuracy — significantly above our 90% target. The confusion matrix shows 8,714 true positives and 8,614 true negatives. With only 286 false negatives, the model is more sensitive to detecting fakes than mislabelling real images — which is the safer error for a forensic tool. EfficientNet-B3 and ResNet18 both met the 90% threshold but were outperformed by VGG16.</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future directions. The roadmap bar shows a natural sequence from video → audio → ID documents → ViT retraining. The modular Flask architecture makes these extensions straightforward. ~20 sec.</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VGG16 achieved 96.27% accuracy, all requirements were met, and the system is deployable today without any proprietary infrastructure. The project makes three contributions: a reproducible benchmark comparison, a practical deployable forensic tool, and a clear roadmap for future work. Deepfakes are advancing rapidly — this project demonstrates that accessible, explainable detection tools can be built with open-source resources. Thank you.</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2" Type="http://schemas.openxmlformats.org/officeDocument/2006/relationships/image" Target="../media/image7.jfif"/><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 y="-22860"/>
            <a:ext cx="9144000" cy="1234440"/>
          </a:xfrm>
          <a:prstGeom prst="rect">
            <a:avLst/>
          </a:prstGeom>
          <a:solidFill>
            <a:srgbClr val="1F3864"/>
          </a:solidFill>
          <a:ln w="12700">
            <a:solidFill>
              <a:srgbClr val="1F3864"/>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3" name="Shape 1"/>
          <p:cNvSpPr/>
          <p:nvPr/>
        </p:nvSpPr>
        <p:spPr>
          <a:xfrm>
            <a:off x="7726680" y="91440"/>
            <a:ext cx="1143000" cy="960120"/>
          </a:xfrm>
          <a:prstGeom prst="rect">
            <a:avLst/>
          </a:prstGeom>
          <a:solidFill>
            <a:srgbClr val="1A4F9E"/>
          </a:solidFill>
          <a:ln w="25400">
            <a:solidFill>
              <a:srgbClr val="FFFFFF"/>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4" name="Text 2"/>
          <p:cNvSpPr/>
          <p:nvPr/>
        </p:nvSpPr>
        <p:spPr>
          <a:xfrm>
            <a:off x="7726680" y="91440"/>
            <a:ext cx="1143000" cy="960120"/>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anose="02020603050405020304" pitchFamily="18" charset="0"/>
                <a:cs typeface="Times New Roman" panose="02020603050405020304" pitchFamily="18" charset="0"/>
              </a:rPr>
              <a:t>AOU</a:t>
            </a:r>
            <a:endParaRPr lang="en-US" sz="900" dirty="0">
              <a:latin typeface="Times New Roman" panose="02020603050405020304" pitchFamily="18" charset="0"/>
              <a:cs typeface="Times New Roman" panose="02020603050405020304" pitchFamily="18" charset="0"/>
            </a:endParaRPr>
          </a:p>
          <a:p>
            <a:pPr marL="0" indent="0" algn="ctr">
              <a:buNone/>
            </a:pPr>
            <a:r>
              <a:rPr lang="en-US" sz="900" b="1" dirty="0">
                <a:solidFill>
                  <a:srgbClr val="FFFFFF"/>
                </a:solidFill>
                <a:latin typeface="Times New Roman" panose="02020603050405020304" pitchFamily="18" charset="0"/>
                <a:cs typeface="Times New Roman" panose="02020603050405020304" pitchFamily="18" charset="0"/>
              </a:rPr>
              <a:t>Logo</a:t>
            </a:r>
            <a:endParaRPr lang="en-US" sz="900" dirty="0">
              <a:latin typeface="Times New Roman" panose="02020603050405020304" pitchFamily="18" charset="0"/>
              <a:cs typeface="Times New Roman" panose="02020603050405020304" pitchFamily="18" charset="0"/>
            </a:endParaRPr>
          </a:p>
        </p:txBody>
      </p:sp>
      <p:sp>
        <p:nvSpPr>
          <p:cNvPr id="5" name="Text 3"/>
          <p:cNvSpPr/>
          <p:nvPr/>
        </p:nvSpPr>
        <p:spPr>
          <a:xfrm>
            <a:off x="365760" y="73152"/>
            <a:ext cx="7132320" cy="274320"/>
          </a:xfrm>
          <a:prstGeom prst="rect">
            <a:avLst/>
          </a:prstGeom>
          <a:noFill/>
          <a:ln/>
        </p:spPr>
        <p:txBody>
          <a:bodyPr wrap="square" lIns="0" tIns="0" rIns="0" bIns="0" rtlCol="0" anchor="ctr"/>
          <a:lstStyle/>
          <a:p>
            <a:pPr marL="0" indent="0">
              <a:buNone/>
            </a:pPr>
            <a:r>
              <a:rPr lang="en-US" sz="1200" dirty="0">
                <a:solidFill>
                  <a:srgbClr val="A0B4D0"/>
                </a:solidFill>
                <a:latin typeface="Times New Roman" panose="02020603050405020304" pitchFamily="18" charset="0"/>
                <a:cs typeface="Times New Roman" panose="02020603050405020304" pitchFamily="18" charset="0"/>
              </a:rPr>
              <a:t>Arab Open University — Faculty of Computer Studies</a:t>
            </a:r>
            <a:endParaRPr lang="en-US" sz="1200" dirty="0">
              <a:latin typeface="Times New Roman" panose="02020603050405020304" pitchFamily="18" charset="0"/>
              <a:cs typeface="Times New Roman" panose="02020603050405020304" pitchFamily="18" charset="0"/>
            </a:endParaRPr>
          </a:p>
        </p:txBody>
      </p:sp>
      <p:sp>
        <p:nvSpPr>
          <p:cNvPr id="6" name="Text 4"/>
          <p:cNvSpPr/>
          <p:nvPr/>
        </p:nvSpPr>
        <p:spPr>
          <a:xfrm>
            <a:off x="365760" y="347472"/>
            <a:ext cx="7132320" cy="274320"/>
          </a:xfrm>
          <a:prstGeom prst="rect">
            <a:avLst/>
          </a:prstGeom>
          <a:noFill/>
          <a:ln/>
        </p:spPr>
        <p:txBody>
          <a:bodyPr wrap="square" lIns="0" tIns="0" rIns="0" bIns="0" rtlCol="0" anchor="ctr"/>
          <a:lstStyle/>
          <a:p>
            <a:pPr marL="0" indent="0">
              <a:buNone/>
            </a:pPr>
            <a:r>
              <a:rPr lang="en-US" sz="1200" dirty="0">
                <a:solidFill>
                  <a:srgbClr val="A0B4D0"/>
                </a:solidFill>
                <a:latin typeface="Times New Roman" panose="02020603050405020304" pitchFamily="18" charset="0"/>
                <a:cs typeface="Times New Roman" panose="02020603050405020304" pitchFamily="18" charset="0"/>
              </a:rPr>
              <a:t>Information Technology and Computing</a:t>
            </a:r>
            <a:endParaRPr lang="en-US" sz="1200" dirty="0">
              <a:latin typeface="Times New Roman" panose="02020603050405020304" pitchFamily="18" charset="0"/>
              <a:cs typeface="Times New Roman" panose="02020603050405020304" pitchFamily="18" charset="0"/>
            </a:endParaRPr>
          </a:p>
        </p:txBody>
      </p:sp>
      <p:sp>
        <p:nvSpPr>
          <p:cNvPr id="7" name="Text 5"/>
          <p:cNvSpPr/>
          <p:nvPr/>
        </p:nvSpPr>
        <p:spPr>
          <a:xfrm>
            <a:off x="1885071" y="1437894"/>
            <a:ext cx="5106572" cy="502920"/>
          </a:xfrm>
          <a:prstGeom prst="rect">
            <a:avLst/>
          </a:prstGeom>
          <a:noFill/>
          <a:ln/>
        </p:spPr>
        <p:txBody>
          <a:bodyPr wrap="square" lIns="0" tIns="0" rIns="0" bIns="0" rtlCol="0" anchor="ctr"/>
          <a:lstStyle/>
          <a:p>
            <a:pPr marL="0" indent="0">
              <a:buNone/>
            </a:pPr>
            <a:r>
              <a:rPr lang="en-US" sz="2000" b="1" dirty="0">
                <a:solidFill>
                  <a:srgbClr val="002060"/>
                </a:solidFill>
                <a:latin typeface="Times New Roman" panose="02020603050405020304" pitchFamily="18" charset="0"/>
                <a:cs typeface="Times New Roman" panose="02020603050405020304" pitchFamily="18" charset="0"/>
              </a:rPr>
              <a:t>DEEPFAKE IMAGE DETECTION SYSTEM</a:t>
            </a:r>
            <a:endParaRPr lang="en-US" sz="2000" dirty="0">
              <a:solidFill>
                <a:srgbClr val="002060"/>
              </a:solidFill>
              <a:latin typeface="Times New Roman" panose="02020603050405020304" pitchFamily="18" charset="0"/>
              <a:cs typeface="Times New Roman" panose="02020603050405020304" pitchFamily="18" charset="0"/>
            </a:endParaRPr>
          </a:p>
        </p:txBody>
      </p:sp>
      <p:sp>
        <p:nvSpPr>
          <p:cNvPr id="8" name="Shape 6"/>
          <p:cNvSpPr/>
          <p:nvPr/>
        </p:nvSpPr>
        <p:spPr>
          <a:xfrm>
            <a:off x="365760" y="2109053"/>
            <a:ext cx="8412480" cy="36576"/>
          </a:xfrm>
          <a:prstGeom prst="rect">
            <a:avLst/>
          </a:prstGeom>
          <a:solidFill>
            <a:srgbClr val="0056B3"/>
          </a:solidFill>
          <a:ln w="12700">
            <a:solidFill>
              <a:srgbClr val="0056B3"/>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15" name="Text 13"/>
          <p:cNvSpPr/>
          <p:nvPr/>
        </p:nvSpPr>
        <p:spPr>
          <a:xfrm>
            <a:off x="8778240" y="4919472"/>
            <a:ext cx="320040" cy="182880"/>
          </a:xfrm>
          <a:prstGeom prst="rect">
            <a:avLst/>
          </a:prstGeom>
          <a:noFill/>
          <a:ln/>
        </p:spPr>
        <p:txBody>
          <a:bodyPr wrap="square" lIns="0" tIns="0" rIns="0" bIns="0" rtlCol="0" anchor="ctr"/>
          <a:lstStyle/>
          <a:p>
            <a:pPr marL="0" indent="0" algn="r">
              <a:buNone/>
            </a:pPr>
            <a:r>
              <a:rPr lang="en-US" sz="900" dirty="0">
                <a:solidFill>
                  <a:srgbClr val="475569"/>
                </a:solidFill>
                <a:latin typeface="Times New Roman" panose="02020603050405020304" pitchFamily="18" charset="0"/>
                <a:cs typeface="Times New Roman" panose="02020603050405020304" pitchFamily="18" charset="0"/>
              </a:rPr>
              <a:t>1</a:t>
            </a:r>
            <a:endParaRPr lang="en-US" sz="900" dirty="0">
              <a:latin typeface="Times New Roman" panose="02020603050405020304" pitchFamily="18" charset="0"/>
              <a:cs typeface="Times New Roman" panose="02020603050405020304" pitchFamily="18" charset="0"/>
            </a:endParaRPr>
          </a:p>
        </p:txBody>
      </p:sp>
      <p:pic>
        <p:nvPicPr>
          <p:cNvPr id="17" name="Picture 16">
            <a:extLst>
              <a:ext uri="{FF2B5EF4-FFF2-40B4-BE49-F238E27FC236}">
                <a16:creationId xmlns:a16="http://schemas.microsoft.com/office/drawing/2014/main" id="{8209433A-2BFF-DF2D-28B6-AB94F7B044BE}"/>
              </a:ext>
            </a:extLst>
          </p:cNvPr>
          <p:cNvPicPr>
            <a:picLocks noChangeAspect="1"/>
          </p:cNvPicPr>
          <p:nvPr/>
        </p:nvPicPr>
        <p:blipFill>
          <a:blip r:embed="rId3"/>
          <a:stretch>
            <a:fillRect/>
          </a:stretch>
        </p:blipFill>
        <p:spPr>
          <a:xfrm>
            <a:off x="7726680" y="91440"/>
            <a:ext cx="1143000" cy="960120"/>
          </a:xfrm>
          <a:prstGeom prst="rect">
            <a:avLst/>
          </a:prstGeom>
        </p:spPr>
      </p:pic>
      <p:sp>
        <p:nvSpPr>
          <p:cNvPr id="18" name="Text 7">
            <a:extLst>
              <a:ext uri="{FF2B5EF4-FFF2-40B4-BE49-F238E27FC236}">
                <a16:creationId xmlns:a16="http://schemas.microsoft.com/office/drawing/2014/main" id="{D26DF1BA-731A-5FFB-AF8A-C4825C70FC09}"/>
              </a:ext>
            </a:extLst>
          </p:cNvPr>
          <p:cNvSpPr/>
          <p:nvPr/>
        </p:nvSpPr>
        <p:spPr>
          <a:xfrm>
            <a:off x="320040" y="2304288"/>
            <a:ext cx="8412480" cy="365760"/>
          </a:xfrm>
          <a:prstGeom prst="rect">
            <a:avLst/>
          </a:prstGeom>
          <a:noFill/>
          <a:ln/>
        </p:spPr>
        <p:txBody>
          <a:bodyPr wrap="square" lIns="0" tIns="0" rIns="0" bIns="0" rtlCol="0" anchor="ctr"/>
          <a:lstStyle/>
          <a:p>
            <a:pPr marL="0" indent="0" algn="ctr">
              <a:buNone/>
            </a:pPr>
            <a:r>
              <a:rPr lang="en-US" sz="1600" dirty="0">
                <a:solidFill>
                  <a:srgbClr val="475569"/>
                </a:solidFill>
                <a:latin typeface="Times New Roman" panose="02020603050405020304" pitchFamily="18" charset="0"/>
                <a:cs typeface="Times New Roman" panose="02020603050405020304" pitchFamily="18" charset="0"/>
              </a:rPr>
              <a:t>A Forensic System for Detecting Synthetic Facial Images</a:t>
            </a:r>
            <a:endParaRPr lang="en-US" sz="1600" dirty="0">
              <a:latin typeface="Times New Roman" panose="02020603050405020304" pitchFamily="18" charset="0"/>
              <a:cs typeface="Times New Roman" panose="02020603050405020304" pitchFamily="18" charset="0"/>
            </a:endParaRPr>
          </a:p>
        </p:txBody>
      </p:sp>
      <p:sp>
        <p:nvSpPr>
          <p:cNvPr id="19" name="Text 8">
            <a:extLst>
              <a:ext uri="{FF2B5EF4-FFF2-40B4-BE49-F238E27FC236}">
                <a16:creationId xmlns:a16="http://schemas.microsoft.com/office/drawing/2014/main" id="{8BD75667-F967-20B2-B4FF-98714968CAFE}"/>
              </a:ext>
            </a:extLst>
          </p:cNvPr>
          <p:cNvSpPr/>
          <p:nvPr/>
        </p:nvSpPr>
        <p:spPr>
          <a:xfrm>
            <a:off x="365760" y="2834640"/>
            <a:ext cx="4114800" cy="347472"/>
          </a:xfrm>
          <a:prstGeom prst="rect">
            <a:avLst/>
          </a:prstGeom>
          <a:noFill/>
          <a:ln/>
        </p:spPr>
        <p:txBody>
          <a:bodyPr wrap="square" lIns="0" tIns="0" rIns="0" bIns="0" rtlCol="0" anchor="ctr"/>
          <a:lstStyle/>
          <a:p>
            <a:pPr marL="0" indent="0">
              <a:buNone/>
            </a:pPr>
            <a:r>
              <a:rPr lang="en-US" sz="1400" b="1" dirty="0">
                <a:solidFill>
                  <a:srgbClr val="1F3864"/>
                </a:solidFill>
                <a:latin typeface="Times New Roman" panose="02020603050405020304" pitchFamily="18" charset="0"/>
                <a:cs typeface="Times New Roman" panose="02020603050405020304" pitchFamily="18" charset="0"/>
              </a:rPr>
              <a:t>Student Name:  </a:t>
            </a:r>
            <a:r>
              <a:rPr lang="en-US" sz="1400" dirty="0">
                <a:solidFill>
                  <a:srgbClr val="1E293B"/>
                </a:solidFill>
                <a:latin typeface="Times New Roman" panose="02020603050405020304" pitchFamily="18" charset="0"/>
                <a:cs typeface="Times New Roman" panose="02020603050405020304" pitchFamily="18" charset="0"/>
              </a:rPr>
              <a:t>Ziad Mohamed Ahmed Mohamed</a:t>
            </a:r>
            <a:endParaRPr lang="en-US" sz="1400" dirty="0">
              <a:latin typeface="Times New Roman" panose="02020603050405020304" pitchFamily="18" charset="0"/>
              <a:cs typeface="Times New Roman" panose="02020603050405020304" pitchFamily="18" charset="0"/>
            </a:endParaRPr>
          </a:p>
        </p:txBody>
      </p:sp>
      <p:sp>
        <p:nvSpPr>
          <p:cNvPr id="20" name="Text 9">
            <a:extLst>
              <a:ext uri="{FF2B5EF4-FFF2-40B4-BE49-F238E27FC236}">
                <a16:creationId xmlns:a16="http://schemas.microsoft.com/office/drawing/2014/main" id="{84F5C51C-9F6D-6AF8-552C-9C97E79504D3}"/>
              </a:ext>
            </a:extLst>
          </p:cNvPr>
          <p:cNvSpPr/>
          <p:nvPr/>
        </p:nvSpPr>
        <p:spPr>
          <a:xfrm>
            <a:off x="365760" y="3218688"/>
            <a:ext cx="4114800" cy="347472"/>
          </a:xfrm>
          <a:prstGeom prst="rect">
            <a:avLst/>
          </a:prstGeom>
          <a:noFill/>
          <a:ln/>
        </p:spPr>
        <p:txBody>
          <a:bodyPr wrap="square" lIns="0" tIns="0" rIns="0" bIns="0" rtlCol="0" anchor="ctr"/>
          <a:lstStyle/>
          <a:p>
            <a:pPr marL="0" indent="0">
              <a:buNone/>
            </a:pPr>
            <a:r>
              <a:rPr lang="en-US" sz="1400" b="1" dirty="0">
                <a:solidFill>
                  <a:srgbClr val="1F3864"/>
                </a:solidFill>
                <a:latin typeface="Times New Roman" panose="02020603050405020304" pitchFamily="18" charset="0"/>
                <a:cs typeface="Times New Roman" panose="02020603050405020304" pitchFamily="18" charset="0"/>
              </a:rPr>
              <a:t>Student ID:  </a:t>
            </a:r>
            <a:r>
              <a:rPr lang="en-US" sz="1400" dirty="0">
                <a:solidFill>
                  <a:srgbClr val="1E293B"/>
                </a:solidFill>
                <a:latin typeface="Times New Roman" panose="02020603050405020304" pitchFamily="18" charset="0"/>
                <a:cs typeface="Times New Roman" panose="02020603050405020304" pitchFamily="18" charset="0"/>
              </a:rPr>
              <a:t>22510251</a:t>
            </a:r>
            <a:endParaRPr lang="en-US" sz="1400" dirty="0">
              <a:latin typeface="Times New Roman" panose="02020603050405020304" pitchFamily="18" charset="0"/>
              <a:cs typeface="Times New Roman" panose="02020603050405020304" pitchFamily="18" charset="0"/>
            </a:endParaRPr>
          </a:p>
        </p:txBody>
      </p:sp>
      <p:sp>
        <p:nvSpPr>
          <p:cNvPr id="21" name="Text 10">
            <a:extLst>
              <a:ext uri="{FF2B5EF4-FFF2-40B4-BE49-F238E27FC236}">
                <a16:creationId xmlns:a16="http://schemas.microsoft.com/office/drawing/2014/main" id="{DA1ECB4E-ADEE-28CC-7646-4969201D2848}"/>
              </a:ext>
            </a:extLst>
          </p:cNvPr>
          <p:cNvSpPr/>
          <p:nvPr/>
        </p:nvSpPr>
        <p:spPr>
          <a:xfrm>
            <a:off x="365760" y="3602736"/>
            <a:ext cx="4114800" cy="347472"/>
          </a:xfrm>
          <a:prstGeom prst="rect">
            <a:avLst/>
          </a:prstGeom>
          <a:noFill/>
          <a:ln/>
        </p:spPr>
        <p:txBody>
          <a:bodyPr wrap="square" lIns="0" tIns="0" rIns="0" bIns="0" rtlCol="0" anchor="ctr"/>
          <a:lstStyle/>
          <a:p>
            <a:pPr marL="0" indent="0">
              <a:buNone/>
            </a:pPr>
            <a:r>
              <a:rPr lang="en-US" sz="1400" b="1" dirty="0">
                <a:solidFill>
                  <a:srgbClr val="1F3864"/>
                </a:solidFill>
                <a:latin typeface="Times New Roman" panose="02020603050405020304" pitchFamily="18" charset="0"/>
                <a:cs typeface="Times New Roman" panose="02020603050405020304" pitchFamily="18" charset="0"/>
              </a:rPr>
              <a:t>Supervisor:  </a:t>
            </a:r>
            <a:r>
              <a:rPr lang="en-US" sz="1400" dirty="0">
                <a:solidFill>
                  <a:srgbClr val="1E293B"/>
                </a:solidFill>
                <a:latin typeface="Times New Roman" panose="02020603050405020304" pitchFamily="18" charset="0"/>
                <a:cs typeface="Times New Roman" panose="02020603050405020304" pitchFamily="18" charset="0"/>
              </a:rPr>
              <a:t>Dr. Amira Abdelfattah</a:t>
            </a:r>
            <a:endParaRPr lang="en-US" sz="1400" dirty="0">
              <a:latin typeface="Times New Roman" panose="02020603050405020304" pitchFamily="18" charset="0"/>
              <a:cs typeface="Times New Roman" panose="02020603050405020304" pitchFamily="18" charset="0"/>
            </a:endParaRPr>
          </a:p>
        </p:txBody>
      </p:sp>
      <p:sp>
        <p:nvSpPr>
          <p:cNvPr id="22" name="Text 11">
            <a:extLst>
              <a:ext uri="{FF2B5EF4-FFF2-40B4-BE49-F238E27FC236}">
                <a16:creationId xmlns:a16="http://schemas.microsoft.com/office/drawing/2014/main" id="{3F8EFE64-CD44-359F-3F7D-4E3502BEF604}"/>
              </a:ext>
            </a:extLst>
          </p:cNvPr>
          <p:cNvSpPr/>
          <p:nvPr/>
        </p:nvSpPr>
        <p:spPr>
          <a:xfrm>
            <a:off x="4754880" y="2834640"/>
            <a:ext cx="4114800" cy="347472"/>
          </a:xfrm>
          <a:prstGeom prst="rect">
            <a:avLst/>
          </a:prstGeom>
          <a:noFill/>
          <a:ln/>
        </p:spPr>
        <p:txBody>
          <a:bodyPr wrap="square" lIns="0" tIns="0" rIns="0" bIns="0" rtlCol="0" anchor="ctr"/>
          <a:lstStyle/>
          <a:p>
            <a:pPr marL="0" indent="0">
              <a:buNone/>
            </a:pPr>
            <a:r>
              <a:rPr lang="en-US" sz="1400" b="1" dirty="0">
                <a:solidFill>
                  <a:srgbClr val="1F3864"/>
                </a:solidFill>
                <a:latin typeface="Times New Roman" panose="02020603050405020304" pitchFamily="18" charset="0"/>
                <a:cs typeface="Times New Roman" panose="02020603050405020304" pitchFamily="18" charset="0"/>
              </a:rPr>
              <a:t>Course:  </a:t>
            </a:r>
            <a:r>
              <a:rPr lang="en-US" sz="1400" dirty="0">
                <a:solidFill>
                  <a:srgbClr val="1E293B"/>
                </a:solidFill>
                <a:latin typeface="Times New Roman" panose="02020603050405020304" pitchFamily="18" charset="0"/>
                <a:cs typeface="Times New Roman" panose="02020603050405020304" pitchFamily="18" charset="0"/>
              </a:rPr>
              <a:t>TM471B — Final Year Project</a:t>
            </a:r>
            <a:endParaRPr lang="en-US" sz="1400" dirty="0">
              <a:latin typeface="Times New Roman" panose="02020603050405020304" pitchFamily="18" charset="0"/>
              <a:cs typeface="Times New Roman" panose="02020603050405020304" pitchFamily="18" charset="0"/>
            </a:endParaRPr>
          </a:p>
        </p:txBody>
      </p:sp>
      <p:sp>
        <p:nvSpPr>
          <p:cNvPr id="23" name="Text 12">
            <a:extLst>
              <a:ext uri="{FF2B5EF4-FFF2-40B4-BE49-F238E27FC236}">
                <a16:creationId xmlns:a16="http://schemas.microsoft.com/office/drawing/2014/main" id="{7DE0E2DD-555F-8FC9-2596-C4746701C765}"/>
              </a:ext>
            </a:extLst>
          </p:cNvPr>
          <p:cNvSpPr/>
          <p:nvPr/>
        </p:nvSpPr>
        <p:spPr>
          <a:xfrm>
            <a:off x="4754880" y="3218688"/>
            <a:ext cx="4114800" cy="347472"/>
          </a:xfrm>
          <a:prstGeom prst="rect">
            <a:avLst/>
          </a:prstGeom>
          <a:noFill/>
          <a:ln/>
        </p:spPr>
        <p:txBody>
          <a:bodyPr wrap="square" lIns="0" tIns="0" rIns="0" bIns="0" rtlCol="0" anchor="ctr"/>
          <a:lstStyle/>
          <a:p>
            <a:pPr marL="0" indent="0">
              <a:buNone/>
            </a:pPr>
            <a:r>
              <a:rPr lang="en-US" sz="1400" b="1" dirty="0">
                <a:solidFill>
                  <a:srgbClr val="1F3864"/>
                </a:solidFill>
                <a:latin typeface="Times New Roman" panose="02020603050405020304" pitchFamily="18" charset="0"/>
                <a:cs typeface="Times New Roman" panose="02020603050405020304" pitchFamily="18" charset="0"/>
              </a:rPr>
              <a:t>Date:  </a:t>
            </a:r>
            <a:r>
              <a:rPr lang="en-US" sz="1400" dirty="0">
                <a:solidFill>
                  <a:srgbClr val="1E293B"/>
                </a:solidFill>
                <a:latin typeface="Times New Roman" panose="02020603050405020304" pitchFamily="18" charset="0"/>
                <a:cs typeface="Times New Roman" panose="02020603050405020304" pitchFamily="18" charset="0"/>
              </a:rPr>
              <a:t>May 2026</a:t>
            </a:r>
            <a:endParaRPr lang="en-US" sz="1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H0"/>
          <p:cNvSpPr/>
          <p:nvPr/>
        </p:nvSpPr>
        <p:spPr>
          <a:xfrm>
            <a:off x="0" y="0"/>
            <a:ext cx="9144000" cy="256032"/>
          </a:xfrm>
          <a:prstGeom prst="rect">
            <a:avLst/>
          </a:prstGeom>
          <a:solidFill>
            <a:srgbClr val="1F3864"/>
          </a:solidFill>
          <a:ln w="12700">
            <a:solidFill>
              <a:srgbClr val="1F3864"/>
            </a:solidFill>
            <a:prstDash val="solid"/>
          </a:ln>
        </p:spPr>
        <p:txBody>
          <a:bodyPr/>
          <a:lstStyle/>
          <a:p>
            <a:endParaRPr lang="en-US"/>
          </a:p>
        </p:txBody>
      </p:sp>
      <p:sp>
        <p:nvSpPr>
          <p:cNvPr id="3" name="H1"/>
          <p:cNvSpPr/>
          <p:nvPr/>
        </p:nvSpPr>
        <p:spPr>
          <a:xfrm>
            <a:off x="274320" y="0"/>
            <a:ext cx="7132320" cy="256032"/>
          </a:xfrm>
          <a:prstGeom prst="rect">
            <a:avLst/>
          </a:prstGeom>
          <a:noFill/>
          <a:ln/>
        </p:spPr>
        <p:txBody>
          <a:bodyPr wrap="square" lIns="0" tIns="0" rIns="0" bIns="0" rtlCol="0" anchor="ctr"/>
          <a:lstStyle/>
          <a:p>
            <a:pPr marL="0" indent="0">
              <a:buNone/>
            </a:pPr>
            <a:r>
              <a:rPr lang="en-US" sz="850" dirty="0">
                <a:solidFill>
                  <a:srgbClr val="FFFFFF"/>
                </a:solidFill>
              </a:rPr>
              <a:t>Deepfake Image Detection System  |  TM471B — May 2026</a:t>
            </a:r>
          </a:p>
        </p:txBody>
      </p:sp>
      <p:sp>
        <p:nvSpPr>
          <p:cNvPr id="4" name="H2"/>
          <p:cNvSpPr/>
          <p:nvPr/>
        </p:nvSpPr>
        <p:spPr>
          <a:xfrm>
            <a:off x="8138160" y="27432"/>
            <a:ext cx="749808" cy="201168"/>
          </a:xfrm>
          <a:prstGeom prst="rect">
            <a:avLst/>
          </a:prstGeom>
          <a:solidFill>
            <a:srgbClr val="1A4F9E"/>
          </a:solidFill>
          <a:ln w="12700">
            <a:solidFill>
              <a:srgbClr val="FFFFFF"/>
            </a:solidFill>
            <a:prstDash val="solid"/>
          </a:ln>
        </p:spPr>
        <p:txBody>
          <a:bodyPr/>
          <a:lstStyle/>
          <a:p>
            <a:endParaRPr lang="en-US"/>
          </a:p>
        </p:txBody>
      </p:sp>
      <p:sp>
        <p:nvSpPr>
          <p:cNvPr id="5" name="H3"/>
          <p:cNvSpPr/>
          <p:nvPr/>
        </p:nvSpPr>
        <p:spPr>
          <a:xfrm>
            <a:off x="8138160" y="27432"/>
            <a:ext cx="749808" cy="201168"/>
          </a:xfrm>
          <a:prstGeom prst="rect">
            <a:avLst/>
          </a:prstGeom>
          <a:noFill/>
          <a:ln/>
        </p:spPr>
        <p:txBody>
          <a:bodyPr wrap="square" lIns="0" tIns="0" rIns="0" bIns="0" rtlCol="0" anchor="ctr"/>
          <a:lstStyle/>
          <a:p>
            <a:pPr marL="0" indent="0" algn="ctr">
              <a:buNone/>
            </a:pPr>
            <a:r>
              <a:rPr lang="en-US" sz="800" b="1" dirty="0">
                <a:solidFill>
                  <a:srgbClr val="FFFFFF"/>
                </a:solidFill>
              </a:rPr>
              <a:t>AOU</a:t>
            </a:r>
          </a:p>
        </p:txBody>
      </p:sp>
      <p:sp>
        <p:nvSpPr>
          <p:cNvPr id="6" name="Pn"/>
          <p:cNvSpPr/>
          <p:nvPr/>
        </p:nvSpPr>
        <p:spPr>
          <a:xfrm>
            <a:off x="8778240" y="4919472"/>
            <a:ext cx="320040" cy="182880"/>
          </a:xfrm>
          <a:prstGeom prst="rect">
            <a:avLst/>
          </a:prstGeom>
          <a:noFill/>
          <a:ln/>
        </p:spPr>
        <p:txBody>
          <a:bodyPr wrap="square" lIns="0" tIns="0" rIns="0" bIns="0" rtlCol="0" anchor="ctr"/>
          <a:lstStyle/>
          <a:p>
            <a:pPr marL="0" indent="0" algn="r">
              <a:buNone/>
            </a:pPr>
            <a:r>
              <a:rPr lang="en-US" sz="900" dirty="0">
                <a:solidFill>
                  <a:srgbClr val="475569"/>
                </a:solidFill>
              </a:rPr>
              <a:t>2</a:t>
            </a:r>
          </a:p>
        </p:txBody>
      </p:sp>
      <p:sp>
        <p:nvSpPr>
          <p:cNvPr id="7" name="Tt"/>
          <p:cNvSpPr/>
          <p:nvPr/>
        </p:nvSpPr>
        <p:spPr>
          <a:xfrm>
            <a:off x="411480" y="320040"/>
            <a:ext cx="8321040" cy="457200"/>
          </a:xfrm>
          <a:prstGeom prst="rect">
            <a:avLst/>
          </a:prstGeom>
          <a:noFill/>
          <a:ln/>
        </p:spPr>
        <p:txBody>
          <a:bodyPr wrap="square" lIns="0" tIns="0" rIns="0" bIns="0" rtlCol="0" anchor="ctr"/>
          <a:lstStyle/>
          <a:p>
            <a:pPr marL="0" indent="0">
              <a:buNone/>
            </a:pPr>
            <a:r>
              <a:rPr lang="en-US" sz="2300" b="1" dirty="0">
                <a:solidFill>
                  <a:srgbClr val="0056B3"/>
                </a:solidFill>
              </a:rPr>
              <a:t>Agenda</a:t>
            </a:r>
          </a:p>
        </p:txBody>
      </p:sp>
      <p:sp>
        <p:nvSpPr>
          <p:cNvPr id="8" name="TtLine"/>
          <p:cNvSpPr/>
          <p:nvPr/>
        </p:nvSpPr>
        <p:spPr>
          <a:xfrm>
            <a:off x="411480" y="795528"/>
            <a:ext cx="8321040" cy="22860"/>
          </a:xfrm>
          <a:prstGeom prst="rect">
            <a:avLst/>
          </a:prstGeom>
          <a:solidFill>
            <a:srgbClr val="0056B3"/>
          </a:solidFill>
          <a:ln w="12700">
            <a:solidFill>
              <a:srgbClr val="0056B3"/>
            </a:solidFill>
            <a:prstDash val="solid"/>
          </a:ln>
        </p:spPr>
        <p:txBody>
          <a:bodyPr/>
          <a:lstStyle/>
          <a:p>
            <a:endParaRPr lang="en-US"/>
          </a:p>
        </p:txBody>
      </p:sp>
      <p:sp>
        <p:nvSpPr>
          <p:cNvPr id="9" name="B9"/>
          <p:cNvSpPr/>
          <p:nvPr/>
        </p:nvSpPr>
        <p:spPr>
          <a:xfrm>
            <a:off x="274320" y="1227407"/>
            <a:ext cx="365760" cy="502920"/>
          </a:xfrm>
          <a:prstGeom prst="rect">
            <a:avLst/>
          </a:prstGeom>
          <a:solidFill>
            <a:srgbClr val="1F3864"/>
          </a:solidFill>
          <a:ln w="12700">
            <a:solidFill>
              <a:srgbClr val="1F3864"/>
            </a:solidFill>
            <a:prstDash val="solid"/>
          </a:ln>
        </p:spPr>
        <p:txBody>
          <a:bodyPr/>
          <a:lstStyle/>
          <a:p>
            <a:endParaRPr lang="en-US"/>
          </a:p>
        </p:txBody>
      </p:sp>
      <p:sp>
        <p:nvSpPr>
          <p:cNvPr id="10" name="X10"/>
          <p:cNvSpPr/>
          <p:nvPr/>
        </p:nvSpPr>
        <p:spPr>
          <a:xfrm>
            <a:off x="274320" y="1227407"/>
            <a:ext cx="365760" cy="502920"/>
          </a:xfrm>
          <a:prstGeom prst="rect">
            <a:avLst/>
          </a:prstGeom>
          <a:noFill/>
          <a:ln/>
        </p:spPr>
        <p:txBody>
          <a:bodyPr wrap="square" lIns="91440" tIns="45720" rIns="91440" bIns="45720" rtlCol="0" anchor="ctr"/>
          <a:lstStyle/>
          <a:p>
            <a:pPr marL="0" indent="0" algn="ctr">
              <a:buNone/>
            </a:pPr>
            <a:r>
              <a:rPr lang="en-US" sz="1200" b="1" dirty="0">
                <a:solidFill>
                  <a:srgbClr val="FFFFFF"/>
                </a:solidFill>
              </a:rPr>
              <a:t>1</a:t>
            </a:r>
          </a:p>
        </p:txBody>
      </p:sp>
      <p:sp>
        <p:nvSpPr>
          <p:cNvPr id="11" name="B11"/>
          <p:cNvSpPr/>
          <p:nvPr/>
        </p:nvSpPr>
        <p:spPr>
          <a:xfrm>
            <a:off x="640080" y="1227407"/>
            <a:ext cx="3875680" cy="502920"/>
          </a:xfrm>
          <a:prstGeom prst="rect">
            <a:avLst/>
          </a:prstGeom>
          <a:solidFill>
            <a:srgbClr val="EBF3FF"/>
          </a:solidFill>
          <a:ln w="12700">
            <a:solidFill>
              <a:srgbClr val="BFDBFE"/>
            </a:solidFill>
            <a:prstDash val="solid"/>
          </a:ln>
        </p:spPr>
        <p:txBody>
          <a:bodyPr/>
          <a:lstStyle/>
          <a:p>
            <a:endParaRPr lang="en-US"/>
          </a:p>
        </p:txBody>
      </p:sp>
      <p:sp>
        <p:nvSpPr>
          <p:cNvPr id="12" name="X12"/>
          <p:cNvSpPr/>
          <p:nvPr/>
        </p:nvSpPr>
        <p:spPr>
          <a:xfrm>
            <a:off x="594360" y="1227407"/>
            <a:ext cx="3692800" cy="502920"/>
          </a:xfrm>
          <a:prstGeom prst="rect">
            <a:avLst/>
          </a:prstGeom>
          <a:noFill/>
          <a:ln/>
        </p:spPr>
        <p:txBody>
          <a:bodyPr wrap="square" lIns="91440" tIns="45720" rIns="91440" bIns="45720" rtlCol="0" anchor="ctr"/>
          <a:lstStyle/>
          <a:p>
            <a:pPr marL="0" indent="0" algn="l">
              <a:buNone/>
            </a:pPr>
            <a:r>
              <a:rPr lang="en-US" sz="1100" b="1" dirty="0">
                <a:solidFill>
                  <a:srgbClr val="1F3864"/>
                </a:solidFill>
              </a:rPr>
              <a:t>Introduction</a:t>
            </a:r>
          </a:p>
        </p:txBody>
      </p:sp>
      <p:sp>
        <p:nvSpPr>
          <p:cNvPr id="13" name="B13"/>
          <p:cNvSpPr/>
          <p:nvPr/>
        </p:nvSpPr>
        <p:spPr>
          <a:xfrm>
            <a:off x="274320" y="1776047"/>
            <a:ext cx="365760" cy="502920"/>
          </a:xfrm>
          <a:prstGeom prst="rect">
            <a:avLst/>
          </a:prstGeom>
          <a:solidFill>
            <a:srgbClr val="1F3864"/>
          </a:solidFill>
          <a:ln w="12700">
            <a:solidFill>
              <a:srgbClr val="1F3864"/>
            </a:solidFill>
            <a:prstDash val="solid"/>
          </a:ln>
        </p:spPr>
        <p:txBody>
          <a:bodyPr/>
          <a:lstStyle/>
          <a:p>
            <a:endParaRPr lang="en-US"/>
          </a:p>
        </p:txBody>
      </p:sp>
      <p:sp>
        <p:nvSpPr>
          <p:cNvPr id="14" name="X14"/>
          <p:cNvSpPr/>
          <p:nvPr/>
        </p:nvSpPr>
        <p:spPr>
          <a:xfrm>
            <a:off x="274320" y="1776047"/>
            <a:ext cx="365760" cy="502920"/>
          </a:xfrm>
          <a:prstGeom prst="rect">
            <a:avLst/>
          </a:prstGeom>
          <a:noFill/>
          <a:ln/>
        </p:spPr>
        <p:txBody>
          <a:bodyPr wrap="square" lIns="91440" tIns="45720" rIns="91440" bIns="45720" rtlCol="0" anchor="ctr"/>
          <a:lstStyle/>
          <a:p>
            <a:pPr marL="0" indent="0" algn="ctr">
              <a:buNone/>
            </a:pPr>
            <a:r>
              <a:rPr lang="en-US" sz="1200" b="1" dirty="0">
                <a:solidFill>
                  <a:srgbClr val="FFFFFF"/>
                </a:solidFill>
              </a:rPr>
              <a:t>2</a:t>
            </a:r>
          </a:p>
        </p:txBody>
      </p:sp>
      <p:sp>
        <p:nvSpPr>
          <p:cNvPr id="15" name="B15"/>
          <p:cNvSpPr/>
          <p:nvPr/>
        </p:nvSpPr>
        <p:spPr>
          <a:xfrm>
            <a:off x="640080" y="1776047"/>
            <a:ext cx="3875680" cy="502920"/>
          </a:xfrm>
          <a:prstGeom prst="rect">
            <a:avLst/>
          </a:prstGeom>
          <a:solidFill>
            <a:srgbClr val="EBF3FF"/>
          </a:solidFill>
          <a:ln w="12700">
            <a:solidFill>
              <a:srgbClr val="BFDBFE"/>
            </a:solidFill>
            <a:prstDash val="solid"/>
          </a:ln>
        </p:spPr>
        <p:txBody>
          <a:bodyPr/>
          <a:lstStyle/>
          <a:p>
            <a:endParaRPr lang="en-US"/>
          </a:p>
        </p:txBody>
      </p:sp>
      <p:sp>
        <p:nvSpPr>
          <p:cNvPr id="16" name="X16"/>
          <p:cNvSpPr/>
          <p:nvPr/>
        </p:nvSpPr>
        <p:spPr>
          <a:xfrm>
            <a:off x="594360" y="1776047"/>
            <a:ext cx="3692800" cy="502920"/>
          </a:xfrm>
          <a:prstGeom prst="rect">
            <a:avLst/>
          </a:prstGeom>
          <a:noFill/>
          <a:ln/>
        </p:spPr>
        <p:txBody>
          <a:bodyPr wrap="square" lIns="91440" tIns="45720" rIns="91440" bIns="45720" rtlCol="0" anchor="ctr"/>
          <a:lstStyle/>
          <a:p>
            <a:pPr marL="0" indent="0" algn="l">
              <a:buNone/>
            </a:pPr>
            <a:r>
              <a:rPr lang="en-US" sz="1100" b="1" dirty="0">
                <a:solidFill>
                  <a:srgbClr val="1F3864"/>
                </a:solidFill>
              </a:rPr>
              <a:t>Problem Statement</a:t>
            </a:r>
          </a:p>
        </p:txBody>
      </p:sp>
      <p:sp>
        <p:nvSpPr>
          <p:cNvPr id="17" name="B17"/>
          <p:cNvSpPr/>
          <p:nvPr/>
        </p:nvSpPr>
        <p:spPr>
          <a:xfrm>
            <a:off x="274320" y="2324687"/>
            <a:ext cx="365760" cy="502920"/>
          </a:xfrm>
          <a:prstGeom prst="rect">
            <a:avLst/>
          </a:prstGeom>
          <a:solidFill>
            <a:srgbClr val="1F3864"/>
          </a:solidFill>
          <a:ln w="12700">
            <a:solidFill>
              <a:srgbClr val="1F3864"/>
            </a:solidFill>
            <a:prstDash val="solid"/>
          </a:ln>
        </p:spPr>
        <p:txBody>
          <a:bodyPr/>
          <a:lstStyle/>
          <a:p>
            <a:endParaRPr lang="en-US"/>
          </a:p>
        </p:txBody>
      </p:sp>
      <p:sp>
        <p:nvSpPr>
          <p:cNvPr id="18" name="X18"/>
          <p:cNvSpPr/>
          <p:nvPr/>
        </p:nvSpPr>
        <p:spPr>
          <a:xfrm>
            <a:off x="274320" y="2324687"/>
            <a:ext cx="365760" cy="502920"/>
          </a:xfrm>
          <a:prstGeom prst="rect">
            <a:avLst/>
          </a:prstGeom>
          <a:noFill/>
          <a:ln/>
        </p:spPr>
        <p:txBody>
          <a:bodyPr wrap="square" lIns="91440" tIns="45720" rIns="91440" bIns="45720" rtlCol="0" anchor="ctr"/>
          <a:lstStyle/>
          <a:p>
            <a:pPr marL="0" indent="0" algn="ctr">
              <a:buNone/>
            </a:pPr>
            <a:r>
              <a:rPr lang="en-US" sz="1200" b="1" dirty="0">
                <a:solidFill>
                  <a:srgbClr val="FFFFFF"/>
                </a:solidFill>
              </a:rPr>
              <a:t>3</a:t>
            </a:r>
          </a:p>
        </p:txBody>
      </p:sp>
      <p:sp>
        <p:nvSpPr>
          <p:cNvPr id="19" name="B19"/>
          <p:cNvSpPr/>
          <p:nvPr/>
        </p:nvSpPr>
        <p:spPr>
          <a:xfrm>
            <a:off x="640080" y="2324687"/>
            <a:ext cx="3875680" cy="502920"/>
          </a:xfrm>
          <a:prstGeom prst="rect">
            <a:avLst/>
          </a:prstGeom>
          <a:solidFill>
            <a:srgbClr val="EBF3FF"/>
          </a:solidFill>
          <a:ln w="12700">
            <a:solidFill>
              <a:srgbClr val="BFDBFE"/>
            </a:solidFill>
            <a:prstDash val="solid"/>
          </a:ln>
        </p:spPr>
        <p:txBody>
          <a:bodyPr/>
          <a:lstStyle/>
          <a:p>
            <a:endParaRPr lang="en-US"/>
          </a:p>
        </p:txBody>
      </p:sp>
      <p:sp>
        <p:nvSpPr>
          <p:cNvPr id="20" name="X20"/>
          <p:cNvSpPr/>
          <p:nvPr/>
        </p:nvSpPr>
        <p:spPr>
          <a:xfrm>
            <a:off x="594360" y="2324687"/>
            <a:ext cx="3692800" cy="502920"/>
          </a:xfrm>
          <a:prstGeom prst="rect">
            <a:avLst/>
          </a:prstGeom>
          <a:noFill/>
          <a:ln/>
        </p:spPr>
        <p:txBody>
          <a:bodyPr wrap="square" lIns="91440" tIns="45720" rIns="91440" bIns="45720" rtlCol="0" anchor="ctr"/>
          <a:lstStyle/>
          <a:p>
            <a:pPr marL="0" indent="0" algn="l">
              <a:buNone/>
            </a:pPr>
            <a:r>
              <a:rPr lang="en-US" sz="1100" b="1" dirty="0">
                <a:solidFill>
                  <a:srgbClr val="1F3864"/>
                </a:solidFill>
              </a:rPr>
              <a:t>Objectives</a:t>
            </a:r>
          </a:p>
        </p:txBody>
      </p:sp>
      <p:sp>
        <p:nvSpPr>
          <p:cNvPr id="21" name="B21"/>
          <p:cNvSpPr/>
          <p:nvPr/>
        </p:nvSpPr>
        <p:spPr>
          <a:xfrm>
            <a:off x="274320" y="2873327"/>
            <a:ext cx="365760" cy="502920"/>
          </a:xfrm>
          <a:prstGeom prst="rect">
            <a:avLst/>
          </a:prstGeom>
          <a:solidFill>
            <a:srgbClr val="1F3864"/>
          </a:solidFill>
          <a:ln w="12700">
            <a:solidFill>
              <a:srgbClr val="1F3864"/>
            </a:solidFill>
            <a:prstDash val="solid"/>
          </a:ln>
        </p:spPr>
        <p:txBody>
          <a:bodyPr/>
          <a:lstStyle/>
          <a:p>
            <a:endParaRPr lang="en-US"/>
          </a:p>
        </p:txBody>
      </p:sp>
      <p:sp>
        <p:nvSpPr>
          <p:cNvPr id="22" name="X22"/>
          <p:cNvSpPr/>
          <p:nvPr/>
        </p:nvSpPr>
        <p:spPr>
          <a:xfrm>
            <a:off x="274320" y="2873327"/>
            <a:ext cx="365760" cy="502920"/>
          </a:xfrm>
          <a:prstGeom prst="rect">
            <a:avLst/>
          </a:prstGeom>
          <a:noFill/>
          <a:ln/>
        </p:spPr>
        <p:txBody>
          <a:bodyPr wrap="square" lIns="91440" tIns="45720" rIns="91440" bIns="45720" rtlCol="0" anchor="ctr"/>
          <a:lstStyle/>
          <a:p>
            <a:pPr marL="0" indent="0" algn="ctr">
              <a:buNone/>
            </a:pPr>
            <a:r>
              <a:rPr lang="en-US" sz="1200" b="1" dirty="0">
                <a:solidFill>
                  <a:srgbClr val="FFFFFF"/>
                </a:solidFill>
              </a:rPr>
              <a:t>4</a:t>
            </a:r>
          </a:p>
        </p:txBody>
      </p:sp>
      <p:sp>
        <p:nvSpPr>
          <p:cNvPr id="23" name="B23"/>
          <p:cNvSpPr/>
          <p:nvPr/>
        </p:nvSpPr>
        <p:spPr>
          <a:xfrm>
            <a:off x="640080" y="2873327"/>
            <a:ext cx="3875680" cy="502920"/>
          </a:xfrm>
          <a:prstGeom prst="rect">
            <a:avLst/>
          </a:prstGeom>
          <a:solidFill>
            <a:srgbClr val="EBF3FF"/>
          </a:solidFill>
          <a:ln w="12700">
            <a:solidFill>
              <a:srgbClr val="BFDBFE"/>
            </a:solidFill>
            <a:prstDash val="solid"/>
          </a:ln>
        </p:spPr>
        <p:txBody>
          <a:bodyPr/>
          <a:lstStyle/>
          <a:p>
            <a:endParaRPr lang="en-US"/>
          </a:p>
        </p:txBody>
      </p:sp>
      <p:sp>
        <p:nvSpPr>
          <p:cNvPr id="24" name="X24"/>
          <p:cNvSpPr/>
          <p:nvPr/>
        </p:nvSpPr>
        <p:spPr>
          <a:xfrm>
            <a:off x="594360" y="2873327"/>
            <a:ext cx="3692800" cy="502920"/>
          </a:xfrm>
          <a:prstGeom prst="rect">
            <a:avLst/>
          </a:prstGeom>
          <a:noFill/>
          <a:ln/>
        </p:spPr>
        <p:txBody>
          <a:bodyPr wrap="square" lIns="91440" tIns="45720" rIns="91440" bIns="45720" rtlCol="0" anchor="ctr"/>
          <a:lstStyle/>
          <a:p>
            <a:pPr marL="0" indent="0" algn="l">
              <a:buNone/>
            </a:pPr>
            <a:r>
              <a:rPr lang="en-US" sz="1100" b="1" dirty="0">
                <a:solidFill>
                  <a:srgbClr val="1F3864"/>
                </a:solidFill>
              </a:rPr>
              <a:t>Technologies Used</a:t>
            </a:r>
          </a:p>
        </p:txBody>
      </p:sp>
      <p:sp>
        <p:nvSpPr>
          <p:cNvPr id="25" name="B25"/>
          <p:cNvSpPr/>
          <p:nvPr/>
        </p:nvSpPr>
        <p:spPr>
          <a:xfrm>
            <a:off x="274320" y="3421967"/>
            <a:ext cx="365760" cy="502920"/>
          </a:xfrm>
          <a:prstGeom prst="rect">
            <a:avLst/>
          </a:prstGeom>
          <a:solidFill>
            <a:srgbClr val="1F3864"/>
          </a:solidFill>
          <a:ln w="12700">
            <a:solidFill>
              <a:srgbClr val="1F3864"/>
            </a:solidFill>
            <a:prstDash val="solid"/>
          </a:ln>
        </p:spPr>
        <p:txBody>
          <a:bodyPr/>
          <a:lstStyle/>
          <a:p>
            <a:endParaRPr lang="en-US"/>
          </a:p>
        </p:txBody>
      </p:sp>
      <p:sp>
        <p:nvSpPr>
          <p:cNvPr id="26" name="X26"/>
          <p:cNvSpPr/>
          <p:nvPr/>
        </p:nvSpPr>
        <p:spPr>
          <a:xfrm>
            <a:off x="274320" y="3421967"/>
            <a:ext cx="365760" cy="502920"/>
          </a:xfrm>
          <a:prstGeom prst="rect">
            <a:avLst/>
          </a:prstGeom>
          <a:noFill/>
          <a:ln/>
        </p:spPr>
        <p:txBody>
          <a:bodyPr wrap="square" lIns="91440" tIns="45720" rIns="91440" bIns="45720" rtlCol="0" anchor="ctr"/>
          <a:lstStyle/>
          <a:p>
            <a:pPr marL="0" indent="0" algn="ctr">
              <a:buNone/>
            </a:pPr>
            <a:r>
              <a:rPr lang="en-US" sz="1200" b="1" dirty="0">
                <a:solidFill>
                  <a:srgbClr val="FFFFFF"/>
                </a:solidFill>
              </a:rPr>
              <a:t>5</a:t>
            </a:r>
          </a:p>
        </p:txBody>
      </p:sp>
      <p:sp>
        <p:nvSpPr>
          <p:cNvPr id="27" name="B27"/>
          <p:cNvSpPr/>
          <p:nvPr/>
        </p:nvSpPr>
        <p:spPr>
          <a:xfrm>
            <a:off x="640080" y="3421967"/>
            <a:ext cx="3875680" cy="502920"/>
          </a:xfrm>
          <a:prstGeom prst="rect">
            <a:avLst/>
          </a:prstGeom>
          <a:solidFill>
            <a:srgbClr val="EBF3FF"/>
          </a:solidFill>
          <a:ln w="12700">
            <a:solidFill>
              <a:srgbClr val="BFDBFE"/>
            </a:solidFill>
            <a:prstDash val="solid"/>
          </a:ln>
        </p:spPr>
        <p:txBody>
          <a:bodyPr/>
          <a:lstStyle/>
          <a:p>
            <a:endParaRPr lang="en-US"/>
          </a:p>
        </p:txBody>
      </p:sp>
      <p:sp>
        <p:nvSpPr>
          <p:cNvPr id="28" name="X28"/>
          <p:cNvSpPr/>
          <p:nvPr/>
        </p:nvSpPr>
        <p:spPr>
          <a:xfrm>
            <a:off x="594360" y="3421967"/>
            <a:ext cx="3692800" cy="502920"/>
          </a:xfrm>
          <a:prstGeom prst="rect">
            <a:avLst/>
          </a:prstGeom>
          <a:noFill/>
          <a:ln/>
        </p:spPr>
        <p:txBody>
          <a:bodyPr wrap="square" lIns="91440" tIns="45720" rIns="91440" bIns="45720" rtlCol="0" anchor="ctr"/>
          <a:lstStyle/>
          <a:p>
            <a:pPr marL="0" indent="0" algn="l">
              <a:buNone/>
            </a:pPr>
            <a:r>
              <a:rPr lang="en-US" sz="1100" b="1" dirty="0">
                <a:solidFill>
                  <a:srgbClr val="1F3864"/>
                </a:solidFill>
              </a:rPr>
              <a:t>Comparison with Existing Tools</a:t>
            </a:r>
          </a:p>
        </p:txBody>
      </p:sp>
      <p:sp>
        <p:nvSpPr>
          <p:cNvPr id="29" name="B29"/>
          <p:cNvSpPr/>
          <p:nvPr/>
        </p:nvSpPr>
        <p:spPr>
          <a:xfrm>
            <a:off x="274320" y="3970607"/>
            <a:ext cx="365760" cy="502920"/>
          </a:xfrm>
          <a:prstGeom prst="rect">
            <a:avLst/>
          </a:prstGeom>
          <a:solidFill>
            <a:srgbClr val="1F3864"/>
          </a:solidFill>
          <a:ln w="12700">
            <a:solidFill>
              <a:srgbClr val="1F3864"/>
            </a:solidFill>
            <a:prstDash val="solid"/>
          </a:ln>
        </p:spPr>
        <p:txBody>
          <a:bodyPr/>
          <a:lstStyle/>
          <a:p>
            <a:endParaRPr lang="en-US"/>
          </a:p>
        </p:txBody>
      </p:sp>
      <p:sp>
        <p:nvSpPr>
          <p:cNvPr id="30" name="X30"/>
          <p:cNvSpPr/>
          <p:nvPr/>
        </p:nvSpPr>
        <p:spPr>
          <a:xfrm>
            <a:off x="274320" y="3970607"/>
            <a:ext cx="365760" cy="502920"/>
          </a:xfrm>
          <a:prstGeom prst="rect">
            <a:avLst/>
          </a:prstGeom>
          <a:noFill/>
          <a:ln/>
        </p:spPr>
        <p:txBody>
          <a:bodyPr wrap="square" lIns="91440" tIns="45720" rIns="91440" bIns="45720" rtlCol="0" anchor="ctr"/>
          <a:lstStyle/>
          <a:p>
            <a:pPr marL="0" indent="0" algn="ctr">
              <a:buNone/>
            </a:pPr>
            <a:r>
              <a:rPr lang="en-US" sz="1200" b="1" dirty="0">
                <a:solidFill>
                  <a:srgbClr val="FFFFFF"/>
                </a:solidFill>
              </a:rPr>
              <a:t>6</a:t>
            </a:r>
          </a:p>
        </p:txBody>
      </p:sp>
      <p:sp>
        <p:nvSpPr>
          <p:cNvPr id="31" name="B31"/>
          <p:cNvSpPr/>
          <p:nvPr/>
        </p:nvSpPr>
        <p:spPr>
          <a:xfrm>
            <a:off x="640080" y="3970607"/>
            <a:ext cx="3875680" cy="502920"/>
          </a:xfrm>
          <a:prstGeom prst="rect">
            <a:avLst/>
          </a:prstGeom>
          <a:solidFill>
            <a:srgbClr val="EBF3FF"/>
          </a:solidFill>
          <a:ln w="12700">
            <a:solidFill>
              <a:srgbClr val="BFDBFE"/>
            </a:solidFill>
            <a:prstDash val="solid"/>
          </a:ln>
        </p:spPr>
        <p:txBody>
          <a:bodyPr/>
          <a:lstStyle/>
          <a:p>
            <a:endParaRPr lang="en-US"/>
          </a:p>
        </p:txBody>
      </p:sp>
      <p:sp>
        <p:nvSpPr>
          <p:cNvPr id="32" name="X32"/>
          <p:cNvSpPr/>
          <p:nvPr/>
        </p:nvSpPr>
        <p:spPr>
          <a:xfrm>
            <a:off x="594360" y="3970607"/>
            <a:ext cx="3692800" cy="502920"/>
          </a:xfrm>
          <a:prstGeom prst="rect">
            <a:avLst/>
          </a:prstGeom>
          <a:noFill/>
          <a:ln/>
        </p:spPr>
        <p:txBody>
          <a:bodyPr wrap="square" lIns="91440" tIns="45720" rIns="91440" bIns="45720" rtlCol="0" anchor="ctr"/>
          <a:lstStyle/>
          <a:p>
            <a:pPr marL="0" indent="0" algn="l">
              <a:buNone/>
            </a:pPr>
            <a:r>
              <a:rPr lang="en-US" sz="1100" b="1" dirty="0">
                <a:solidFill>
                  <a:srgbClr val="1F3864"/>
                </a:solidFill>
              </a:rPr>
              <a:t>System Design</a:t>
            </a:r>
          </a:p>
        </p:txBody>
      </p:sp>
      <p:sp>
        <p:nvSpPr>
          <p:cNvPr id="33" name="B33"/>
          <p:cNvSpPr/>
          <p:nvPr/>
        </p:nvSpPr>
        <p:spPr>
          <a:xfrm>
            <a:off x="4668160" y="1227407"/>
            <a:ext cx="365760" cy="502920"/>
          </a:xfrm>
          <a:prstGeom prst="rect">
            <a:avLst/>
          </a:prstGeom>
          <a:solidFill>
            <a:srgbClr val="1F3864"/>
          </a:solidFill>
          <a:ln w="12700">
            <a:solidFill>
              <a:srgbClr val="1F3864"/>
            </a:solidFill>
            <a:prstDash val="solid"/>
          </a:ln>
        </p:spPr>
        <p:txBody>
          <a:bodyPr/>
          <a:lstStyle/>
          <a:p>
            <a:endParaRPr lang="en-US"/>
          </a:p>
        </p:txBody>
      </p:sp>
      <p:sp>
        <p:nvSpPr>
          <p:cNvPr id="34" name="X34"/>
          <p:cNvSpPr/>
          <p:nvPr/>
        </p:nvSpPr>
        <p:spPr>
          <a:xfrm>
            <a:off x="4668160" y="1227407"/>
            <a:ext cx="365760" cy="502920"/>
          </a:xfrm>
          <a:prstGeom prst="rect">
            <a:avLst/>
          </a:prstGeom>
          <a:noFill/>
          <a:ln/>
        </p:spPr>
        <p:txBody>
          <a:bodyPr wrap="square" lIns="91440" tIns="45720" rIns="91440" bIns="45720" rtlCol="0" anchor="ctr"/>
          <a:lstStyle/>
          <a:p>
            <a:pPr marL="0" indent="0" algn="ctr">
              <a:buNone/>
            </a:pPr>
            <a:r>
              <a:rPr lang="en-US" sz="1200" b="1" dirty="0">
                <a:solidFill>
                  <a:srgbClr val="FFFFFF"/>
                </a:solidFill>
              </a:rPr>
              <a:t>7</a:t>
            </a:r>
          </a:p>
        </p:txBody>
      </p:sp>
      <p:sp>
        <p:nvSpPr>
          <p:cNvPr id="35" name="B35"/>
          <p:cNvSpPr/>
          <p:nvPr/>
        </p:nvSpPr>
        <p:spPr>
          <a:xfrm>
            <a:off x="5033920" y="1227407"/>
            <a:ext cx="3875680" cy="502920"/>
          </a:xfrm>
          <a:prstGeom prst="rect">
            <a:avLst/>
          </a:prstGeom>
          <a:solidFill>
            <a:srgbClr val="EBF3FF"/>
          </a:solidFill>
          <a:ln w="12700">
            <a:solidFill>
              <a:srgbClr val="BFDBFE"/>
            </a:solidFill>
            <a:prstDash val="solid"/>
          </a:ln>
        </p:spPr>
        <p:txBody>
          <a:bodyPr/>
          <a:lstStyle/>
          <a:p>
            <a:endParaRPr lang="en-US"/>
          </a:p>
        </p:txBody>
      </p:sp>
      <p:sp>
        <p:nvSpPr>
          <p:cNvPr id="36" name="X36"/>
          <p:cNvSpPr/>
          <p:nvPr/>
        </p:nvSpPr>
        <p:spPr>
          <a:xfrm>
            <a:off x="4988200" y="1227407"/>
            <a:ext cx="3692800" cy="502920"/>
          </a:xfrm>
          <a:prstGeom prst="rect">
            <a:avLst/>
          </a:prstGeom>
          <a:noFill/>
          <a:ln/>
        </p:spPr>
        <p:txBody>
          <a:bodyPr wrap="square" lIns="91440" tIns="45720" rIns="91440" bIns="45720" rtlCol="0" anchor="ctr"/>
          <a:lstStyle/>
          <a:p>
            <a:pPr marL="0" indent="0" algn="l">
              <a:buNone/>
            </a:pPr>
            <a:r>
              <a:rPr lang="en-US" sz="1100" b="1" dirty="0">
                <a:solidFill>
                  <a:srgbClr val="1F3864"/>
                </a:solidFill>
              </a:rPr>
              <a:t>Implementation</a:t>
            </a:r>
          </a:p>
        </p:txBody>
      </p:sp>
      <p:sp>
        <p:nvSpPr>
          <p:cNvPr id="37" name="B37"/>
          <p:cNvSpPr/>
          <p:nvPr/>
        </p:nvSpPr>
        <p:spPr>
          <a:xfrm>
            <a:off x="4668160" y="1776047"/>
            <a:ext cx="365760" cy="502920"/>
          </a:xfrm>
          <a:prstGeom prst="rect">
            <a:avLst/>
          </a:prstGeom>
          <a:solidFill>
            <a:srgbClr val="1F3864"/>
          </a:solidFill>
          <a:ln w="12700">
            <a:solidFill>
              <a:srgbClr val="1F3864"/>
            </a:solidFill>
            <a:prstDash val="solid"/>
          </a:ln>
        </p:spPr>
        <p:txBody>
          <a:bodyPr/>
          <a:lstStyle/>
          <a:p>
            <a:endParaRPr lang="en-US"/>
          </a:p>
        </p:txBody>
      </p:sp>
      <p:sp>
        <p:nvSpPr>
          <p:cNvPr id="38" name="X38"/>
          <p:cNvSpPr/>
          <p:nvPr/>
        </p:nvSpPr>
        <p:spPr>
          <a:xfrm>
            <a:off x="4668160" y="1776047"/>
            <a:ext cx="365760" cy="502920"/>
          </a:xfrm>
          <a:prstGeom prst="rect">
            <a:avLst/>
          </a:prstGeom>
          <a:noFill/>
          <a:ln/>
        </p:spPr>
        <p:txBody>
          <a:bodyPr wrap="square" lIns="91440" tIns="45720" rIns="91440" bIns="45720" rtlCol="0" anchor="ctr"/>
          <a:lstStyle/>
          <a:p>
            <a:pPr marL="0" indent="0" algn="ctr">
              <a:buNone/>
            </a:pPr>
            <a:r>
              <a:rPr lang="en-US" sz="1200" b="1" dirty="0">
                <a:solidFill>
                  <a:srgbClr val="FFFFFF"/>
                </a:solidFill>
              </a:rPr>
              <a:t>8</a:t>
            </a:r>
          </a:p>
        </p:txBody>
      </p:sp>
      <p:sp>
        <p:nvSpPr>
          <p:cNvPr id="39" name="B39"/>
          <p:cNvSpPr/>
          <p:nvPr/>
        </p:nvSpPr>
        <p:spPr>
          <a:xfrm>
            <a:off x="5033920" y="1776047"/>
            <a:ext cx="3875680" cy="502920"/>
          </a:xfrm>
          <a:prstGeom prst="rect">
            <a:avLst/>
          </a:prstGeom>
          <a:solidFill>
            <a:srgbClr val="EBF3FF"/>
          </a:solidFill>
          <a:ln w="12700">
            <a:solidFill>
              <a:srgbClr val="BFDBFE"/>
            </a:solidFill>
            <a:prstDash val="solid"/>
          </a:ln>
        </p:spPr>
        <p:txBody>
          <a:bodyPr/>
          <a:lstStyle/>
          <a:p>
            <a:endParaRPr lang="en-US"/>
          </a:p>
        </p:txBody>
      </p:sp>
      <p:sp>
        <p:nvSpPr>
          <p:cNvPr id="40" name="X40"/>
          <p:cNvSpPr/>
          <p:nvPr/>
        </p:nvSpPr>
        <p:spPr>
          <a:xfrm>
            <a:off x="4988200" y="1776047"/>
            <a:ext cx="3692800" cy="502920"/>
          </a:xfrm>
          <a:prstGeom prst="rect">
            <a:avLst/>
          </a:prstGeom>
          <a:noFill/>
          <a:ln/>
        </p:spPr>
        <p:txBody>
          <a:bodyPr wrap="square" lIns="91440" tIns="45720" rIns="91440" bIns="45720" rtlCol="0" anchor="ctr"/>
          <a:lstStyle/>
          <a:p>
            <a:pPr marL="0" indent="0" algn="l">
              <a:buNone/>
            </a:pPr>
            <a:r>
              <a:rPr lang="en-US" sz="1100" b="1" dirty="0">
                <a:solidFill>
                  <a:srgbClr val="1F3864"/>
                </a:solidFill>
              </a:rPr>
              <a:t>System Interfaces</a:t>
            </a:r>
          </a:p>
        </p:txBody>
      </p:sp>
      <p:sp>
        <p:nvSpPr>
          <p:cNvPr id="41" name="B41"/>
          <p:cNvSpPr/>
          <p:nvPr/>
        </p:nvSpPr>
        <p:spPr>
          <a:xfrm>
            <a:off x="4668160" y="2324687"/>
            <a:ext cx="365760" cy="502920"/>
          </a:xfrm>
          <a:prstGeom prst="rect">
            <a:avLst/>
          </a:prstGeom>
          <a:solidFill>
            <a:srgbClr val="1F3864"/>
          </a:solidFill>
          <a:ln w="12700">
            <a:solidFill>
              <a:srgbClr val="1F3864"/>
            </a:solidFill>
            <a:prstDash val="solid"/>
          </a:ln>
        </p:spPr>
        <p:txBody>
          <a:bodyPr/>
          <a:lstStyle/>
          <a:p>
            <a:endParaRPr lang="en-US"/>
          </a:p>
        </p:txBody>
      </p:sp>
      <p:sp>
        <p:nvSpPr>
          <p:cNvPr id="42" name="X42"/>
          <p:cNvSpPr/>
          <p:nvPr/>
        </p:nvSpPr>
        <p:spPr>
          <a:xfrm>
            <a:off x="4668160" y="2324687"/>
            <a:ext cx="365760" cy="502920"/>
          </a:xfrm>
          <a:prstGeom prst="rect">
            <a:avLst/>
          </a:prstGeom>
          <a:noFill/>
          <a:ln/>
        </p:spPr>
        <p:txBody>
          <a:bodyPr wrap="square" lIns="91440" tIns="45720" rIns="91440" bIns="45720" rtlCol="0" anchor="ctr"/>
          <a:lstStyle/>
          <a:p>
            <a:pPr marL="0" indent="0" algn="ctr">
              <a:buNone/>
            </a:pPr>
            <a:r>
              <a:rPr lang="en-US" sz="1200" b="1" dirty="0">
                <a:solidFill>
                  <a:srgbClr val="FFFFFF"/>
                </a:solidFill>
              </a:rPr>
              <a:t>9</a:t>
            </a:r>
          </a:p>
        </p:txBody>
      </p:sp>
      <p:sp>
        <p:nvSpPr>
          <p:cNvPr id="43" name="B43"/>
          <p:cNvSpPr/>
          <p:nvPr/>
        </p:nvSpPr>
        <p:spPr>
          <a:xfrm>
            <a:off x="5033920" y="2324687"/>
            <a:ext cx="3875680" cy="502920"/>
          </a:xfrm>
          <a:prstGeom prst="rect">
            <a:avLst/>
          </a:prstGeom>
          <a:solidFill>
            <a:srgbClr val="EBF3FF"/>
          </a:solidFill>
          <a:ln w="12700">
            <a:solidFill>
              <a:srgbClr val="BFDBFE"/>
            </a:solidFill>
            <a:prstDash val="solid"/>
          </a:ln>
        </p:spPr>
        <p:txBody>
          <a:bodyPr/>
          <a:lstStyle/>
          <a:p>
            <a:endParaRPr lang="en-US"/>
          </a:p>
        </p:txBody>
      </p:sp>
      <p:sp>
        <p:nvSpPr>
          <p:cNvPr id="44" name="X44"/>
          <p:cNvSpPr/>
          <p:nvPr/>
        </p:nvSpPr>
        <p:spPr>
          <a:xfrm>
            <a:off x="4988200" y="2324687"/>
            <a:ext cx="3692800" cy="502920"/>
          </a:xfrm>
          <a:prstGeom prst="rect">
            <a:avLst/>
          </a:prstGeom>
          <a:noFill/>
          <a:ln/>
        </p:spPr>
        <p:txBody>
          <a:bodyPr wrap="square" lIns="91440" tIns="45720" rIns="91440" bIns="45720" rtlCol="0" anchor="ctr"/>
          <a:lstStyle/>
          <a:p>
            <a:pPr marL="0" indent="0" algn="l">
              <a:buNone/>
            </a:pPr>
            <a:r>
              <a:rPr lang="en-US" sz="1100" b="1" dirty="0">
                <a:solidFill>
                  <a:srgbClr val="1F3864"/>
                </a:solidFill>
              </a:rPr>
              <a:t>Results</a:t>
            </a:r>
          </a:p>
        </p:txBody>
      </p:sp>
      <p:sp>
        <p:nvSpPr>
          <p:cNvPr id="45" name="B45"/>
          <p:cNvSpPr/>
          <p:nvPr/>
        </p:nvSpPr>
        <p:spPr>
          <a:xfrm>
            <a:off x="4668160" y="2873327"/>
            <a:ext cx="365760" cy="502920"/>
          </a:xfrm>
          <a:prstGeom prst="rect">
            <a:avLst/>
          </a:prstGeom>
          <a:solidFill>
            <a:srgbClr val="1F3864"/>
          </a:solidFill>
          <a:ln w="12700">
            <a:solidFill>
              <a:srgbClr val="1F3864"/>
            </a:solidFill>
            <a:prstDash val="solid"/>
          </a:ln>
        </p:spPr>
        <p:txBody>
          <a:bodyPr/>
          <a:lstStyle/>
          <a:p>
            <a:endParaRPr lang="en-US"/>
          </a:p>
        </p:txBody>
      </p:sp>
      <p:sp>
        <p:nvSpPr>
          <p:cNvPr id="46" name="X46"/>
          <p:cNvSpPr/>
          <p:nvPr/>
        </p:nvSpPr>
        <p:spPr>
          <a:xfrm>
            <a:off x="4668160" y="2873327"/>
            <a:ext cx="365760" cy="502920"/>
          </a:xfrm>
          <a:prstGeom prst="rect">
            <a:avLst/>
          </a:prstGeom>
          <a:noFill/>
          <a:ln/>
        </p:spPr>
        <p:txBody>
          <a:bodyPr wrap="square" lIns="91440" tIns="45720" rIns="91440" bIns="45720" rtlCol="0" anchor="ctr"/>
          <a:lstStyle/>
          <a:p>
            <a:pPr marL="0" indent="0" algn="ctr">
              <a:buNone/>
            </a:pPr>
            <a:r>
              <a:rPr lang="en-US" sz="1200" b="1" dirty="0">
                <a:solidFill>
                  <a:srgbClr val="FFFFFF"/>
                </a:solidFill>
              </a:rPr>
              <a:t>10</a:t>
            </a:r>
          </a:p>
        </p:txBody>
      </p:sp>
      <p:sp>
        <p:nvSpPr>
          <p:cNvPr id="47" name="B47"/>
          <p:cNvSpPr/>
          <p:nvPr/>
        </p:nvSpPr>
        <p:spPr>
          <a:xfrm>
            <a:off x="5033920" y="2873327"/>
            <a:ext cx="3875680" cy="502920"/>
          </a:xfrm>
          <a:prstGeom prst="rect">
            <a:avLst/>
          </a:prstGeom>
          <a:solidFill>
            <a:srgbClr val="EBF3FF"/>
          </a:solidFill>
          <a:ln w="12700">
            <a:solidFill>
              <a:srgbClr val="BFDBFE"/>
            </a:solidFill>
            <a:prstDash val="solid"/>
          </a:ln>
        </p:spPr>
        <p:txBody>
          <a:bodyPr/>
          <a:lstStyle/>
          <a:p>
            <a:endParaRPr lang="en-US"/>
          </a:p>
        </p:txBody>
      </p:sp>
      <p:sp>
        <p:nvSpPr>
          <p:cNvPr id="48" name="X48"/>
          <p:cNvSpPr/>
          <p:nvPr/>
        </p:nvSpPr>
        <p:spPr>
          <a:xfrm>
            <a:off x="4988200" y="2873327"/>
            <a:ext cx="3692800" cy="502920"/>
          </a:xfrm>
          <a:prstGeom prst="rect">
            <a:avLst/>
          </a:prstGeom>
          <a:noFill/>
          <a:ln/>
        </p:spPr>
        <p:txBody>
          <a:bodyPr wrap="square" lIns="91440" tIns="45720" rIns="91440" bIns="45720" rtlCol="0" anchor="ctr"/>
          <a:lstStyle/>
          <a:p>
            <a:pPr marL="0" indent="0" algn="l">
              <a:buNone/>
            </a:pPr>
            <a:r>
              <a:rPr lang="en-US" sz="1100" b="1" dirty="0">
                <a:solidFill>
                  <a:srgbClr val="1F3864"/>
                </a:solidFill>
              </a:rPr>
              <a:t>System Architecture</a:t>
            </a:r>
          </a:p>
        </p:txBody>
      </p:sp>
      <p:sp>
        <p:nvSpPr>
          <p:cNvPr id="49" name="B49"/>
          <p:cNvSpPr/>
          <p:nvPr/>
        </p:nvSpPr>
        <p:spPr>
          <a:xfrm>
            <a:off x="4668160" y="3421967"/>
            <a:ext cx="365760" cy="502920"/>
          </a:xfrm>
          <a:prstGeom prst="rect">
            <a:avLst/>
          </a:prstGeom>
          <a:solidFill>
            <a:srgbClr val="1F3864"/>
          </a:solidFill>
          <a:ln w="12700">
            <a:solidFill>
              <a:srgbClr val="1F3864"/>
            </a:solidFill>
            <a:prstDash val="solid"/>
          </a:ln>
        </p:spPr>
        <p:txBody>
          <a:bodyPr/>
          <a:lstStyle/>
          <a:p>
            <a:endParaRPr lang="en-US"/>
          </a:p>
        </p:txBody>
      </p:sp>
      <p:sp>
        <p:nvSpPr>
          <p:cNvPr id="50" name="X50"/>
          <p:cNvSpPr/>
          <p:nvPr/>
        </p:nvSpPr>
        <p:spPr>
          <a:xfrm>
            <a:off x="4668160" y="3421967"/>
            <a:ext cx="365760" cy="502920"/>
          </a:xfrm>
          <a:prstGeom prst="rect">
            <a:avLst/>
          </a:prstGeom>
          <a:noFill/>
          <a:ln/>
        </p:spPr>
        <p:txBody>
          <a:bodyPr wrap="square" lIns="91440" tIns="45720" rIns="91440" bIns="45720" rtlCol="0" anchor="ctr"/>
          <a:lstStyle/>
          <a:p>
            <a:pPr marL="0" indent="0" algn="ctr">
              <a:buNone/>
            </a:pPr>
            <a:r>
              <a:rPr lang="en-US" sz="1200" b="1" dirty="0">
                <a:solidFill>
                  <a:srgbClr val="FFFFFF"/>
                </a:solidFill>
              </a:rPr>
              <a:t>11</a:t>
            </a:r>
          </a:p>
        </p:txBody>
      </p:sp>
      <p:sp>
        <p:nvSpPr>
          <p:cNvPr id="51" name="B51"/>
          <p:cNvSpPr/>
          <p:nvPr/>
        </p:nvSpPr>
        <p:spPr>
          <a:xfrm>
            <a:off x="5033920" y="3421967"/>
            <a:ext cx="3875680" cy="502920"/>
          </a:xfrm>
          <a:prstGeom prst="rect">
            <a:avLst/>
          </a:prstGeom>
          <a:solidFill>
            <a:srgbClr val="EBF3FF"/>
          </a:solidFill>
          <a:ln w="12700">
            <a:solidFill>
              <a:srgbClr val="BFDBFE"/>
            </a:solidFill>
            <a:prstDash val="solid"/>
          </a:ln>
        </p:spPr>
        <p:txBody>
          <a:bodyPr/>
          <a:lstStyle/>
          <a:p>
            <a:endParaRPr lang="en-US"/>
          </a:p>
        </p:txBody>
      </p:sp>
      <p:sp>
        <p:nvSpPr>
          <p:cNvPr id="52" name="X52"/>
          <p:cNvSpPr/>
          <p:nvPr/>
        </p:nvSpPr>
        <p:spPr>
          <a:xfrm>
            <a:off x="4988200" y="3421967"/>
            <a:ext cx="3692800" cy="502920"/>
          </a:xfrm>
          <a:prstGeom prst="rect">
            <a:avLst/>
          </a:prstGeom>
          <a:noFill/>
          <a:ln/>
        </p:spPr>
        <p:txBody>
          <a:bodyPr wrap="square" lIns="91440" tIns="45720" rIns="91440" bIns="45720" rtlCol="0" anchor="ctr"/>
          <a:lstStyle/>
          <a:p>
            <a:pPr marL="0" indent="0" algn="l">
              <a:buNone/>
            </a:pPr>
            <a:r>
              <a:rPr lang="en-US" sz="1100" b="1" dirty="0">
                <a:solidFill>
                  <a:srgbClr val="1F3864"/>
                </a:solidFill>
              </a:rPr>
              <a:t>Future Work</a:t>
            </a:r>
          </a:p>
        </p:txBody>
      </p:sp>
      <p:sp>
        <p:nvSpPr>
          <p:cNvPr id="53" name="B53"/>
          <p:cNvSpPr/>
          <p:nvPr/>
        </p:nvSpPr>
        <p:spPr>
          <a:xfrm>
            <a:off x="4668160" y="3970607"/>
            <a:ext cx="365760" cy="502920"/>
          </a:xfrm>
          <a:prstGeom prst="rect">
            <a:avLst/>
          </a:prstGeom>
          <a:solidFill>
            <a:srgbClr val="1F3864"/>
          </a:solidFill>
          <a:ln w="12700">
            <a:solidFill>
              <a:srgbClr val="1F3864"/>
            </a:solidFill>
            <a:prstDash val="solid"/>
          </a:ln>
        </p:spPr>
        <p:txBody>
          <a:bodyPr/>
          <a:lstStyle/>
          <a:p>
            <a:endParaRPr lang="en-US"/>
          </a:p>
        </p:txBody>
      </p:sp>
      <p:sp>
        <p:nvSpPr>
          <p:cNvPr id="54" name="X54"/>
          <p:cNvSpPr/>
          <p:nvPr/>
        </p:nvSpPr>
        <p:spPr>
          <a:xfrm>
            <a:off x="4668160" y="3970607"/>
            <a:ext cx="365760" cy="502920"/>
          </a:xfrm>
          <a:prstGeom prst="rect">
            <a:avLst/>
          </a:prstGeom>
          <a:noFill/>
          <a:ln/>
        </p:spPr>
        <p:txBody>
          <a:bodyPr wrap="square" lIns="91440" tIns="45720" rIns="91440" bIns="45720" rtlCol="0" anchor="ctr"/>
          <a:lstStyle/>
          <a:p>
            <a:pPr marL="0" indent="0" algn="ctr">
              <a:buNone/>
            </a:pPr>
            <a:r>
              <a:rPr lang="en-US" sz="1200" b="1" dirty="0">
                <a:solidFill>
                  <a:srgbClr val="FFFFFF"/>
                </a:solidFill>
              </a:rPr>
              <a:t>12</a:t>
            </a:r>
          </a:p>
        </p:txBody>
      </p:sp>
      <p:sp>
        <p:nvSpPr>
          <p:cNvPr id="55" name="B55"/>
          <p:cNvSpPr/>
          <p:nvPr/>
        </p:nvSpPr>
        <p:spPr>
          <a:xfrm>
            <a:off x="5033920" y="3970607"/>
            <a:ext cx="3875680" cy="502920"/>
          </a:xfrm>
          <a:prstGeom prst="rect">
            <a:avLst/>
          </a:prstGeom>
          <a:solidFill>
            <a:srgbClr val="EBF3FF"/>
          </a:solidFill>
          <a:ln w="12700">
            <a:solidFill>
              <a:srgbClr val="BFDBFE"/>
            </a:solidFill>
            <a:prstDash val="solid"/>
          </a:ln>
        </p:spPr>
        <p:txBody>
          <a:bodyPr/>
          <a:lstStyle/>
          <a:p>
            <a:endParaRPr lang="en-US"/>
          </a:p>
        </p:txBody>
      </p:sp>
      <p:sp>
        <p:nvSpPr>
          <p:cNvPr id="56" name="X56"/>
          <p:cNvSpPr/>
          <p:nvPr/>
        </p:nvSpPr>
        <p:spPr>
          <a:xfrm>
            <a:off x="4988200" y="3970607"/>
            <a:ext cx="3692800" cy="502920"/>
          </a:xfrm>
          <a:prstGeom prst="rect">
            <a:avLst/>
          </a:prstGeom>
          <a:noFill/>
          <a:ln/>
        </p:spPr>
        <p:txBody>
          <a:bodyPr wrap="square" lIns="91440" tIns="45720" rIns="91440" bIns="45720" rtlCol="0" anchor="ctr"/>
          <a:lstStyle/>
          <a:p>
            <a:pPr marL="0" indent="0" algn="l">
              <a:buNone/>
            </a:pPr>
            <a:r>
              <a:rPr lang="en-US" sz="1100" b="1" dirty="0">
                <a:solidFill>
                  <a:srgbClr val="1F3864"/>
                </a:solidFill>
              </a:rPr>
              <a:t>Conclusion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256032"/>
          </a:xfrm>
          <a:prstGeom prst="rect">
            <a:avLst/>
          </a:prstGeom>
          <a:solidFill>
            <a:srgbClr val="1F3864"/>
          </a:solidFill>
          <a:ln w="12700">
            <a:solidFill>
              <a:srgbClr val="1F3864"/>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3" name="Text 1"/>
          <p:cNvSpPr/>
          <p:nvPr/>
        </p:nvSpPr>
        <p:spPr>
          <a:xfrm>
            <a:off x="274320" y="0"/>
            <a:ext cx="7132320" cy="256032"/>
          </a:xfrm>
          <a:prstGeom prst="rect">
            <a:avLst/>
          </a:prstGeom>
          <a:noFill/>
          <a:ln/>
        </p:spPr>
        <p:txBody>
          <a:bodyPr wrap="square" lIns="0" tIns="0" rIns="0" bIns="0" rtlCol="0" anchor="ctr"/>
          <a:lstStyle/>
          <a:p>
            <a:pPr marL="0" indent="0">
              <a:buNone/>
            </a:pPr>
            <a:r>
              <a:rPr lang="en-US" sz="850" dirty="0">
                <a:solidFill>
                  <a:srgbClr val="FFFFFF"/>
                </a:solidFill>
                <a:latin typeface="Times New Roman" panose="02020603050405020304" pitchFamily="18" charset="0"/>
                <a:cs typeface="Times New Roman" panose="02020603050405020304" pitchFamily="18" charset="0"/>
              </a:rPr>
              <a:t>Deepfake Image Detection System  |  TM471B — May 2026</a:t>
            </a:r>
            <a:endParaRPr lang="en-US" sz="850" dirty="0">
              <a:latin typeface="Times New Roman" panose="02020603050405020304" pitchFamily="18" charset="0"/>
              <a:cs typeface="Times New Roman" panose="02020603050405020304" pitchFamily="18" charset="0"/>
            </a:endParaRPr>
          </a:p>
        </p:txBody>
      </p:sp>
      <p:sp>
        <p:nvSpPr>
          <p:cNvPr id="4" name="Shape 2"/>
          <p:cNvSpPr/>
          <p:nvPr/>
        </p:nvSpPr>
        <p:spPr>
          <a:xfrm>
            <a:off x="8138160" y="27432"/>
            <a:ext cx="749808" cy="201168"/>
          </a:xfrm>
          <a:prstGeom prst="rect">
            <a:avLst/>
          </a:prstGeom>
          <a:solidFill>
            <a:srgbClr val="1A4F9E"/>
          </a:solidFill>
          <a:ln w="12700">
            <a:solidFill>
              <a:srgbClr val="FFFFFF"/>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5" name="Text 3"/>
          <p:cNvSpPr/>
          <p:nvPr/>
        </p:nvSpPr>
        <p:spPr>
          <a:xfrm>
            <a:off x="8138160" y="27432"/>
            <a:ext cx="749808"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Times New Roman" panose="02020603050405020304" pitchFamily="18" charset="0"/>
                <a:cs typeface="Times New Roman" panose="02020603050405020304" pitchFamily="18" charset="0"/>
              </a:rPr>
              <a:t>AOU</a:t>
            </a:r>
            <a:endParaRPr lang="en-US" sz="800" dirty="0">
              <a:latin typeface="Times New Roman" panose="02020603050405020304" pitchFamily="18" charset="0"/>
              <a:cs typeface="Times New Roman" panose="02020603050405020304" pitchFamily="18" charset="0"/>
            </a:endParaRPr>
          </a:p>
        </p:txBody>
      </p:sp>
      <p:sp>
        <p:nvSpPr>
          <p:cNvPr id="6" name="Text 4"/>
          <p:cNvSpPr/>
          <p:nvPr/>
        </p:nvSpPr>
        <p:spPr>
          <a:xfrm>
            <a:off x="8778240" y="4919472"/>
            <a:ext cx="320040" cy="182880"/>
          </a:xfrm>
          <a:prstGeom prst="rect">
            <a:avLst/>
          </a:prstGeom>
          <a:noFill/>
          <a:ln/>
        </p:spPr>
        <p:txBody>
          <a:bodyPr wrap="square" lIns="0" tIns="0" rIns="0" bIns="0" rtlCol="0" anchor="ctr"/>
          <a:lstStyle/>
          <a:p>
            <a:pPr marL="0" indent="0" algn="r">
              <a:buNone/>
            </a:pPr>
            <a:r>
              <a:rPr lang="en-US" sz="900" dirty="0">
                <a:solidFill>
                  <a:srgbClr val="475569"/>
                </a:solidFill>
                <a:latin typeface="Times New Roman" panose="02020603050405020304" pitchFamily="18" charset="0"/>
                <a:cs typeface="Times New Roman" panose="02020603050405020304" pitchFamily="18" charset="0"/>
              </a:rPr>
              <a:t>3</a:t>
            </a:r>
            <a:endParaRPr lang="en-US" sz="900" dirty="0">
              <a:latin typeface="Times New Roman" panose="02020603050405020304" pitchFamily="18" charset="0"/>
              <a:cs typeface="Times New Roman" panose="02020603050405020304" pitchFamily="18" charset="0"/>
            </a:endParaRPr>
          </a:p>
        </p:txBody>
      </p:sp>
      <p:sp>
        <p:nvSpPr>
          <p:cNvPr id="7" name="Text 5"/>
          <p:cNvSpPr/>
          <p:nvPr/>
        </p:nvSpPr>
        <p:spPr>
          <a:xfrm>
            <a:off x="411480" y="320040"/>
            <a:ext cx="8321040" cy="457200"/>
          </a:xfrm>
          <a:prstGeom prst="rect">
            <a:avLst/>
          </a:prstGeom>
          <a:noFill/>
          <a:ln/>
        </p:spPr>
        <p:txBody>
          <a:bodyPr wrap="square" lIns="0" tIns="0" rIns="0" bIns="0" rtlCol="0" anchor="ctr"/>
          <a:lstStyle/>
          <a:p>
            <a:pPr marL="0" indent="0">
              <a:buNone/>
            </a:pPr>
            <a:r>
              <a:rPr lang="en-US" sz="2300" b="1" dirty="0">
                <a:solidFill>
                  <a:srgbClr val="0056B3"/>
                </a:solidFill>
                <a:latin typeface="Times New Roman" panose="02020603050405020304" pitchFamily="18" charset="0"/>
                <a:cs typeface="Times New Roman" panose="02020603050405020304" pitchFamily="18" charset="0"/>
              </a:rPr>
              <a:t>Introduction</a:t>
            </a:r>
            <a:endParaRPr lang="en-US" sz="2300" dirty="0">
              <a:latin typeface="Times New Roman" panose="02020603050405020304" pitchFamily="18" charset="0"/>
              <a:cs typeface="Times New Roman" panose="02020603050405020304" pitchFamily="18" charset="0"/>
            </a:endParaRPr>
          </a:p>
        </p:txBody>
      </p:sp>
      <p:sp>
        <p:nvSpPr>
          <p:cNvPr id="8" name="Shape 6"/>
          <p:cNvSpPr/>
          <p:nvPr/>
        </p:nvSpPr>
        <p:spPr>
          <a:xfrm>
            <a:off x="411480" y="795528"/>
            <a:ext cx="8321040" cy="22860"/>
          </a:xfrm>
          <a:prstGeom prst="rect">
            <a:avLst/>
          </a:prstGeom>
          <a:solidFill>
            <a:srgbClr val="0056B3"/>
          </a:solidFill>
          <a:ln w="12700">
            <a:solidFill>
              <a:srgbClr val="0056B3"/>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9" name="Shape 7"/>
          <p:cNvSpPr/>
          <p:nvPr/>
        </p:nvSpPr>
        <p:spPr>
          <a:xfrm>
            <a:off x="411480" y="987552"/>
            <a:ext cx="8321040" cy="914400"/>
          </a:xfrm>
          <a:prstGeom prst="rect">
            <a:avLst/>
          </a:prstGeom>
          <a:solidFill>
            <a:srgbClr val="EBF3FF"/>
          </a:solidFill>
          <a:ln w="12700">
            <a:solidFill>
              <a:srgbClr val="BFDBFE"/>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10" name="Shape 8"/>
          <p:cNvSpPr/>
          <p:nvPr/>
        </p:nvSpPr>
        <p:spPr>
          <a:xfrm>
            <a:off x="411480" y="987552"/>
            <a:ext cx="54864" cy="914400"/>
          </a:xfrm>
          <a:prstGeom prst="rect">
            <a:avLst/>
          </a:prstGeom>
          <a:solidFill>
            <a:srgbClr val="0056B3"/>
          </a:solidFill>
          <a:ln w="12700">
            <a:solidFill>
              <a:srgbClr val="0056B3"/>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11" name="Text 9"/>
          <p:cNvSpPr/>
          <p:nvPr/>
        </p:nvSpPr>
        <p:spPr>
          <a:xfrm>
            <a:off x="566928" y="1033272"/>
            <a:ext cx="8229600" cy="292608"/>
          </a:xfrm>
          <a:prstGeom prst="rect">
            <a:avLst/>
          </a:prstGeom>
          <a:noFill/>
          <a:ln/>
        </p:spPr>
        <p:txBody>
          <a:bodyPr wrap="square" lIns="0" tIns="0" rIns="0" bIns="0" rtlCol="0" anchor="ctr"/>
          <a:lstStyle/>
          <a:p>
            <a:pPr marL="0" indent="0">
              <a:buNone/>
            </a:pPr>
            <a:r>
              <a:rPr lang="en-US" sz="1300" b="1" dirty="0">
                <a:solidFill>
                  <a:srgbClr val="0056B3"/>
                </a:solidFill>
                <a:latin typeface="Times New Roman" panose="02020603050405020304" pitchFamily="18" charset="0"/>
                <a:cs typeface="Times New Roman" panose="02020603050405020304" pitchFamily="18" charset="0"/>
              </a:rPr>
              <a:t>What are Deepfakes?</a:t>
            </a:r>
            <a:endParaRPr lang="en-US" sz="1300" dirty="0">
              <a:latin typeface="Times New Roman" panose="02020603050405020304" pitchFamily="18" charset="0"/>
              <a:cs typeface="Times New Roman" panose="02020603050405020304" pitchFamily="18" charset="0"/>
            </a:endParaRPr>
          </a:p>
        </p:txBody>
      </p:sp>
      <p:sp>
        <p:nvSpPr>
          <p:cNvPr id="12" name="Text 10"/>
          <p:cNvSpPr/>
          <p:nvPr/>
        </p:nvSpPr>
        <p:spPr>
          <a:xfrm>
            <a:off x="566928" y="1316736"/>
            <a:ext cx="8138160" cy="530352"/>
          </a:xfrm>
          <a:prstGeom prst="rect">
            <a:avLst/>
          </a:prstGeom>
          <a:noFill/>
          <a:ln/>
        </p:spPr>
        <p:txBody>
          <a:bodyPr wrap="square" lIns="25400" tIns="25400" rIns="25400" bIns="25400" rtlCol="0" anchor="t"/>
          <a:lstStyle/>
          <a:p>
            <a:pPr marL="0" indent="0">
              <a:buNone/>
            </a:pPr>
            <a:r>
              <a:rPr lang="en-US" sz="1150" dirty="0">
                <a:solidFill>
                  <a:srgbClr val="1E293B"/>
                </a:solidFill>
                <a:latin typeface="Times New Roman" panose="02020603050405020304" pitchFamily="18" charset="0"/>
                <a:cs typeface="Times New Roman" panose="02020603050405020304" pitchFamily="18" charset="0"/>
              </a:rPr>
              <a:t>AI-generated synthetic media — images and videos — created using deep learning models such as GANs, capable of producing highly realistic fake human faces indistinguishable from genuine photographs.</a:t>
            </a:r>
            <a:endParaRPr lang="en-US" sz="1150" dirty="0">
              <a:latin typeface="Times New Roman" panose="02020603050405020304" pitchFamily="18" charset="0"/>
              <a:cs typeface="Times New Roman" panose="02020603050405020304" pitchFamily="18" charset="0"/>
            </a:endParaRPr>
          </a:p>
        </p:txBody>
      </p:sp>
      <p:sp>
        <p:nvSpPr>
          <p:cNvPr id="17" name="Shape 15"/>
          <p:cNvSpPr/>
          <p:nvPr/>
        </p:nvSpPr>
        <p:spPr>
          <a:xfrm>
            <a:off x="411480" y="2327148"/>
            <a:ext cx="8321040" cy="914400"/>
          </a:xfrm>
          <a:prstGeom prst="rect">
            <a:avLst/>
          </a:prstGeom>
          <a:solidFill>
            <a:srgbClr val="EBF3FF"/>
          </a:solidFill>
          <a:ln w="12700">
            <a:solidFill>
              <a:srgbClr val="BFDBFE"/>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18" name="Shape 16"/>
          <p:cNvSpPr/>
          <p:nvPr/>
        </p:nvSpPr>
        <p:spPr>
          <a:xfrm>
            <a:off x="411480" y="2327148"/>
            <a:ext cx="54864" cy="914400"/>
          </a:xfrm>
          <a:prstGeom prst="rect">
            <a:avLst/>
          </a:prstGeom>
          <a:solidFill>
            <a:srgbClr val="0056B3"/>
          </a:solidFill>
          <a:ln w="12700">
            <a:solidFill>
              <a:srgbClr val="0056B3"/>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19" name="Text 17"/>
          <p:cNvSpPr/>
          <p:nvPr/>
        </p:nvSpPr>
        <p:spPr>
          <a:xfrm>
            <a:off x="566928" y="2372868"/>
            <a:ext cx="8229600" cy="292608"/>
          </a:xfrm>
          <a:prstGeom prst="rect">
            <a:avLst/>
          </a:prstGeom>
          <a:noFill/>
          <a:ln/>
        </p:spPr>
        <p:txBody>
          <a:bodyPr wrap="square" lIns="0" tIns="0" rIns="0" bIns="0" rtlCol="0" anchor="ctr"/>
          <a:lstStyle/>
          <a:p>
            <a:pPr marL="0" indent="0">
              <a:buNone/>
            </a:pPr>
            <a:r>
              <a:rPr lang="en-US" sz="1300" b="1" dirty="0">
                <a:solidFill>
                  <a:srgbClr val="0056B3"/>
                </a:solidFill>
                <a:latin typeface="Times New Roman" panose="02020603050405020304" pitchFamily="18" charset="0"/>
                <a:cs typeface="Times New Roman" panose="02020603050405020304" pitchFamily="18" charset="0"/>
              </a:rPr>
              <a:t>Why Automated Detection?</a:t>
            </a:r>
            <a:endParaRPr lang="en-US" sz="1300" dirty="0">
              <a:latin typeface="Times New Roman" panose="02020603050405020304" pitchFamily="18" charset="0"/>
              <a:cs typeface="Times New Roman" panose="02020603050405020304" pitchFamily="18" charset="0"/>
            </a:endParaRPr>
          </a:p>
        </p:txBody>
      </p:sp>
      <p:sp>
        <p:nvSpPr>
          <p:cNvPr id="20" name="Text 18"/>
          <p:cNvSpPr/>
          <p:nvPr/>
        </p:nvSpPr>
        <p:spPr>
          <a:xfrm>
            <a:off x="566928" y="2656332"/>
            <a:ext cx="8138160" cy="530352"/>
          </a:xfrm>
          <a:prstGeom prst="rect">
            <a:avLst/>
          </a:prstGeom>
          <a:noFill/>
          <a:ln/>
        </p:spPr>
        <p:txBody>
          <a:bodyPr wrap="square" lIns="25400" tIns="25400" rIns="25400" bIns="25400" rtlCol="0" anchor="t"/>
          <a:lstStyle/>
          <a:p>
            <a:pPr marL="0" indent="0">
              <a:buNone/>
            </a:pPr>
            <a:r>
              <a:rPr lang="en-US" sz="1150" dirty="0">
                <a:solidFill>
                  <a:srgbClr val="1E293B"/>
                </a:solidFill>
                <a:latin typeface="Times New Roman" panose="02020603050405020304" pitchFamily="18" charset="0"/>
                <a:cs typeface="Times New Roman" panose="02020603050405020304" pitchFamily="18" charset="0"/>
              </a:rPr>
              <a:t>Traditional forensics tools (metadata analysis, human inspection) are no longer effective against modern GAN-generated fakes. Deep learning-based automated detection is essential at scale.</a:t>
            </a:r>
            <a:endParaRPr lang="en-US" sz="115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256032"/>
          </a:xfrm>
          <a:prstGeom prst="rect">
            <a:avLst/>
          </a:prstGeom>
          <a:solidFill>
            <a:srgbClr val="1F3864"/>
          </a:solidFill>
          <a:ln w="12700">
            <a:solidFill>
              <a:srgbClr val="1F3864"/>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3" name="Text 1"/>
          <p:cNvSpPr/>
          <p:nvPr/>
        </p:nvSpPr>
        <p:spPr>
          <a:xfrm>
            <a:off x="274320" y="0"/>
            <a:ext cx="7132320" cy="256032"/>
          </a:xfrm>
          <a:prstGeom prst="rect">
            <a:avLst/>
          </a:prstGeom>
          <a:noFill/>
          <a:ln/>
        </p:spPr>
        <p:txBody>
          <a:bodyPr wrap="square" lIns="0" tIns="0" rIns="0" bIns="0" rtlCol="0" anchor="ctr"/>
          <a:lstStyle/>
          <a:p>
            <a:pPr marL="0" indent="0">
              <a:buNone/>
            </a:pPr>
            <a:r>
              <a:rPr lang="en-US" sz="850" dirty="0">
                <a:solidFill>
                  <a:srgbClr val="FFFFFF"/>
                </a:solidFill>
                <a:latin typeface="Times New Roman" panose="02020603050405020304" pitchFamily="18" charset="0"/>
                <a:cs typeface="Times New Roman" panose="02020603050405020304" pitchFamily="18" charset="0"/>
              </a:rPr>
              <a:t>Deepfake Image Detection System  |  TM471B — May 2026</a:t>
            </a:r>
            <a:endParaRPr lang="en-US" sz="850" dirty="0">
              <a:latin typeface="Times New Roman" panose="02020603050405020304" pitchFamily="18" charset="0"/>
              <a:cs typeface="Times New Roman" panose="02020603050405020304" pitchFamily="18" charset="0"/>
            </a:endParaRPr>
          </a:p>
        </p:txBody>
      </p:sp>
      <p:sp>
        <p:nvSpPr>
          <p:cNvPr id="4" name="Shape 2"/>
          <p:cNvSpPr/>
          <p:nvPr/>
        </p:nvSpPr>
        <p:spPr>
          <a:xfrm>
            <a:off x="8138160" y="27432"/>
            <a:ext cx="749808" cy="201168"/>
          </a:xfrm>
          <a:prstGeom prst="rect">
            <a:avLst/>
          </a:prstGeom>
          <a:solidFill>
            <a:srgbClr val="1A4F9E"/>
          </a:solidFill>
          <a:ln w="12700">
            <a:solidFill>
              <a:srgbClr val="FFFFFF"/>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5" name="Text 3"/>
          <p:cNvSpPr/>
          <p:nvPr/>
        </p:nvSpPr>
        <p:spPr>
          <a:xfrm>
            <a:off x="8138160" y="27432"/>
            <a:ext cx="749808"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Times New Roman" panose="02020603050405020304" pitchFamily="18" charset="0"/>
                <a:cs typeface="Times New Roman" panose="02020603050405020304" pitchFamily="18" charset="0"/>
              </a:rPr>
              <a:t>AOU</a:t>
            </a:r>
            <a:endParaRPr lang="en-US" sz="800" dirty="0">
              <a:latin typeface="Times New Roman" panose="02020603050405020304" pitchFamily="18" charset="0"/>
              <a:cs typeface="Times New Roman" panose="02020603050405020304" pitchFamily="18" charset="0"/>
            </a:endParaRPr>
          </a:p>
        </p:txBody>
      </p:sp>
      <p:sp>
        <p:nvSpPr>
          <p:cNvPr id="6" name="Text 4"/>
          <p:cNvSpPr/>
          <p:nvPr/>
        </p:nvSpPr>
        <p:spPr>
          <a:xfrm>
            <a:off x="8778240" y="4919472"/>
            <a:ext cx="320040" cy="182880"/>
          </a:xfrm>
          <a:prstGeom prst="rect">
            <a:avLst/>
          </a:prstGeom>
          <a:noFill/>
          <a:ln/>
        </p:spPr>
        <p:txBody>
          <a:bodyPr wrap="square" lIns="0" tIns="0" rIns="0" bIns="0" rtlCol="0" anchor="ctr"/>
          <a:lstStyle/>
          <a:p>
            <a:pPr marL="0" indent="0" algn="r">
              <a:buNone/>
            </a:pPr>
            <a:r>
              <a:rPr lang="en-US" sz="900" dirty="0">
                <a:solidFill>
                  <a:srgbClr val="475569"/>
                </a:solidFill>
                <a:latin typeface="Times New Roman" panose="02020603050405020304" pitchFamily="18" charset="0"/>
                <a:cs typeface="Times New Roman" panose="02020603050405020304" pitchFamily="18" charset="0"/>
              </a:rPr>
              <a:t>4</a:t>
            </a:r>
            <a:endParaRPr lang="en-US" sz="900" dirty="0">
              <a:latin typeface="Times New Roman" panose="02020603050405020304" pitchFamily="18" charset="0"/>
              <a:cs typeface="Times New Roman" panose="02020603050405020304" pitchFamily="18" charset="0"/>
            </a:endParaRPr>
          </a:p>
        </p:txBody>
      </p:sp>
      <p:sp>
        <p:nvSpPr>
          <p:cNvPr id="7" name="Text 5"/>
          <p:cNvSpPr/>
          <p:nvPr/>
        </p:nvSpPr>
        <p:spPr>
          <a:xfrm>
            <a:off x="411480" y="320040"/>
            <a:ext cx="8321040" cy="457200"/>
          </a:xfrm>
          <a:prstGeom prst="rect">
            <a:avLst/>
          </a:prstGeom>
          <a:noFill/>
          <a:ln/>
        </p:spPr>
        <p:txBody>
          <a:bodyPr wrap="square" lIns="0" tIns="0" rIns="0" bIns="0" rtlCol="0" anchor="ctr"/>
          <a:lstStyle/>
          <a:p>
            <a:pPr marL="0" indent="0">
              <a:buNone/>
            </a:pPr>
            <a:r>
              <a:rPr lang="en-US" sz="2300" b="1" dirty="0">
                <a:solidFill>
                  <a:srgbClr val="0056B3"/>
                </a:solidFill>
                <a:latin typeface="Times New Roman" panose="02020603050405020304" pitchFamily="18" charset="0"/>
                <a:cs typeface="Times New Roman" panose="02020603050405020304" pitchFamily="18" charset="0"/>
              </a:rPr>
              <a:t>Problem Statement</a:t>
            </a:r>
            <a:endParaRPr lang="en-US" sz="2300" dirty="0">
              <a:latin typeface="Times New Roman" panose="02020603050405020304" pitchFamily="18" charset="0"/>
              <a:cs typeface="Times New Roman" panose="02020603050405020304" pitchFamily="18" charset="0"/>
            </a:endParaRPr>
          </a:p>
        </p:txBody>
      </p:sp>
      <p:sp>
        <p:nvSpPr>
          <p:cNvPr id="8" name="Shape 6"/>
          <p:cNvSpPr/>
          <p:nvPr/>
        </p:nvSpPr>
        <p:spPr>
          <a:xfrm>
            <a:off x="411480" y="795528"/>
            <a:ext cx="8321040" cy="22860"/>
          </a:xfrm>
          <a:prstGeom prst="rect">
            <a:avLst/>
          </a:prstGeom>
          <a:solidFill>
            <a:srgbClr val="0056B3"/>
          </a:solidFill>
          <a:ln w="12700">
            <a:solidFill>
              <a:srgbClr val="0056B3"/>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9" name="Shape 7"/>
          <p:cNvSpPr/>
          <p:nvPr/>
        </p:nvSpPr>
        <p:spPr>
          <a:xfrm>
            <a:off x="411480" y="914400"/>
            <a:ext cx="2331720" cy="347472"/>
          </a:xfrm>
          <a:prstGeom prst="rect">
            <a:avLst/>
          </a:prstGeom>
          <a:solidFill>
            <a:srgbClr val="1F3864"/>
          </a:solidFill>
          <a:ln w="12700">
            <a:solidFill>
              <a:srgbClr val="1F3864"/>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10" name="Text 8"/>
          <p:cNvSpPr/>
          <p:nvPr/>
        </p:nvSpPr>
        <p:spPr>
          <a:xfrm>
            <a:off x="411480" y="914400"/>
            <a:ext cx="2331720"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Times New Roman" panose="02020603050405020304" pitchFamily="18" charset="0"/>
                <a:cs typeface="Times New Roman" panose="02020603050405020304" pitchFamily="18" charset="0"/>
              </a:rPr>
              <a:t>The Threat</a:t>
            </a:r>
            <a:endParaRPr lang="en-US" sz="1200" dirty="0">
              <a:latin typeface="Times New Roman" panose="02020603050405020304" pitchFamily="18" charset="0"/>
              <a:cs typeface="Times New Roman" panose="02020603050405020304" pitchFamily="18" charset="0"/>
            </a:endParaRPr>
          </a:p>
        </p:txBody>
      </p:sp>
      <p:sp>
        <p:nvSpPr>
          <p:cNvPr id="11" name="Shape 9"/>
          <p:cNvSpPr/>
          <p:nvPr/>
        </p:nvSpPr>
        <p:spPr>
          <a:xfrm>
            <a:off x="411480" y="1261872"/>
            <a:ext cx="2331720" cy="3520440"/>
          </a:xfrm>
          <a:prstGeom prst="rect">
            <a:avLst/>
          </a:prstGeom>
          <a:solidFill>
            <a:srgbClr val="EBF3FF"/>
          </a:solidFill>
          <a:ln w="12700">
            <a:solidFill>
              <a:srgbClr val="BFDBFE"/>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12" name="Text 10"/>
          <p:cNvSpPr/>
          <p:nvPr/>
        </p:nvSpPr>
        <p:spPr>
          <a:xfrm>
            <a:off x="548640" y="1335024"/>
            <a:ext cx="2194560" cy="640080"/>
          </a:xfrm>
          <a:prstGeom prst="rect">
            <a:avLst/>
          </a:prstGeom>
          <a:noFill/>
          <a:ln/>
        </p:spPr>
        <p:txBody>
          <a:bodyPr wrap="square" lIns="25400" tIns="25400" rIns="25400" bIns="25400" rtlCol="0" anchor="ctr"/>
          <a:lstStyle/>
          <a:p>
            <a:pPr marL="0" indent="0">
              <a:buNone/>
            </a:pPr>
            <a:r>
              <a:rPr lang="en-US" sz="1150" b="1" dirty="0">
                <a:solidFill>
                  <a:srgbClr val="0056B3"/>
                </a:solidFill>
                <a:latin typeface="Times New Roman" panose="02020603050405020304" pitchFamily="18" charset="0"/>
                <a:cs typeface="Times New Roman" panose="02020603050405020304" pitchFamily="18" charset="0"/>
              </a:rPr>
              <a:t>■  </a:t>
            </a:r>
            <a:r>
              <a:rPr lang="en-US" sz="1150" dirty="0">
                <a:solidFill>
                  <a:srgbClr val="1E293B"/>
                </a:solidFill>
                <a:latin typeface="Times New Roman" panose="02020603050405020304" pitchFamily="18" charset="0"/>
                <a:cs typeface="Times New Roman" panose="02020603050405020304" pitchFamily="18" charset="0"/>
              </a:rPr>
              <a:t>GANs produce hyper-realistic faces Which is undetectable by human eye</a:t>
            </a:r>
            <a:endParaRPr lang="en-US" sz="1150" dirty="0">
              <a:latin typeface="Times New Roman" panose="02020603050405020304" pitchFamily="18" charset="0"/>
              <a:cs typeface="Times New Roman" panose="02020603050405020304" pitchFamily="18" charset="0"/>
            </a:endParaRPr>
          </a:p>
        </p:txBody>
      </p:sp>
      <p:sp>
        <p:nvSpPr>
          <p:cNvPr id="14" name="Text 12"/>
          <p:cNvSpPr/>
          <p:nvPr/>
        </p:nvSpPr>
        <p:spPr>
          <a:xfrm>
            <a:off x="548640" y="2090057"/>
            <a:ext cx="2194560" cy="640080"/>
          </a:xfrm>
          <a:prstGeom prst="rect">
            <a:avLst/>
          </a:prstGeom>
          <a:noFill/>
          <a:ln/>
        </p:spPr>
        <p:txBody>
          <a:bodyPr wrap="square" lIns="25400" tIns="25400" rIns="25400" bIns="25400" rtlCol="0" anchor="ctr"/>
          <a:lstStyle/>
          <a:p>
            <a:pPr marL="0" indent="0">
              <a:buNone/>
            </a:pPr>
            <a:r>
              <a:rPr lang="en-US" sz="1150" b="1" dirty="0">
                <a:solidFill>
                  <a:srgbClr val="0056B3"/>
                </a:solidFill>
                <a:latin typeface="Times New Roman" panose="02020603050405020304" pitchFamily="18" charset="0"/>
                <a:cs typeface="Times New Roman" panose="02020603050405020304" pitchFamily="18" charset="0"/>
              </a:rPr>
              <a:t>■  </a:t>
            </a:r>
            <a:r>
              <a:rPr lang="en-US" sz="1150" dirty="0">
                <a:solidFill>
                  <a:srgbClr val="1E293B"/>
                </a:solidFill>
                <a:latin typeface="Times New Roman" panose="02020603050405020304" pitchFamily="18" charset="0"/>
                <a:cs typeface="Times New Roman" panose="02020603050405020304" pitchFamily="18" charset="0"/>
              </a:rPr>
              <a:t>Traditional tools (metadata, human inspection) fail against modern deepfakes</a:t>
            </a:r>
            <a:endParaRPr lang="en-US" sz="1150" dirty="0">
              <a:latin typeface="Times New Roman" panose="02020603050405020304" pitchFamily="18" charset="0"/>
              <a:cs typeface="Times New Roman" panose="02020603050405020304" pitchFamily="18" charset="0"/>
            </a:endParaRPr>
          </a:p>
        </p:txBody>
      </p:sp>
      <p:sp>
        <p:nvSpPr>
          <p:cNvPr id="15" name="Text 13"/>
          <p:cNvSpPr/>
          <p:nvPr/>
        </p:nvSpPr>
        <p:spPr>
          <a:xfrm>
            <a:off x="548640" y="2846397"/>
            <a:ext cx="2194560" cy="640080"/>
          </a:xfrm>
          <a:prstGeom prst="rect">
            <a:avLst/>
          </a:prstGeom>
          <a:noFill/>
          <a:ln/>
        </p:spPr>
        <p:txBody>
          <a:bodyPr wrap="square" lIns="25400" tIns="25400" rIns="25400" bIns="25400" rtlCol="0" anchor="ctr"/>
          <a:lstStyle/>
          <a:p>
            <a:pPr marL="0" indent="0">
              <a:buNone/>
            </a:pPr>
            <a:r>
              <a:rPr lang="en-US" sz="1150" b="1" dirty="0">
                <a:solidFill>
                  <a:srgbClr val="0056B3"/>
                </a:solidFill>
                <a:latin typeface="Times New Roman" panose="02020603050405020304" pitchFamily="18" charset="0"/>
                <a:cs typeface="Times New Roman" panose="02020603050405020304" pitchFamily="18" charset="0"/>
              </a:rPr>
              <a:t>■  </a:t>
            </a:r>
            <a:r>
              <a:rPr lang="en-US" sz="1150" dirty="0">
                <a:solidFill>
                  <a:srgbClr val="1E293B"/>
                </a:solidFill>
                <a:latin typeface="Times New Roman" panose="02020603050405020304" pitchFamily="18" charset="0"/>
                <a:cs typeface="Times New Roman" panose="02020603050405020304" pitchFamily="18" charset="0"/>
              </a:rPr>
              <a:t>Most commercial tools are closed-source, video-only, or lack explainability</a:t>
            </a:r>
            <a:endParaRPr lang="en-US" sz="1150" dirty="0">
              <a:latin typeface="Times New Roman" panose="02020603050405020304" pitchFamily="18" charset="0"/>
              <a:cs typeface="Times New Roman" panose="02020603050405020304" pitchFamily="18" charset="0"/>
            </a:endParaRPr>
          </a:p>
        </p:txBody>
      </p:sp>
      <p:sp>
        <p:nvSpPr>
          <p:cNvPr id="16" name="Shape 14"/>
          <p:cNvSpPr/>
          <p:nvPr/>
        </p:nvSpPr>
        <p:spPr>
          <a:xfrm>
            <a:off x="6400798" y="914400"/>
            <a:ext cx="2331722" cy="347472"/>
          </a:xfrm>
          <a:prstGeom prst="rect">
            <a:avLst/>
          </a:prstGeom>
          <a:solidFill>
            <a:srgbClr val="0056B3"/>
          </a:solidFill>
          <a:ln w="12700">
            <a:solidFill>
              <a:srgbClr val="0056B3"/>
            </a:solidFill>
            <a:prstDash val="solid"/>
          </a:ln>
        </p:spPr>
        <p:txBody>
          <a:bodyPr/>
          <a:lstStyle/>
          <a:p>
            <a:endParaRPr lang="en-US" dirty="0">
              <a:latin typeface="Times New Roman" panose="02020603050405020304" pitchFamily="18" charset="0"/>
              <a:cs typeface="Times New Roman" panose="02020603050405020304" pitchFamily="18" charset="0"/>
            </a:endParaRPr>
          </a:p>
        </p:txBody>
      </p:sp>
      <p:sp>
        <p:nvSpPr>
          <p:cNvPr id="17" name="Text 15"/>
          <p:cNvSpPr/>
          <p:nvPr/>
        </p:nvSpPr>
        <p:spPr>
          <a:xfrm>
            <a:off x="6400798" y="914400"/>
            <a:ext cx="233172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Times New Roman" panose="02020603050405020304" pitchFamily="18" charset="0"/>
                <a:cs typeface="Times New Roman" panose="02020603050405020304" pitchFamily="18" charset="0"/>
              </a:rPr>
              <a:t>The Gap — Why This Project</a:t>
            </a:r>
            <a:endParaRPr lang="en-US" sz="1200" dirty="0">
              <a:latin typeface="Times New Roman" panose="02020603050405020304" pitchFamily="18" charset="0"/>
              <a:cs typeface="Times New Roman" panose="02020603050405020304" pitchFamily="18" charset="0"/>
            </a:endParaRPr>
          </a:p>
        </p:txBody>
      </p:sp>
      <p:sp>
        <p:nvSpPr>
          <p:cNvPr id="18" name="Shape 16"/>
          <p:cNvSpPr/>
          <p:nvPr/>
        </p:nvSpPr>
        <p:spPr>
          <a:xfrm>
            <a:off x="6400798" y="1261872"/>
            <a:ext cx="2331721" cy="3520440"/>
          </a:xfrm>
          <a:prstGeom prst="rect">
            <a:avLst/>
          </a:prstGeom>
          <a:solidFill>
            <a:srgbClr val="EFF6FF"/>
          </a:solidFill>
          <a:ln w="12700">
            <a:solidFill>
              <a:srgbClr val="BFDBFE"/>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19" name="Text 17"/>
          <p:cNvSpPr/>
          <p:nvPr/>
        </p:nvSpPr>
        <p:spPr>
          <a:xfrm>
            <a:off x="6400798" y="1335024"/>
            <a:ext cx="2240281" cy="640080"/>
          </a:xfrm>
          <a:prstGeom prst="rect">
            <a:avLst/>
          </a:prstGeom>
          <a:noFill/>
          <a:ln/>
        </p:spPr>
        <p:txBody>
          <a:bodyPr wrap="square" lIns="25400" tIns="25400" rIns="25400" bIns="25400" rtlCol="0" anchor="ctr"/>
          <a:lstStyle/>
          <a:p>
            <a:pPr marL="0" indent="0">
              <a:buNone/>
            </a:pPr>
            <a:r>
              <a:rPr lang="en-US" sz="1150" b="1" dirty="0">
                <a:solidFill>
                  <a:srgbClr val="D97706"/>
                </a:solidFill>
                <a:latin typeface="Times New Roman" panose="02020603050405020304" pitchFamily="18" charset="0"/>
                <a:cs typeface="Times New Roman" panose="02020603050405020304" pitchFamily="18" charset="0"/>
              </a:rPr>
              <a:t>▶  </a:t>
            </a:r>
            <a:r>
              <a:rPr lang="en-US" sz="1150" dirty="0">
                <a:solidFill>
                  <a:srgbClr val="1E293B"/>
                </a:solidFill>
                <a:latin typeface="Times New Roman" panose="02020603050405020304" pitchFamily="18" charset="0"/>
                <a:cs typeface="Times New Roman" panose="02020603050405020304" pitchFamily="18" charset="0"/>
              </a:rPr>
              <a:t>No accessible, browser-based deepfake detector for still images</a:t>
            </a:r>
            <a:endParaRPr lang="en-US" sz="1150" dirty="0">
              <a:latin typeface="Times New Roman" panose="02020603050405020304" pitchFamily="18" charset="0"/>
              <a:cs typeface="Times New Roman" panose="02020603050405020304" pitchFamily="18" charset="0"/>
            </a:endParaRPr>
          </a:p>
        </p:txBody>
      </p:sp>
      <p:sp>
        <p:nvSpPr>
          <p:cNvPr id="20" name="Text 18"/>
          <p:cNvSpPr/>
          <p:nvPr/>
        </p:nvSpPr>
        <p:spPr>
          <a:xfrm>
            <a:off x="6400798" y="2084832"/>
            <a:ext cx="2240282" cy="640080"/>
          </a:xfrm>
          <a:prstGeom prst="rect">
            <a:avLst/>
          </a:prstGeom>
          <a:noFill/>
          <a:ln/>
        </p:spPr>
        <p:txBody>
          <a:bodyPr wrap="square" lIns="25400" tIns="25400" rIns="25400" bIns="25400" rtlCol="0" anchor="ctr"/>
          <a:lstStyle/>
          <a:p>
            <a:pPr marL="0" indent="0">
              <a:buNone/>
            </a:pPr>
            <a:r>
              <a:rPr lang="en-US" sz="1150" b="1" dirty="0">
                <a:solidFill>
                  <a:srgbClr val="D97706"/>
                </a:solidFill>
                <a:latin typeface="Times New Roman" panose="02020603050405020304" pitchFamily="18" charset="0"/>
                <a:cs typeface="Times New Roman" panose="02020603050405020304" pitchFamily="18" charset="0"/>
              </a:rPr>
              <a:t>▶  </a:t>
            </a:r>
            <a:r>
              <a:rPr lang="en-US" sz="1150" dirty="0">
                <a:solidFill>
                  <a:srgbClr val="1E293B"/>
                </a:solidFill>
                <a:latin typeface="Times New Roman" panose="02020603050405020304" pitchFamily="18" charset="0"/>
                <a:cs typeface="Times New Roman" panose="02020603050405020304" pitchFamily="18" charset="0"/>
              </a:rPr>
              <a:t>Existing tools require subscriptions, installation, or technical expertise</a:t>
            </a:r>
            <a:endParaRPr lang="en-US" sz="1150" dirty="0">
              <a:latin typeface="Times New Roman" panose="02020603050405020304" pitchFamily="18" charset="0"/>
              <a:cs typeface="Times New Roman" panose="02020603050405020304" pitchFamily="18" charset="0"/>
            </a:endParaRPr>
          </a:p>
        </p:txBody>
      </p:sp>
      <p:sp>
        <p:nvSpPr>
          <p:cNvPr id="21" name="Text 19"/>
          <p:cNvSpPr/>
          <p:nvPr/>
        </p:nvSpPr>
        <p:spPr>
          <a:xfrm>
            <a:off x="6400798" y="2834640"/>
            <a:ext cx="2240282" cy="640080"/>
          </a:xfrm>
          <a:prstGeom prst="rect">
            <a:avLst/>
          </a:prstGeom>
          <a:noFill/>
          <a:ln/>
        </p:spPr>
        <p:txBody>
          <a:bodyPr wrap="square" lIns="25400" tIns="25400" rIns="25400" bIns="25400" rtlCol="0" anchor="ctr"/>
          <a:lstStyle/>
          <a:p>
            <a:pPr marL="0" indent="0">
              <a:buNone/>
            </a:pPr>
            <a:r>
              <a:rPr lang="en-US" sz="1150" b="1" dirty="0">
                <a:solidFill>
                  <a:srgbClr val="D97706"/>
                </a:solidFill>
                <a:latin typeface="Times New Roman" panose="02020603050405020304" pitchFamily="18" charset="0"/>
                <a:cs typeface="Times New Roman" panose="02020603050405020304" pitchFamily="18" charset="0"/>
              </a:rPr>
              <a:t>▶  </a:t>
            </a:r>
            <a:r>
              <a:rPr lang="en-US" sz="1150" dirty="0">
                <a:solidFill>
                  <a:srgbClr val="1E293B"/>
                </a:solidFill>
                <a:latin typeface="Times New Roman" panose="02020603050405020304" pitchFamily="18" charset="0"/>
                <a:cs typeface="Times New Roman" panose="02020603050405020304" pitchFamily="18" charset="0"/>
              </a:rPr>
              <a:t>No open-source solution with Grad-CAM explainability and zero data storage</a:t>
            </a:r>
            <a:endParaRPr lang="en-US" sz="1150" dirty="0">
              <a:latin typeface="Times New Roman" panose="02020603050405020304" pitchFamily="18" charset="0"/>
              <a:cs typeface="Times New Roman" panose="02020603050405020304" pitchFamily="18" charset="0"/>
            </a:endParaRPr>
          </a:p>
        </p:txBody>
      </p:sp>
      <p:sp>
        <p:nvSpPr>
          <p:cNvPr id="22" name="Text 20"/>
          <p:cNvSpPr/>
          <p:nvPr/>
        </p:nvSpPr>
        <p:spPr>
          <a:xfrm>
            <a:off x="6400796" y="3584448"/>
            <a:ext cx="2240284" cy="640080"/>
          </a:xfrm>
          <a:prstGeom prst="rect">
            <a:avLst/>
          </a:prstGeom>
          <a:noFill/>
          <a:ln/>
        </p:spPr>
        <p:txBody>
          <a:bodyPr wrap="square" lIns="25400" tIns="25400" rIns="25400" bIns="25400" rtlCol="0" anchor="ctr"/>
          <a:lstStyle/>
          <a:p>
            <a:pPr marL="0" indent="0">
              <a:buNone/>
            </a:pPr>
            <a:r>
              <a:rPr lang="en-US" sz="1150" b="1" dirty="0">
                <a:solidFill>
                  <a:srgbClr val="D97706"/>
                </a:solidFill>
                <a:latin typeface="Times New Roman" panose="02020603050405020304" pitchFamily="18" charset="0"/>
                <a:cs typeface="Times New Roman" panose="02020603050405020304" pitchFamily="18" charset="0"/>
              </a:rPr>
              <a:t>▶  </a:t>
            </a:r>
            <a:r>
              <a:rPr lang="en-US" sz="1150" dirty="0">
                <a:solidFill>
                  <a:srgbClr val="1E293B"/>
                </a:solidFill>
                <a:latin typeface="Times New Roman" panose="02020603050405020304" pitchFamily="18" charset="0"/>
                <a:cs typeface="Times New Roman" panose="02020603050405020304" pitchFamily="18" charset="0"/>
              </a:rPr>
              <a:t>Non-technical users (journalists, forensic analysts) are underserved</a:t>
            </a:r>
            <a:endParaRPr lang="en-US" sz="1150" dirty="0">
              <a:latin typeface="Times New Roman" panose="02020603050405020304" pitchFamily="18" charset="0"/>
              <a:cs typeface="Times New Roman" panose="02020603050405020304" pitchFamily="18" charset="0"/>
            </a:endParaRPr>
          </a:p>
        </p:txBody>
      </p:sp>
      <p:sp>
        <p:nvSpPr>
          <p:cNvPr id="62" name="Shape 7">
            <a:extLst>
              <a:ext uri="{FF2B5EF4-FFF2-40B4-BE49-F238E27FC236}">
                <a16:creationId xmlns:a16="http://schemas.microsoft.com/office/drawing/2014/main" id="{7B08D6A1-7C7C-8DEC-5864-C03589F6F1C0}"/>
              </a:ext>
            </a:extLst>
          </p:cNvPr>
          <p:cNvSpPr/>
          <p:nvPr/>
        </p:nvSpPr>
        <p:spPr>
          <a:xfrm>
            <a:off x="3406140" y="893064"/>
            <a:ext cx="2331720" cy="347472"/>
          </a:xfrm>
          <a:prstGeom prst="rect">
            <a:avLst/>
          </a:prstGeom>
          <a:solidFill>
            <a:srgbClr val="C00000"/>
          </a:solidFill>
          <a:ln w="12700">
            <a:solidFill>
              <a:srgbClr val="1F3864"/>
            </a:solidFill>
            <a:prstDash val="solid"/>
          </a:ln>
        </p:spPr>
        <p:txBody>
          <a:bodyPr/>
          <a:lstStyle/>
          <a:p>
            <a:pPr algn="ctr"/>
            <a:r>
              <a:rPr lang="en-US" sz="1200" b="1" dirty="0">
                <a:solidFill>
                  <a:schemeClr val="bg1"/>
                </a:solidFill>
                <a:latin typeface="Times New Roman" panose="02020603050405020304" pitchFamily="18" charset="0"/>
                <a:cs typeface="Times New Roman" panose="02020603050405020304" pitchFamily="18" charset="0"/>
              </a:rPr>
              <a:t>Real-World Threats</a:t>
            </a:r>
          </a:p>
        </p:txBody>
      </p:sp>
      <p:sp>
        <p:nvSpPr>
          <p:cNvPr id="63" name="Text 8">
            <a:extLst>
              <a:ext uri="{FF2B5EF4-FFF2-40B4-BE49-F238E27FC236}">
                <a16:creationId xmlns:a16="http://schemas.microsoft.com/office/drawing/2014/main" id="{BC8F8052-688B-E9C6-8FEC-0036E069C91E}"/>
              </a:ext>
            </a:extLst>
          </p:cNvPr>
          <p:cNvSpPr/>
          <p:nvPr/>
        </p:nvSpPr>
        <p:spPr>
          <a:xfrm>
            <a:off x="3406140" y="893064"/>
            <a:ext cx="2331720" cy="347472"/>
          </a:xfrm>
          <a:prstGeom prst="rect">
            <a:avLst/>
          </a:prstGeom>
          <a:noFill/>
          <a:ln/>
        </p:spPr>
        <p:txBody>
          <a:bodyPr wrap="square" lIns="0" tIns="0" rIns="0" bIns="0" rtlCol="0" anchor="ctr"/>
          <a:lstStyle/>
          <a:p>
            <a:endParaRPr lang="en-US" sz="1200" dirty="0">
              <a:latin typeface="Times New Roman" panose="02020603050405020304" pitchFamily="18" charset="0"/>
              <a:cs typeface="Times New Roman" panose="02020603050405020304" pitchFamily="18" charset="0"/>
            </a:endParaRPr>
          </a:p>
        </p:txBody>
      </p:sp>
      <p:sp>
        <p:nvSpPr>
          <p:cNvPr id="64" name="Shape 9">
            <a:extLst>
              <a:ext uri="{FF2B5EF4-FFF2-40B4-BE49-F238E27FC236}">
                <a16:creationId xmlns:a16="http://schemas.microsoft.com/office/drawing/2014/main" id="{DF2FFA96-EDA5-B64A-30C4-4904548DC836}"/>
              </a:ext>
            </a:extLst>
          </p:cNvPr>
          <p:cNvSpPr/>
          <p:nvPr/>
        </p:nvSpPr>
        <p:spPr>
          <a:xfrm>
            <a:off x="3406140" y="1240536"/>
            <a:ext cx="2331720" cy="3520440"/>
          </a:xfrm>
          <a:prstGeom prst="rect">
            <a:avLst/>
          </a:prstGeom>
          <a:solidFill>
            <a:srgbClr val="EBF3FF"/>
          </a:solidFill>
          <a:ln w="12700">
            <a:solidFill>
              <a:srgbClr val="BFDBFE"/>
            </a:solidFill>
            <a:prstDash val="solid"/>
          </a:ln>
        </p:spPr>
        <p:txBody>
          <a:bodyPr/>
          <a:lstStyle/>
          <a:p>
            <a:endParaRPr lang="en-US" dirty="0">
              <a:latin typeface="Times New Roman" panose="02020603050405020304" pitchFamily="18" charset="0"/>
              <a:cs typeface="Times New Roman" panose="02020603050405020304" pitchFamily="18" charset="0"/>
            </a:endParaRPr>
          </a:p>
        </p:txBody>
      </p:sp>
      <p:sp>
        <p:nvSpPr>
          <p:cNvPr id="65" name="Text 10">
            <a:extLst>
              <a:ext uri="{FF2B5EF4-FFF2-40B4-BE49-F238E27FC236}">
                <a16:creationId xmlns:a16="http://schemas.microsoft.com/office/drawing/2014/main" id="{1205C674-DC45-B42E-22F4-051BE5DAD043}"/>
              </a:ext>
            </a:extLst>
          </p:cNvPr>
          <p:cNvSpPr/>
          <p:nvPr/>
        </p:nvSpPr>
        <p:spPr>
          <a:xfrm>
            <a:off x="3543300" y="1313688"/>
            <a:ext cx="2194560" cy="640080"/>
          </a:xfrm>
          <a:prstGeom prst="rect">
            <a:avLst/>
          </a:prstGeom>
          <a:noFill/>
          <a:ln/>
        </p:spPr>
        <p:txBody>
          <a:bodyPr wrap="square" lIns="25400" tIns="25400" rIns="25400" bIns="25400" rtlCol="0" anchor="ctr"/>
          <a:lstStyle/>
          <a:p>
            <a:pPr marL="0" indent="0">
              <a:buNone/>
            </a:pPr>
            <a:endParaRPr lang="en-US" sz="1150" dirty="0">
              <a:latin typeface="Times New Roman" panose="02020603050405020304" pitchFamily="18" charset="0"/>
              <a:cs typeface="Times New Roman" panose="02020603050405020304" pitchFamily="18" charset="0"/>
            </a:endParaRPr>
          </a:p>
        </p:txBody>
      </p:sp>
      <p:sp>
        <p:nvSpPr>
          <p:cNvPr id="66" name="Text 11">
            <a:extLst>
              <a:ext uri="{FF2B5EF4-FFF2-40B4-BE49-F238E27FC236}">
                <a16:creationId xmlns:a16="http://schemas.microsoft.com/office/drawing/2014/main" id="{0A002F0C-21EC-9CB8-5FBA-C47C80BED8B5}"/>
              </a:ext>
            </a:extLst>
          </p:cNvPr>
          <p:cNvSpPr/>
          <p:nvPr/>
        </p:nvSpPr>
        <p:spPr>
          <a:xfrm>
            <a:off x="3543300" y="2063496"/>
            <a:ext cx="2194560" cy="640080"/>
          </a:xfrm>
          <a:prstGeom prst="rect">
            <a:avLst/>
          </a:prstGeom>
          <a:noFill/>
          <a:ln/>
        </p:spPr>
        <p:txBody>
          <a:bodyPr wrap="square" lIns="25400" tIns="25400" rIns="25400" bIns="25400" rtlCol="0" anchor="ctr"/>
          <a:lstStyle/>
          <a:p>
            <a:pPr marL="0" indent="0">
              <a:buNone/>
            </a:pPr>
            <a:endParaRPr lang="en-US" sz="1150" dirty="0">
              <a:latin typeface="Times New Roman" panose="02020603050405020304" pitchFamily="18" charset="0"/>
              <a:cs typeface="Times New Roman" panose="02020603050405020304" pitchFamily="18" charset="0"/>
            </a:endParaRPr>
          </a:p>
        </p:txBody>
      </p:sp>
      <p:sp>
        <p:nvSpPr>
          <p:cNvPr id="67" name="Text 12">
            <a:extLst>
              <a:ext uri="{FF2B5EF4-FFF2-40B4-BE49-F238E27FC236}">
                <a16:creationId xmlns:a16="http://schemas.microsoft.com/office/drawing/2014/main" id="{D7EAB8BC-0F04-05B5-9267-26595A537C2F}"/>
              </a:ext>
            </a:extLst>
          </p:cNvPr>
          <p:cNvSpPr/>
          <p:nvPr/>
        </p:nvSpPr>
        <p:spPr>
          <a:xfrm>
            <a:off x="3543300" y="2605806"/>
            <a:ext cx="2194560" cy="640080"/>
          </a:xfrm>
          <a:prstGeom prst="rect">
            <a:avLst/>
          </a:prstGeom>
          <a:noFill/>
          <a:ln/>
        </p:spPr>
        <p:txBody>
          <a:bodyPr wrap="square" lIns="25400" tIns="25400" rIns="25400" bIns="25400" rtlCol="0" anchor="ctr"/>
          <a:lstStyle/>
          <a:p>
            <a:pPr marL="0" indent="0">
              <a:buNone/>
            </a:pPr>
            <a:endParaRPr lang="en-US" sz="1150" dirty="0">
              <a:latin typeface="Times New Roman" panose="02020603050405020304" pitchFamily="18" charset="0"/>
              <a:cs typeface="Times New Roman" panose="02020603050405020304" pitchFamily="18" charset="0"/>
            </a:endParaRPr>
          </a:p>
        </p:txBody>
      </p:sp>
      <p:sp>
        <p:nvSpPr>
          <p:cNvPr id="76" name="Shape 13">
            <a:extLst>
              <a:ext uri="{FF2B5EF4-FFF2-40B4-BE49-F238E27FC236}">
                <a16:creationId xmlns:a16="http://schemas.microsoft.com/office/drawing/2014/main" id="{2A20DD44-9C54-0257-0C3E-EA959B4C7876}"/>
              </a:ext>
            </a:extLst>
          </p:cNvPr>
          <p:cNvSpPr/>
          <p:nvPr/>
        </p:nvSpPr>
        <p:spPr>
          <a:xfrm>
            <a:off x="3528169" y="1620598"/>
            <a:ext cx="347472" cy="347472"/>
          </a:xfrm>
          <a:prstGeom prst="ellipse">
            <a:avLst/>
          </a:prstGeom>
          <a:solidFill>
            <a:srgbClr val="FDECEA"/>
          </a:solidFill>
          <a:ln w="10160">
            <a:solidFill>
              <a:srgbClr val="B91C1C"/>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77" name="Text 14">
            <a:extLst>
              <a:ext uri="{FF2B5EF4-FFF2-40B4-BE49-F238E27FC236}">
                <a16:creationId xmlns:a16="http://schemas.microsoft.com/office/drawing/2014/main" id="{89AB886D-7167-752E-DB66-1BB40F8439A7}"/>
              </a:ext>
            </a:extLst>
          </p:cNvPr>
          <p:cNvSpPr/>
          <p:nvPr/>
        </p:nvSpPr>
        <p:spPr>
          <a:xfrm>
            <a:off x="3528165" y="1620598"/>
            <a:ext cx="347472" cy="34747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400" dirty="0">
                <a:solidFill>
                  <a:srgbClr val="000000"/>
                </a:solidFill>
                <a:latin typeface="Times New Roman" panose="02020603050405020304" pitchFamily="18" charset="0"/>
                <a:ea typeface="Calibri" pitchFamily="34" charset="-122"/>
                <a:cs typeface="Times New Roman" panose="02020603050405020304" pitchFamily="18" charset="0"/>
              </a:rPr>
              <a:t>👤</a:t>
            </a:r>
            <a:endParaRPr lang="en-US" sz="1400" dirty="0">
              <a:latin typeface="Times New Roman" panose="02020603050405020304" pitchFamily="18" charset="0"/>
              <a:cs typeface="Times New Roman" panose="02020603050405020304" pitchFamily="18" charset="0"/>
            </a:endParaRPr>
          </a:p>
        </p:txBody>
      </p:sp>
      <p:sp>
        <p:nvSpPr>
          <p:cNvPr id="78" name="Text 15">
            <a:extLst>
              <a:ext uri="{FF2B5EF4-FFF2-40B4-BE49-F238E27FC236}">
                <a16:creationId xmlns:a16="http://schemas.microsoft.com/office/drawing/2014/main" id="{51733197-BD41-1D9D-BE15-4590FD8C2055}"/>
              </a:ext>
            </a:extLst>
          </p:cNvPr>
          <p:cNvSpPr/>
          <p:nvPr/>
        </p:nvSpPr>
        <p:spPr>
          <a:xfrm>
            <a:off x="4012801" y="1638886"/>
            <a:ext cx="1760220" cy="310896"/>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00" b="1" dirty="0">
                <a:solidFill>
                  <a:srgbClr val="002D62"/>
                </a:solidFill>
                <a:latin typeface="Times New Roman" panose="02020603050405020304" pitchFamily="18" charset="0"/>
                <a:ea typeface="Calibri" pitchFamily="34" charset="-122"/>
                <a:cs typeface="Times New Roman" panose="02020603050405020304" pitchFamily="18" charset="0"/>
              </a:rPr>
              <a:t>Identity Fraud</a:t>
            </a:r>
            <a:endParaRPr lang="en-US" sz="1300" dirty="0">
              <a:latin typeface="Times New Roman" panose="02020603050405020304" pitchFamily="18" charset="0"/>
              <a:cs typeface="Times New Roman" panose="02020603050405020304" pitchFamily="18" charset="0"/>
            </a:endParaRPr>
          </a:p>
        </p:txBody>
      </p:sp>
      <p:sp>
        <p:nvSpPr>
          <p:cNvPr id="82" name="Shape 17">
            <a:extLst>
              <a:ext uri="{FF2B5EF4-FFF2-40B4-BE49-F238E27FC236}">
                <a16:creationId xmlns:a16="http://schemas.microsoft.com/office/drawing/2014/main" id="{2AACD17D-2180-3312-F28C-98A33B53020F}"/>
              </a:ext>
            </a:extLst>
          </p:cNvPr>
          <p:cNvSpPr/>
          <p:nvPr/>
        </p:nvSpPr>
        <p:spPr>
          <a:xfrm>
            <a:off x="3528169" y="2219178"/>
            <a:ext cx="347472" cy="347472"/>
          </a:xfrm>
          <a:prstGeom prst="ellipse">
            <a:avLst/>
          </a:prstGeom>
          <a:solidFill>
            <a:srgbClr val="FDECEA"/>
          </a:solidFill>
          <a:ln w="10160">
            <a:solidFill>
              <a:srgbClr val="B91C1C"/>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83" name="Text 18">
            <a:extLst>
              <a:ext uri="{FF2B5EF4-FFF2-40B4-BE49-F238E27FC236}">
                <a16:creationId xmlns:a16="http://schemas.microsoft.com/office/drawing/2014/main" id="{091FF63F-157C-65E0-9558-009F6D5A05ED}"/>
              </a:ext>
            </a:extLst>
          </p:cNvPr>
          <p:cNvSpPr/>
          <p:nvPr/>
        </p:nvSpPr>
        <p:spPr>
          <a:xfrm>
            <a:off x="3528169" y="2195732"/>
            <a:ext cx="347472" cy="34747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400" dirty="0">
                <a:solidFill>
                  <a:srgbClr val="000000"/>
                </a:solidFill>
                <a:latin typeface="Times New Roman" panose="02020603050405020304" pitchFamily="18" charset="0"/>
                <a:ea typeface="Calibri" pitchFamily="34" charset="-122"/>
                <a:cs typeface="Times New Roman" panose="02020603050405020304" pitchFamily="18" charset="0"/>
              </a:rPr>
              <a:t>📰</a:t>
            </a:r>
            <a:endParaRPr lang="en-US" sz="1400" dirty="0">
              <a:latin typeface="Times New Roman" panose="02020603050405020304" pitchFamily="18" charset="0"/>
              <a:cs typeface="Times New Roman" panose="02020603050405020304" pitchFamily="18" charset="0"/>
            </a:endParaRPr>
          </a:p>
        </p:txBody>
      </p:sp>
      <p:sp>
        <p:nvSpPr>
          <p:cNvPr id="84" name="Text 19">
            <a:extLst>
              <a:ext uri="{FF2B5EF4-FFF2-40B4-BE49-F238E27FC236}">
                <a16:creationId xmlns:a16="http://schemas.microsoft.com/office/drawing/2014/main" id="{22D1AFA8-8B84-21E7-1BBA-916EC8F51F8C}"/>
              </a:ext>
            </a:extLst>
          </p:cNvPr>
          <p:cNvSpPr/>
          <p:nvPr/>
        </p:nvSpPr>
        <p:spPr>
          <a:xfrm>
            <a:off x="4012801" y="2209389"/>
            <a:ext cx="1760216" cy="310896"/>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00" b="1" dirty="0">
                <a:solidFill>
                  <a:srgbClr val="002D62"/>
                </a:solidFill>
                <a:latin typeface="Times New Roman" panose="02020603050405020304" pitchFamily="18" charset="0"/>
                <a:ea typeface="Calibri" pitchFamily="34" charset="-122"/>
                <a:cs typeface="Times New Roman" panose="02020603050405020304" pitchFamily="18" charset="0"/>
              </a:rPr>
              <a:t>Disinformation</a:t>
            </a:r>
            <a:endParaRPr lang="en-US" sz="1300" dirty="0">
              <a:latin typeface="Times New Roman" panose="02020603050405020304" pitchFamily="18" charset="0"/>
              <a:cs typeface="Times New Roman" panose="02020603050405020304" pitchFamily="18" charset="0"/>
            </a:endParaRPr>
          </a:p>
        </p:txBody>
      </p:sp>
      <p:sp>
        <p:nvSpPr>
          <p:cNvPr id="86" name="Shape 21">
            <a:extLst>
              <a:ext uri="{FF2B5EF4-FFF2-40B4-BE49-F238E27FC236}">
                <a16:creationId xmlns:a16="http://schemas.microsoft.com/office/drawing/2014/main" id="{8B64A0EA-1DCD-7D82-1907-BA10B6CB7B18}"/>
              </a:ext>
            </a:extLst>
          </p:cNvPr>
          <p:cNvSpPr/>
          <p:nvPr/>
        </p:nvSpPr>
        <p:spPr>
          <a:xfrm>
            <a:off x="3528169" y="2782385"/>
            <a:ext cx="347472" cy="347472"/>
          </a:xfrm>
          <a:prstGeom prst="ellipse">
            <a:avLst/>
          </a:prstGeom>
          <a:solidFill>
            <a:srgbClr val="FDECEA"/>
          </a:solidFill>
          <a:ln w="10160">
            <a:solidFill>
              <a:srgbClr val="B91C1C"/>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87" name="Text 22">
            <a:extLst>
              <a:ext uri="{FF2B5EF4-FFF2-40B4-BE49-F238E27FC236}">
                <a16:creationId xmlns:a16="http://schemas.microsoft.com/office/drawing/2014/main" id="{DBD789A8-0904-E9A2-1EAE-A6710D799F8B}"/>
              </a:ext>
            </a:extLst>
          </p:cNvPr>
          <p:cNvSpPr/>
          <p:nvPr/>
        </p:nvSpPr>
        <p:spPr>
          <a:xfrm>
            <a:off x="3528169" y="2782385"/>
            <a:ext cx="347472" cy="34747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400" dirty="0">
                <a:solidFill>
                  <a:srgbClr val="000000"/>
                </a:solidFill>
                <a:latin typeface="Times New Roman" panose="02020603050405020304" pitchFamily="18" charset="0"/>
                <a:ea typeface="Calibri" pitchFamily="34" charset="-122"/>
                <a:cs typeface="Times New Roman" panose="02020603050405020304" pitchFamily="18" charset="0"/>
              </a:rPr>
              <a:t>⚖</a:t>
            </a:r>
            <a:endParaRPr lang="en-US" sz="1400" dirty="0">
              <a:latin typeface="Times New Roman" panose="02020603050405020304" pitchFamily="18" charset="0"/>
              <a:cs typeface="Times New Roman" panose="02020603050405020304" pitchFamily="18" charset="0"/>
            </a:endParaRPr>
          </a:p>
        </p:txBody>
      </p:sp>
      <p:sp>
        <p:nvSpPr>
          <p:cNvPr id="88" name="Text 23">
            <a:extLst>
              <a:ext uri="{FF2B5EF4-FFF2-40B4-BE49-F238E27FC236}">
                <a16:creationId xmlns:a16="http://schemas.microsoft.com/office/drawing/2014/main" id="{534FEC82-33CB-F117-F1C2-5AE41A62F7FD}"/>
              </a:ext>
            </a:extLst>
          </p:cNvPr>
          <p:cNvSpPr/>
          <p:nvPr/>
        </p:nvSpPr>
        <p:spPr>
          <a:xfrm>
            <a:off x="4012801" y="2816352"/>
            <a:ext cx="1760220" cy="310896"/>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00" b="1" dirty="0">
                <a:solidFill>
                  <a:srgbClr val="002D62"/>
                </a:solidFill>
                <a:latin typeface="Times New Roman" panose="02020603050405020304" pitchFamily="18" charset="0"/>
                <a:ea typeface="Calibri" pitchFamily="34" charset="-122"/>
                <a:cs typeface="Times New Roman" panose="02020603050405020304" pitchFamily="18" charset="0"/>
              </a:rPr>
              <a:t>Evidence Manipulation</a:t>
            </a:r>
            <a:endParaRPr lang="en-US" sz="1300" dirty="0">
              <a:latin typeface="Times New Roman" panose="02020603050405020304" pitchFamily="18" charset="0"/>
              <a:cs typeface="Times New Roman" panose="02020603050405020304" pitchFamily="18" charset="0"/>
            </a:endParaRPr>
          </a:p>
        </p:txBody>
      </p:sp>
      <p:sp>
        <p:nvSpPr>
          <p:cNvPr id="90" name="Shape 25">
            <a:extLst>
              <a:ext uri="{FF2B5EF4-FFF2-40B4-BE49-F238E27FC236}">
                <a16:creationId xmlns:a16="http://schemas.microsoft.com/office/drawing/2014/main" id="{1E3A8E99-E413-1DA0-0B5B-19A4540A58FB}"/>
              </a:ext>
            </a:extLst>
          </p:cNvPr>
          <p:cNvSpPr/>
          <p:nvPr/>
        </p:nvSpPr>
        <p:spPr>
          <a:xfrm>
            <a:off x="3535203" y="3419769"/>
            <a:ext cx="347472" cy="347472"/>
          </a:xfrm>
          <a:prstGeom prst="ellipse">
            <a:avLst/>
          </a:prstGeom>
          <a:solidFill>
            <a:srgbClr val="FDECEA"/>
          </a:solidFill>
          <a:ln w="10160">
            <a:solidFill>
              <a:srgbClr val="B91C1C"/>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91" name="Text 26">
            <a:extLst>
              <a:ext uri="{FF2B5EF4-FFF2-40B4-BE49-F238E27FC236}">
                <a16:creationId xmlns:a16="http://schemas.microsoft.com/office/drawing/2014/main" id="{7CC22352-C8A1-A025-8C46-E2C5DEB66A1D}"/>
              </a:ext>
            </a:extLst>
          </p:cNvPr>
          <p:cNvSpPr/>
          <p:nvPr/>
        </p:nvSpPr>
        <p:spPr>
          <a:xfrm>
            <a:off x="3535203" y="3419769"/>
            <a:ext cx="347472" cy="34747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400" dirty="0">
                <a:solidFill>
                  <a:srgbClr val="000000"/>
                </a:solidFill>
                <a:latin typeface="Times New Roman" panose="02020603050405020304" pitchFamily="18" charset="0"/>
                <a:ea typeface="Calibri" pitchFamily="34" charset="-122"/>
                <a:cs typeface="Times New Roman" panose="02020603050405020304" pitchFamily="18" charset="0"/>
              </a:rPr>
              <a:t>🔐</a:t>
            </a:r>
            <a:endParaRPr lang="en-US" sz="1400" dirty="0">
              <a:latin typeface="Times New Roman" panose="02020603050405020304" pitchFamily="18" charset="0"/>
              <a:cs typeface="Times New Roman" panose="02020603050405020304" pitchFamily="18" charset="0"/>
            </a:endParaRPr>
          </a:p>
        </p:txBody>
      </p:sp>
      <p:sp>
        <p:nvSpPr>
          <p:cNvPr id="92" name="Text 27">
            <a:extLst>
              <a:ext uri="{FF2B5EF4-FFF2-40B4-BE49-F238E27FC236}">
                <a16:creationId xmlns:a16="http://schemas.microsoft.com/office/drawing/2014/main" id="{0B25345C-1FFF-842A-2BE9-116DB592F6B0}"/>
              </a:ext>
            </a:extLst>
          </p:cNvPr>
          <p:cNvSpPr/>
          <p:nvPr/>
        </p:nvSpPr>
        <p:spPr>
          <a:xfrm>
            <a:off x="4019839" y="3438057"/>
            <a:ext cx="1760216" cy="310896"/>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00" b="1" dirty="0">
                <a:solidFill>
                  <a:srgbClr val="002D62"/>
                </a:solidFill>
                <a:latin typeface="Times New Roman" panose="02020603050405020304" pitchFamily="18" charset="0"/>
                <a:ea typeface="Calibri" pitchFamily="34" charset="-122"/>
                <a:cs typeface="Times New Roman" panose="02020603050405020304" pitchFamily="18" charset="0"/>
              </a:rPr>
              <a:t>Social Engineering</a:t>
            </a:r>
            <a:endParaRPr lang="en-US" sz="13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256032"/>
          </a:xfrm>
          <a:prstGeom prst="rect">
            <a:avLst/>
          </a:prstGeom>
          <a:solidFill>
            <a:srgbClr val="1F3864"/>
          </a:solidFill>
          <a:ln w="12700">
            <a:solidFill>
              <a:srgbClr val="1F3864"/>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3" name="Text 1"/>
          <p:cNvSpPr/>
          <p:nvPr/>
        </p:nvSpPr>
        <p:spPr>
          <a:xfrm>
            <a:off x="274320" y="0"/>
            <a:ext cx="7132320" cy="256032"/>
          </a:xfrm>
          <a:prstGeom prst="rect">
            <a:avLst/>
          </a:prstGeom>
          <a:noFill/>
          <a:ln/>
        </p:spPr>
        <p:txBody>
          <a:bodyPr wrap="square" lIns="0" tIns="0" rIns="0" bIns="0" rtlCol="0" anchor="ctr"/>
          <a:lstStyle/>
          <a:p>
            <a:pPr marL="0" indent="0">
              <a:buNone/>
            </a:pPr>
            <a:r>
              <a:rPr lang="en-US" sz="850" dirty="0">
                <a:solidFill>
                  <a:srgbClr val="FFFFFF"/>
                </a:solidFill>
                <a:latin typeface="Times New Roman" panose="02020603050405020304" pitchFamily="18" charset="0"/>
                <a:cs typeface="Times New Roman" panose="02020603050405020304" pitchFamily="18" charset="0"/>
              </a:rPr>
              <a:t>Deepfake Image Detection System  |  TM471B — May 2026</a:t>
            </a:r>
            <a:endParaRPr lang="en-US" sz="850" dirty="0">
              <a:latin typeface="Times New Roman" panose="02020603050405020304" pitchFamily="18" charset="0"/>
              <a:cs typeface="Times New Roman" panose="02020603050405020304" pitchFamily="18" charset="0"/>
            </a:endParaRPr>
          </a:p>
        </p:txBody>
      </p:sp>
      <p:sp>
        <p:nvSpPr>
          <p:cNvPr id="4" name="Shape 2"/>
          <p:cNvSpPr/>
          <p:nvPr/>
        </p:nvSpPr>
        <p:spPr>
          <a:xfrm>
            <a:off x="8138160" y="27432"/>
            <a:ext cx="749808" cy="201168"/>
          </a:xfrm>
          <a:prstGeom prst="rect">
            <a:avLst/>
          </a:prstGeom>
          <a:solidFill>
            <a:srgbClr val="1A4F9E"/>
          </a:solidFill>
          <a:ln w="12700">
            <a:solidFill>
              <a:srgbClr val="FFFFFF"/>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5" name="Text 3"/>
          <p:cNvSpPr/>
          <p:nvPr/>
        </p:nvSpPr>
        <p:spPr>
          <a:xfrm>
            <a:off x="8138160" y="27432"/>
            <a:ext cx="749808"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Times New Roman" panose="02020603050405020304" pitchFamily="18" charset="0"/>
                <a:cs typeface="Times New Roman" panose="02020603050405020304" pitchFamily="18" charset="0"/>
              </a:rPr>
              <a:t>AOU</a:t>
            </a:r>
            <a:endParaRPr lang="en-US" sz="800" dirty="0">
              <a:latin typeface="Times New Roman" panose="02020603050405020304" pitchFamily="18" charset="0"/>
              <a:cs typeface="Times New Roman" panose="02020603050405020304" pitchFamily="18" charset="0"/>
            </a:endParaRPr>
          </a:p>
        </p:txBody>
      </p:sp>
      <p:sp>
        <p:nvSpPr>
          <p:cNvPr id="6" name="Text 4"/>
          <p:cNvSpPr/>
          <p:nvPr/>
        </p:nvSpPr>
        <p:spPr>
          <a:xfrm>
            <a:off x="8778240" y="4919472"/>
            <a:ext cx="320040" cy="182880"/>
          </a:xfrm>
          <a:prstGeom prst="rect">
            <a:avLst/>
          </a:prstGeom>
          <a:noFill/>
          <a:ln/>
        </p:spPr>
        <p:txBody>
          <a:bodyPr wrap="square" lIns="0" tIns="0" rIns="0" bIns="0" rtlCol="0" anchor="ctr"/>
          <a:lstStyle/>
          <a:p>
            <a:pPr marL="0" indent="0" algn="r">
              <a:buNone/>
            </a:pPr>
            <a:r>
              <a:rPr lang="en-US" sz="900" dirty="0">
                <a:solidFill>
                  <a:srgbClr val="475569"/>
                </a:solidFill>
                <a:latin typeface="Times New Roman" panose="02020603050405020304" pitchFamily="18" charset="0"/>
                <a:cs typeface="Times New Roman" panose="02020603050405020304" pitchFamily="18" charset="0"/>
              </a:rPr>
              <a:t>5</a:t>
            </a:r>
            <a:endParaRPr lang="en-US" sz="900" dirty="0">
              <a:latin typeface="Times New Roman" panose="02020603050405020304" pitchFamily="18" charset="0"/>
              <a:cs typeface="Times New Roman" panose="02020603050405020304" pitchFamily="18" charset="0"/>
            </a:endParaRPr>
          </a:p>
        </p:txBody>
      </p:sp>
      <p:sp>
        <p:nvSpPr>
          <p:cNvPr id="7" name="Text 5"/>
          <p:cNvSpPr/>
          <p:nvPr/>
        </p:nvSpPr>
        <p:spPr>
          <a:xfrm>
            <a:off x="411480" y="320040"/>
            <a:ext cx="8321040" cy="457200"/>
          </a:xfrm>
          <a:prstGeom prst="rect">
            <a:avLst/>
          </a:prstGeom>
          <a:noFill/>
          <a:ln/>
        </p:spPr>
        <p:txBody>
          <a:bodyPr wrap="square" lIns="0" tIns="0" rIns="0" bIns="0" rtlCol="0" anchor="ctr"/>
          <a:lstStyle/>
          <a:p>
            <a:pPr marL="0" indent="0">
              <a:buNone/>
            </a:pPr>
            <a:r>
              <a:rPr lang="en-US" sz="2300" b="1" dirty="0">
                <a:solidFill>
                  <a:srgbClr val="0056B3"/>
                </a:solidFill>
                <a:latin typeface="Times New Roman" panose="02020603050405020304" pitchFamily="18" charset="0"/>
                <a:cs typeface="Times New Roman" panose="02020603050405020304" pitchFamily="18" charset="0"/>
              </a:rPr>
              <a:t>Objectives</a:t>
            </a:r>
            <a:endParaRPr lang="en-US" sz="2300" dirty="0">
              <a:latin typeface="Times New Roman" panose="02020603050405020304" pitchFamily="18" charset="0"/>
              <a:cs typeface="Times New Roman" panose="02020603050405020304" pitchFamily="18" charset="0"/>
            </a:endParaRPr>
          </a:p>
        </p:txBody>
      </p:sp>
      <p:sp>
        <p:nvSpPr>
          <p:cNvPr id="8" name="Shape 6"/>
          <p:cNvSpPr/>
          <p:nvPr/>
        </p:nvSpPr>
        <p:spPr>
          <a:xfrm>
            <a:off x="411480" y="795528"/>
            <a:ext cx="8321040" cy="22860"/>
          </a:xfrm>
          <a:prstGeom prst="rect">
            <a:avLst/>
          </a:prstGeom>
          <a:solidFill>
            <a:srgbClr val="0056B3"/>
          </a:solidFill>
          <a:ln w="12700">
            <a:solidFill>
              <a:srgbClr val="0056B3"/>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9" name="Shape 7"/>
          <p:cNvSpPr/>
          <p:nvPr/>
        </p:nvSpPr>
        <p:spPr>
          <a:xfrm>
            <a:off x="411480" y="1042416"/>
            <a:ext cx="594360" cy="502920"/>
          </a:xfrm>
          <a:prstGeom prst="roundRect">
            <a:avLst>
              <a:gd name="adj" fmla="val 10909"/>
            </a:avLst>
          </a:prstGeom>
          <a:solidFill>
            <a:srgbClr val="0056B3"/>
          </a:solidFill>
          <a:ln w="12700">
            <a:solidFill>
              <a:srgbClr val="0056B3"/>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10" name="Text 8"/>
          <p:cNvSpPr/>
          <p:nvPr/>
        </p:nvSpPr>
        <p:spPr>
          <a:xfrm>
            <a:off x="411480" y="1042416"/>
            <a:ext cx="594360" cy="502920"/>
          </a:xfrm>
          <a:prstGeom prst="rect">
            <a:avLst/>
          </a:prstGeom>
          <a:noFill/>
          <a:ln/>
        </p:spPr>
        <p:txBody>
          <a:bodyPr wrap="square" lIns="0" tIns="0" rIns="0" bIns="0" rtlCol="0" anchor="ctr"/>
          <a:lstStyle/>
          <a:p>
            <a:pPr marL="0" indent="0" algn="ctr">
              <a:buNone/>
            </a:pPr>
            <a:r>
              <a:rPr lang="en-US" sz="1000" b="1" dirty="0">
                <a:solidFill>
                  <a:srgbClr val="FFFFFF"/>
                </a:solidFill>
                <a:latin typeface="Times New Roman" panose="02020603050405020304" pitchFamily="18" charset="0"/>
                <a:cs typeface="Times New Roman" panose="02020603050405020304" pitchFamily="18" charset="0"/>
              </a:rPr>
              <a:t>FR1</a:t>
            </a:r>
            <a:endParaRPr lang="en-US" sz="1000" dirty="0">
              <a:latin typeface="Times New Roman" panose="02020603050405020304" pitchFamily="18" charset="0"/>
              <a:cs typeface="Times New Roman" panose="02020603050405020304" pitchFamily="18" charset="0"/>
            </a:endParaRPr>
          </a:p>
        </p:txBody>
      </p:sp>
      <p:sp>
        <p:nvSpPr>
          <p:cNvPr id="11" name="Shape 9"/>
          <p:cNvSpPr/>
          <p:nvPr/>
        </p:nvSpPr>
        <p:spPr>
          <a:xfrm>
            <a:off x="1097280" y="987552"/>
            <a:ext cx="7635240" cy="621792"/>
          </a:xfrm>
          <a:prstGeom prst="rect">
            <a:avLst/>
          </a:prstGeom>
          <a:solidFill>
            <a:srgbClr val="EBF3FF"/>
          </a:solidFill>
          <a:ln w="12700">
            <a:solidFill>
              <a:srgbClr val="BFDBFE"/>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12" name="Text 10"/>
          <p:cNvSpPr/>
          <p:nvPr/>
        </p:nvSpPr>
        <p:spPr>
          <a:xfrm>
            <a:off x="1207008" y="987552"/>
            <a:ext cx="7452360" cy="621792"/>
          </a:xfrm>
          <a:prstGeom prst="rect">
            <a:avLst/>
          </a:prstGeom>
          <a:noFill/>
          <a:ln/>
        </p:spPr>
        <p:txBody>
          <a:bodyPr wrap="square" lIns="50800" tIns="50800" rIns="50800" bIns="50800" rtlCol="0" anchor="ctr"/>
          <a:lstStyle/>
          <a:p>
            <a:pPr marL="0" indent="0">
              <a:buNone/>
            </a:pPr>
            <a:r>
              <a:rPr lang="en-US" sz="1200" dirty="0">
                <a:solidFill>
                  <a:srgbClr val="1E293B"/>
                </a:solidFill>
                <a:latin typeface="Times New Roman" panose="02020603050405020304" pitchFamily="18" charset="0"/>
                <a:cs typeface="Times New Roman" panose="02020603050405020304" pitchFamily="18" charset="0"/>
              </a:rPr>
              <a:t>Gather and preprocess a diverse dataset of real and AI-generated facial images from credible open-source repositories.</a:t>
            </a:r>
            <a:endParaRPr lang="en-US" sz="1200" dirty="0">
              <a:latin typeface="Times New Roman" panose="02020603050405020304" pitchFamily="18" charset="0"/>
              <a:cs typeface="Times New Roman" panose="02020603050405020304" pitchFamily="18" charset="0"/>
            </a:endParaRPr>
          </a:p>
        </p:txBody>
      </p:sp>
      <p:sp>
        <p:nvSpPr>
          <p:cNvPr id="13" name="Shape 11"/>
          <p:cNvSpPr/>
          <p:nvPr/>
        </p:nvSpPr>
        <p:spPr>
          <a:xfrm>
            <a:off x="411480" y="1792224"/>
            <a:ext cx="594360" cy="502920"/>
          </a:xfrm>
          <a:prstGeom prst="roundRect">
            <a:avLst>
              <a:gd name="adj" fmla="val 10909"/>
            </a:avLst>
          </a:prstGeom>
          <a:solidFill>
            <a:srgbClr val="0056B3"/>
          </a:solidFill>
          <a:ln w="12700">
            <a:solidFill>
              <a:srgbClr val="0056B3"/>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14" name="Text 12"/>
          <p:cNvSpPr/>
          <p:nvPr/>
        </p:nvSpPr>
        <p:spPr>
          <a:xfrm>
            <a:off x="411480" y="1792224"/>
            <a:ext cx="594360" cy="502920"/>
          </a:xfrm>
          <a:prstGeom prst="rect">
            <a:avLst/>
          </a:prstGeom>
          <a:noFill/>
          <a:ln/>
        </p:spPr>
        <p:txBody>
          <a:bodyPr wrap="square" lIns="0" tIns="0" rIns="0" bIns="0" rtlCol="0" anchor="ctr"/>
          <a:lstStyle/>
          <a:p>
            <a:pPr marL="0" indent="0" algn="ctr">
              <a:buNone/>
            </a:pPr>
            <a:r>
              <a:rPr lang="en-US" sz="1000" b="1" dirty="0">
                <a:solidFill>
                  <a:srgbClr val="FFFFFF"/>
                </a:solidFill>
                <a:latin typeface="Times New Roman" panose="02020603050405020304" pitchFamily="18" charset="0"/>
                <a:cs typeface="Times New Roman" panose="02020603050405020304" pitchFamily="18" charset="0"/>
              </a:rPr>
              <a:t>FR2</a:t>
            </a:r>
            <a:endParaRPr lang="en-US" sz="1000" dirty="0">
              <a:latin typeface="Times New Roman" panose="02020603050405020304" pitchFamily="18" charset="0"/>
              <a:cs typeface="Times New Roman" panose="02020603050405020304" pitchFamily="18" charset="0"/>
            </a:endParaRPr>
          </a:p>
        </p:txBody>
      </p:sp>
      <p:sp>
        <p:nvSpPr>
          <p:cNvPr id="15" name="Shape 13"/>
          <p:cNvSpPr/>
          <p:nvPr/>
        </p:nvSpPr>
        <p:spPr>
          <a:xfrm>
            <a:off x="1097280" y="1737360"/>
            <a:ext cx="7635240" cy="621792"/>
          </a:xfrm>
          <a:prstGeom prst="rect">
            <a:avLst/>
          </a:prstGeom>
          <a:solidFill>
            <a:srgbClr val="EBF3FF"/>
          </a:solidFill>
          <a:ln w="12700">
            <a:solidFill>
              <a:srgbClr val="BFDBFE"/>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16" name="Text 14"/>
          <p:cNvSpPr/>
          <p:nvPr/>
        </p:nvSpPr>
        <p:spPr>
          <a:xfrm>
            <a:off x="1207008" y="1737360"/>
            <a:ext cx="7452360" cy="621792"/>
          </a:xfrm>
          <a:prstGeom prst="rect">
            <a:avLst/>
          </a:prstGeom>
          <a:noFill/>
          <a:ln/>
        </p:spPr>
        <p:txBody>
          <a:bodyPr wrap="square" lIns="50800" tIns="50800" rIns="50800" bIns="50800" rtlCol="0" anchor="ctr"/>
          <a:lstStyle/>
          <a:p>
            <a:pPr marL="0" indent="0">
              <a:buNone/>
            </a:pPr>
            <a:r>
              <a:rPr lang="en-US" sz="1200" dirty="0">
                <a:solidFill>
                  <a:srgbClr val="1E293B"/>
                </a:solidFill>
                <a:latin typeface="Times New Roman" panose="02020603050405020304" pitchFamily="18" charset="0"/>
                <a:cs typeface="Times New Roman" panose="02020603050405020304" pitchFamily="18" charset="0"/>
              </a:rPr>
              <a:t>Develop and train a CNN model (VGG16 transfer learning) capable of differentiating between original and synthetic facial photographs.</a:t>
            </a:r>
            <a:endParaRPr lang="en-US" sz="1200" dirty="0">
              <a:latin typeface="Times New Roman" panose="02020603050405020304" pitchFamily="18" charset="0"/>
              <a:cs typeface="Times New Roman" panose="02020603050405020304" pitchFamily="18" charset="0"/>
            </a:endParaRPr>
          </a:p>
        </p:txBody>
      </p:sp>
      <p:sp>
        <p:nvSpPr>
          <p:cNvPr id="17" name="Shape 15"/>
          <p:cNvSpPr/>
          <p:nvPr/>
        </p:nvSpPr>
        <p:spPr>
          <a:xfrm>
            <a:off x="411480" y="2542032"/>
            <a:ext cx="594360" cy="502920"/>
          </a:xfrm>
          <a:prstGeom prst="roundRect">
            <a:avLst>
              <a:gd name="adj" fmla="val 10909"/>
            </a:avLst>
          </a:prstGeom>
          <a:solidFill>
            <a:srgbClr val="0056B3"/>
          </a:solidFill>
          <a:ln w="12700">
            <a:solidFill>
              <a:srgbClr val="0056B3"/>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18" name="Text 16"/>
          <p:cNvSpPr/>
          <p:nvPr/>
        </p:nvSpPr>
        <p:spPr>
          <a:xfrm>
            <a:off x="411480" y="2542032"/>
            <a:ext cx="594360" cy="502920"/>
          </a:xfrm>
          <a:prstGeom prst="rect">
            <a:avLst/>
          </a:prstGeom>
          <a:noFill/>
          <a:ln/>
        </p:spPr>
        <p:txBody>
          <a:bodyPr wrap="square" lIns="0" tIns="0" rIns="0" bIns="0" rtlCol="0" anchor="ctr"/>
          <a:lstStyle/>
          <a:p>
            <a:pPr marL="0" indent="0" algn="ctr">
              <a:buNone/>
            </a:pPr>
            <a:r>
              <a:rPr lang="en-US" sz="1000" b="1" dirty="0">
                <a:solidFill>
                  <a:srgbClr val="FFFFFF"/>
                </a:solidFill>
                <a:latin typeface="Times New Roman" panose="02020603050405020304" pitchFamily="18" charset="0"/>
                <a:cs typeface="Times New Roman" panose="02020603050405020304" pitchFamily="18" charset="0"/>
              </a:rPr>
              <a:t>FR3</a:t>
            </a:r>
            <a:endParaRPr lang="en-US" sz="1000" dirty="0">
              <a:latin typeface="Times New Roman" panose="02020603050405020304" pitchFamily="18" charset="0"/>
              <a:cs typeface="Times New Roman" panose="02020603050405020304" pitchFamily="18" charset="0"/>
            </a:endParaRPr>
          </a:p>
        </p:txBody>
      </p:sp>
      <p:sp>
        <p:nvSpPr>
          <p:cNvPr id="19" name="Shape 17"/>
          <p:cNvSpPr/>
          <p:nvPr/>
        </p:nvSpPr>
        <p:spPr>
          <a:xfrm>
            <a:off x="1097280" y="2487168"/>
            <a:ext cx="7635240" cy="621792"/>
          </a:xfrm>
          <a:prstGeom prst="rect">
            <a:avLst/>
          </a:prstGeom>
          <a:solidFill>
            <a:srgbClr val="EBF3FF"/>
          </a:solidFill>
          <a:ln w="12700">
            <a:solidFill>
              <a:srgbClr val="BFDBFE"/>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20" name="Text 18"/>
          <p:cNvSpPr/>
          <p:nvPr/>
        </p:nvSpPr>
        <p:spPr>
          <a:xfrm>
            <a:off x="1207008" y="2487168"/>
            <a:ext cx="7452360" cy="621792"/>
          </a:xfrm>
          <a:prstGeom prst="rect">
            <a:avLst/>
          </a:prstGeom>
          <a:noFill/>
          <a:ln/>
        </p:spPr>
        <p:txBody>
          <a:bodyPr wrap="square" lIns="50800" tIns="50800" rIns="50800" bIns="50800" rtlCol="0" anchor="ctr"/>
          <a:lstStyle/>
          <a:p>
            <a:pPr marL="0" indent="0">
              <a:buNone/>
            </a:pPr>
            <a:r>
              <a:rPr lang="en-US" sz="1200" dirty="0">
                <a:solidFill>
                  <a:srgbClr val="1E293B"/>
                </a:solidFill>
                <a:latin typeface="Times New Roman" panose="02020603050405020304" pitchFamily="18" charset="0"/>
                <a:cs typeface="Times New Roman" panose="02020603050405020304" pitchFamily="18" charset="0"/>
              </a:rPr>
              <a:t>Evaluate model performance across standard metrics: accuracy, precision, recall, and F1-score Which targeting ≥90% accuracy.</a:t>
            </a:r>
            <a:endParaRPr lang="en-US" sz="1200" dirty="0">
              <a:latin typeface="Times New Roman" panose="02020603050405020304" pitchFamily="18" charset="0"/>
              <a:cs typeface="Times New Roman" panose="02020603050405020304" pitchFamily="18" charset="0"/>
            </a:endParaRPr>
          </a:p>
        </p:txBody>
      </p:sp>
      <p:sp>
        <p:nvSpPr>
          <p:cNvPr id="21" name="Shape 19"/>
          <p:cNvSpPr/>
          <p:nvPr/>
        </p:nvSpPr>
        <p:spPr>
          <a:xfrm>
            <a:off x="411480" y="3291840"/>
            <a:ext cx="594360" cy="502920"/>
          </a:xfrm>
          <a:prstGeom prst="roundRect">
            <a:avLst>
              <a:gd name="adj" fmla="val 10909"/>
            </a:avLst>
          </a:prstGeom>
          <a:solidFill>
            <a:srgbClr val="0056B3"/>
          </a:solidFill>
          <a:ln w="12700">
            <a:solidFill>
              <a:srgbClr val="0056B3"/>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22" name="Text 20"/>
          <p:cNvSpPr/>
          <p:nvPr/>
        </p:nvSpPr>
        <p:spPr>
          <a:xfrm>
            <a:off x="411480" y="3291840"/>
            <a:ext cx="594360" cy="502920"/>
          </a:xfrm>
          <a:prstGeom prst="rect">
            <a:avLst/>
          </a:prstGeom>
          <a:noFill/>
          <a:ln/>
        </p:spPr>
        <p:txBody>
          <a:bodyPr wrap="square" lIns="0" tIns="0" rIns="0" bIns="0" rtlCol="0" anchor="ctr"/>
          <a:lstStyle/>
          <a:p>
            <a:pPr marL="0" indent="0" algn="ctr">
              <a:buNone/>
            </a:pPr>
            <a:r>
              <a:rPr lang="en-US" sz="1000" b="1" dirty="0">
                <a:solidFill>
                  <a:srgbClr val="FFFFFF"/>
                </a:solidFill>
                <a:latin typeface="Times New Roman" panose="02020603050405020304" pitchFamily="18" charset="0"/>
                <a:cs typeface="Times New Roman" panose="02020603050405020304" pitchFamily="18" charset="0"/>
              </a:rPr>
              <a:t>FR4</a:t>
            </a:r>
            <a:endParaRPr lang="en-US" sz="1000" dirty="0">
              <a:latin typeface="Times New Roman" panose="02020603050405020304" pitchFamily="18" charset="0"/>
              <a:cs typeface="Times New Roman" panose="02020603050405020304" pitchFamily="18" charset="0"/>
            </a:endParaRPr>
          </a:p>
        </p:txBody>
      </p:sp>
      <p:sp>
        <p:nvSpPr>
          <p:cNvPr id="23" name="Shape 21"/>
          <p:cNvSpPr/>
          <p:nvPr/>
        </p:nvSpPr>
        <p:spPr>
          <a:xfrm>
            <a:off x="1097280" y="3236976"/>
            <a:ext cx="7635240" cy="621792"/>
          </a:xfrm>
          <a:prstGeom prst="rect">
            <a:avLst/>
          </a:prstGeom>
          <a:solidFill>
            <a:srgbClr val="EBF3FF"/>
          </a:solidFill>
          <a:ln w="12700">
            <a:solidFill>
              <a:srgbClr val="BFDBFE"/>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24" name="Text 22"/>
          <p:cNvSpPr/>
          <p:nvPr/>
        </p:nvSpPr>
        <p:spPr>
          <a:xfrm>
            <a:off x="1207008" y="3236976"/>
            <a:ext cx="7452360" cy="621792"/>
          </a:xfrm>
          <a:prstGeom prst="rect">
            <a:avLst/>
          </a:prstGeom>
          <a:noFill/>
          <a:ln/>
        </p:spPr>
        <p:txBody>
          <a:bodyPr wrap="square" lIns="50800" tIns="50800" rIns="50800" bIns="50800" rtlCol="0" anchor="ctr"/>
          <a:lstStyle/>
          <a:p>
            <a:pPr marL="0" indent="0">
              <a:buNone/>
            </a:pPr>
            <a:r>
              <a:rPr lang="en-US" sz="1200" dirty="0">
                <a:solidFill>
                  <a:srgbClr val="1E293B"/>
                </a:solidFill>
                <a:latin typeface="Times New Roman" panose="02020603050405020304" pitchFamily="18" charset="0"/>
                <a:cs typeface="Times New Roman" panose="02020603050405020304" pitchFamily="18" charset="0"/>
              </a:rPr>
              <a:t>Build an interactive, browser-based web interface allowing users to upload images and receive real-time authenticity classifications.</a:t>
            </a:r>
            <a:endParaRPr lang="en-US" sz="1200" dirty="0">
              <a:latin typeface="Times New Roman" panose="02020603050405020304" pitchFamily="18" charset="0"/>
              <a:cs typeface="Times New Roman" panose="02020603050405020304" pitchFamily="18" charset="0"/>
            </a:endParaRPr>
          </a:p>
        </p:txBody>
      </p:sp>
      <p:sp>
        <p:nvSpPr>
          <p:cNvPr id="25" name="Shape 23"/>
          <p:cNvSpPr/>
          <p:nvPr/>
        </p:nvSpPr>
        <p:spPr>
          <a:xfrm>
            <a:off x="411480" y="4041648"/>
            <a:ext cx="594360" cy="502920"/>
          </a:xfrm>
          <a:prstGeom prst="roundRect">
            <a:avLst>
              <a:gd name="adj" fmla="val 10909"/>
            </a:avLst>
          </a:prstGeom>
          <a:solidFill>
            <a:srgbClr val="0054AE"/>
          </a:solidFill>
          <a:ln w="12700">
            <a:solidFill>
              <a:srgbClr val="0054AE"/>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26" name="Text 24"/>
          <p:cNvSpPr/>
          <p:nvPr/>
        </p:nvSpPr>
        <p:spPr>
          <a:xfrm>
            <a:off x="411480" y="4041648"/>
            <a:ext cx="594360" cy="502920"/>
          </a:xfrm>
          <a:prstGeom prst="rect">
            <a:avLst/>
          </a:prstGeom>
          <a:noFill/>
          <a:ln/>
        </p:spPr>
        <p:txBody>
          <a:bodyPr wrap="square" lIns="0" tIns="0" rIns="0" bIns="0" rtlCol="0" anchor="ctr"/>
          <a:lstStyle/>
          <a:p>
            <a:pPr marL="0" indent="0" algn="ctr">
              <a:buNone/>
            </a:pPr>
            <a:r>
              <a:rPr lang="en-US" sz="1000" b="1" dirty="0">
                <a:solidFill>
                  <a:srgbClr val="FFFFFF"/>
                </a:solidFill>
                <a:latin typeface="Times New Roman" panose="02020603050405020304" pitchFamily="18" charset="0"/>
                <a:cs typeface="Times New Roman" panose="02020603050405020304" pitchFamily="18" charset="0"/>
              </a:rPr>
              <a:t>NFR</a:t>
            </a:r>
            <a:endParaRPr lang="en-US" sz="1000" dirty="0">
              <a:latin typeface="Times New Roman" panose="02020603050405020304" pitchFamily="18" charset="0"/>
              <a:cs typeface="Times New Roman" panose="02020603050405020304" pitchFamily="18" charset="0"/>
            </a:endParaRPr>
          </a:p>
        </p:txBody>
      </p:sp>
      <p:sp>
        <p:nvSpPr>
          <p:cNvPr id="27" name="Shape 25"/>
          <p:cNvSpPr/>
          <p:nvPr/>
        </p:nvSpPr>
        <p:spPr>
          <a:xfrm>
            <a:off x="1097280" y="3986784"/>
            <a:ext cx="7635240" cy="621792"/>
          </a:xfrm>
          <a:prstGeom prst="rect">
            <a:avLst/>
          </a:prstGeom>
          <a:solidFill>
            <a:srgbClr val="EBF3FF"/>
          </a:solidFill>
          <a:ln w="12700">
            <a:solidFill>
              <a:srgbClr val="BFDBFE"/>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28" name="Text 26"/>
          <p:cNvSpPr/>
          <p:nvPr/>
        </p:nvSpPr>
        <p:spPr>
          <a:xfrm>
            <a:off x="1207008" y="3986784"/>
            <a:ext cx="7452360" cy="621792"/>
          </a:xfrm>
          <a:prstGeom prst="rect">
            <a:avLst/>
          </a:prstGeom>
          <a:noFill/>
          <a:ln/>
        </p:spPr>
        <p:txBody>
          <a:bodyPr wrap="square" lIns="50800" tIns="50800" rIns="50800" bIns="50800" rtlCol="0" anchor="ctr"/>
          <a:lstStyle/>
          <a:p>
            <a:pPr marL="0" indent="0">
              <a:buNone/>
            </a:pPr>
            <a:r>
              <a:rPr lang="en-US" sz="1200" dirty="0">
                <a:solidFill>
                  <a:srgbClr val="1E293B"/>
                </a:solidFill>
                <a:latin typeface="Times New Roman" panose="02020603050405020304" pitchFamily="18" charset="0"/>
                <a:cs typeface="Times New Roman" panose="02020603050405020304" pitchFamily="18" charset="0"/>
              </a:rPr>
              <a:t>Integrate interpretability features, Grad-CAM heatmaps and confidence scores for forensic and media verification practitioners.</a:t>
            </a:r>
            <a:endParaRPr lang="en-US" sz="1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H0"/>
          <p:cNvSpPr/>
          <p:nvPr/>
        </p:nvSpPr>
        <p:spPr>
          <a:xfrm>
            <a:off x="0" y="0"/>
            <a:ext cx="9144000" cy="256032"/>
          </a:xfrm>
          <a:prstGeom prst="rect">
            <a:avLst/>
          </a:prstGeom>
          <a:solidFill>
            <a:srgbClr val="1F3864"/>
          </a:solidFill>
          <a:ln w="12700">
            <a:solidFill>
              <a:srgbClr val="1F3864"/>
            </a:solidFill>
            <a:prstDash val="solid"/>
          </a:ln>
        </p:spPr>
        <p:txBody>
          <a:bodyPr/>
          <a:lstStyle/>
          <a:p>
            <a:endParaRPr lang="en-US"/>
          </a:p>
        </p:txBody>
      </p:sp>
      <p:sp>
        <p:nvSpPr>
          <p:cNvPr id="3" name="H1"/>
          <p:cNvSpPr/>
          <p:nvPr/>
        </p:nvSpPr>
        <p:spPr>
          <a:xfrm>
            <a:off x="274320" y="0"/>
            <a:ext cx="7132320" cy="256032"/>
          </a:xfrm>
          <a:prstGeom prst="rect">
            <a:avLst/>
          </a:prstGeom>
          <a:noFill/>
          <a:ln/>
        </p:spPr>
        <p:txBody>
          <a:bodyPr wrap="square" lIns="0" tIns="0" rIns="0" bIns="0" rtlCol="0" anchor="ctr"/>
          <a:lstStyle/>
          <a:p>
            <a:pPr marL="0" indent="0">
              <a:buNone/>
            </a:pPr>
            <a:r>
              <a:rPr lang="en-US" sz="850" dirty="0">
                <a:solidFill>
                  <a:srgbClr val="FFFFFF"/>
                </a:solidFill>
              </a:rPr>
              <a:t>Deepfake Image Detection System  |  TM471B — May 2026</a:t>
            </a:r>
          </a:p>
        </p:txBody>
      </p:sp>
      <p:sp>
        <p:nvSpPr>
          <p:cNvPr id="4" name="H2"/>
          <p:cNvSpPr/>
          <p:nvPr/>
        </p:nvSpPr>
        <p:spPr>
          <a:xfrm>
            <a:off x="8138160" y="27432"/>
            <a:ext cx="749808" cy="201168"/>
          </a:xfrm>
          <a:prstGeom prst="rect">
            <a:avLst/>
          </a:prstGeom>
          <a:solidFill>
            <a:srgbClr val="1A4F9E"/>
          </a:solidFill>
          <a:ln w="12700">
            <a:solidFill>
              <a:srgbClr val="FFFFFF"/>
            </a:solidFill>
            <a:prstDash val="solid"/>
          </a:ln>
        </p:spPr>
        <p:txBody>
          <a:bodyPr/>
          <a:lstStyle/>
          <a:p>
            <a:endParaRPr lang="en-US"/>
          </a:p>
        </p:txBody>
      </p:sp>
      <p:sp>
        <p:nvSpPr>
          <p:cNvPr id="5" name="H3"/>
          <p:cNvSpPr/>
          <p:nvPr/>
        </p:nvSpPr>
        <p:spPr>
          <a:xfrm>
            <a:off x="8138160" y="27432"/>
            <a:ext cx="749808" cy="201168"/>
          </a:xfrm>
          <a:prstGeom prst="rect">
            <a:avLst/>
          </a:prstGeom>
          <a:noFill/>
          <a:ln/>
        </p:spPr>
        <p:txBody>
          <a:bodyPr wrap="square" lIns="0" tIns="0" rIns="0" bIns="0" rtlCol="0" anchor="ctr"/>
          <a:lstStyle/>
          <a:p>
            <a:pPr marL="0" indent="0" algn="ctr">
              <a:buNone/>
            </a:pPr>
            <a:r>
              <a:rPr lang="en-US" sz="800" b="1" dirty="0">
                <a:solidFill>
                  <a:srgbClr val="FFFFFF"/>
                </a:solidFill>
              </a:rPr>
              <a:t>AOU</a:t>
            </a:r>
          </a:p>
        </p:txBody>
      </p:sp>
      <p:sp>
        <p:nvSpPr>
          <p:cNvPr id="6" name="Pn"/>
          <p:cNvSpPr/>
          <p:nvPr/>
        </p:nvSpPr>
        <p:spPr>
          <a:xfrm>
            <a:off x="8778240" y="4919472"/>
            <a:ext cx="320040" cy="182880"/>
          </a:xfrm>
          <a:prstGeom prst="rect">
            <a:avLst/>
          </a:prstGeom>
          <a:noFill/>
          <a:ln/>
        </p:spPr>
        <p:txBody>
          <a:bodyPr wrap="square" lIns="0" tIns="0" rIns="0" bIns="0" rtlCol="0" anchor="ctr"/>
          <a:lstStyle/>
          <a:p>
            <a:pPr marL="0" indent="0" algn="r">
              <a:buNone/>
            </a:pPr>
            <a:r>
              <a:rPr lang="en-US" sz="900" dirty="0">
                <a:solidFill>
                  <a:srgbClr val="475569"/>
                </a:solidFill>
              </a:rPr>
              <a:t>6</a:t>
            </a:r>
          </a:p>
        </p:txBody>
      </p:sp>
      <p:sp>
        <p:nvSpPr>
          <p:cNvPr id="7" name="Tt"/>
          <p:cNvSpPr/>
          <p:nvPr/>
        </p:nvSpPr>
        <p:spPr>
          <a:xfrm>
            <a:off x="411480" y="320040"/>
            <a:ext cx="8321040" cy="457200"/>
          </a:xfrm>
          <a:prstGeom prst="rect">
            <a:avLst/>
          </a:prstGeom>
          <a:noFill/>
          <a:ln/>
        </p:spPr>
        <p:txBody>
          <a:bodyPr wrap="square" lIns="0" tIns="0" rIns="0" bIns="0" rtlCol="0" anchor="ctr"/>
          <a:lstStyle/>
          <a:p>
            <a:pPr marL="0" indent="0">
              <a:buNone/>
            </a:pPr>
            <a:r>
              <a:rPr lang="en-US" sz="2300" b="1" dirty="0">
                <a:solidFill>
                  <a:srgbClr val="0056B3"/>
                </a:solidFill>
              </a:rPr>
              <a:t>Technologies Used</a:t>
            </a:r>
          </a:p>
        </p:txBody>
      </p:sp>
      <p:sp>
        <p:nvSpPr>
          <p:cNvPr id="8" name="TtLine"/>
          <p:cNvSpPr/>
          <p:nvPr/>
        </p:nvSpPr>
        <p:spPr>
          <a:xfrm>
            <a:off x="411480" y="795528"/>
            <a:ext cx="8321040" cy="22860"/>
          </a:xfrm>
          <a:prstGeom prst="rect">
            <a:avLst/>
          </a:prstGeom>
          <a:solidFill>
            <a:srgbClr val="0056B3"/>
          </a:solidFill>
          <a:ln w="12700">
            <a:solidFill>
              <a:srgbClr val="0056B3"/>
            </a:solidFill>
            <a:prstDash val="solid"/>
          </a:ln>
        </p:spPr>
        <p:txBody>
          <a:bodyPr/>
          <a:lstStyle/>
          <a:p>
            <a:endParaRPr lang="en-US"/>
          </a:p>
        </p:txBody>
      </p:sp>
      <p:sp>
        <p:nvSpPr>
          <p:cNvPr id="129" name="B129"/>
          <p:cNvSpPr/>
          <p:nvPr/>
        </p:nvSpPr>
        <p:spPr>
          <a:xfrm>
            <a:off x="246888" y="4526280"/>
            <a:ext cx="8538552" cy="228600"/>
          </a:xfrm>
          <a:prstGeom prst="rect">
            <a:avLst/>
          </a:prstGeom>
          <a:solidFill>
            <a:srgbClr val="1F3864"/>
          </a:solidFill>
          <a:ln w="12700">
            <a:solidFill>
              <a:srgbClr val="1F3864"/>
            </a:solidFill>
            <a:prstDash val="solid"/>
          </a:ln>
        </p:spPr>
        <p:txBody>
          <a:bodyPr/>
          <a:lstStyle/>
          <a:p>
            <a:endParaRPr lang="en-US"/>
          </a:p>
        </p:txBody>
      </p:sp>
      <p:sp>
        <p:nvSpPr>
          <p:cNvPr id="130" name="X130"/>
          <p:cNvSpPr/>
          <p:nvPr/>
        </p:nvSpPr>
        <p:spPr>
          <a:xfrm>
            <a:off x="246888" y="4526280"/>
            <a:ext cx="8538552" cy="228600"/>
          </a:xfrm>
          <a:prstGeom prst="rect">
            <a:avLst/>
          </a:prstGeom>
          <a:noFill/>
          <a:ln/>
        </p:spPr>
        <p:txBody>
          <a:bodyPr wrap="square" lIns="91440" tIns="45720" rIns="91440" bIns="45720" rtlCol="0" anchor="ctr"/>
          <a:lstStyle/>
          <a:p>
            <a:pPr marL="0" indent="0" algn="ctr">
              <a:buNone/>
            </a:pPr>
            <a:r>
              <a:rPr lang="en-US" sz="920" dirty="0">
                <a:solidFill>
                  <a:srgbClr val="FFFFFF"/>
                </a:solidFill>
              </a:rPr>
              <a:t>Stack validated on NVIDIA GPU (CUDA)  •  Python 3.10+  •  PyTorch 2.x  •  All libraries open-source</a:t>
            </a:r>
          </a:p>
        </p:txBody>
      </p:sp>
      <p:sp>
        <p:nvSpPr>
          <p:cNvPr id="9" name="Shape 3">
            <a:extLst>
              <a:ext uri="{FF2B5EF4-FFF2-40B4-BE49-F238E27FC236}">
                <a16:creationId xmlns:a16="http://schemas.microsoft.com/office/drawing/2014/main" id="{67FDB246-007E-7E55-5687-8E2ABBCAF237}"/>
              </a:ext>
            </a:extLst>
          </p:cNvPr>
          <p:cNvSpPr/>
          <p:nvPr/>
        </p:nvSpPr>
        <p:spPr>
          <a:xfrm>
            <a:off x="2697480" y="886968"/>
            <a:ext cx="91440" cy="320040"/>
          </a:xfrm>
          <a:prstGeom prst="rect">
            <a:avLst/>
          </a:prstGeom>
          <a:solidFill>
            <a:srgbClr val="0070C0"/>
          </a:solidFill>
          <a:ln/>
        </p:spPr>
        <p:txBody>
          <a:bodyPr/>
          <a:lstStyle/>
          <a:p>
            <a:pPr algn="ctr"/>
            <a:endParaRPr lang="en-US" sz="1400">
              <a:latin typeface="Times New Roman" panose="02020603050405020304" pitchFamily="18" charset="0"/>
              <a:cs typeface="Times New Roman" panose="02020603050405020304" pitchFamily="18" charset="0"/>
            </a:endParaRPr>
          </a:p>
        </p:txBody>
      </p:sp>
      <p:sp>
        <p:nvSpPr>
          <p:cNvPr id="10" name="Text 4">
            <a:extLst>
              <a:ext uri="{FF2B5EF4-FFF2-40B4-BE49-F238E27FC236}">
                <a16:creationId xmlns:a16="http://schemas.microsoft.com/office/drawing/2014/main" id="{D53E1584-C3A7-9A9E-DFA4-F3D9FB6B8DDA}"/>
              </a:ext>
            </a:extLst>
          </p:cNvPr>
          <p:cNvSpPr/>
          <p:nvPr/>
        </p:nvSpPr>
        <p:spPr>
          <a:xfrm>
            <a:off x="2862072" y="886968"/>
            <a:ext cx="1664208"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400" b="1" dirty="0">
                <a:solidFill>
                  <a:srgbClr val="065A82"/>
                </a:solidFill>
                <a:latin typeface="Times New Roman" panose="02020603050405020304" pitchFamily="18" charset="0"/>
                <a:ea typeface="Calibri" pitchFamily="34" charset="-122"/>
                <a:cs typeface="Times New Roman" panose="02020603050405020304" pitchFamily="18" charset="0"/>
              </a:rPr>
              <a:t>Language:</a:t>
            </a:r>
            <a:endParaRPr lang="en-US" sz="1400" dirty="0">
              <a:latin typeface="Times New Roman" panose="02020603050405020304" pitchFamily="18" charset="0"/>
              <a:cs typeface="Times New Roman" panose="02020603050405020304" pitchFamily="18" charset="0"/>
            </a:endParaRPr>
          </a:p>
        </p:txBody>
      </p:sp>
      <p:sp>
        <p:nvSpPr>
          <p:cNvPr id="11" name="Text 5">
            <a:extLst>
              <a:ext uri="{FF2B5EF4-FFF2-40B4-BE49-F238E27FC236}">
                <a16:creationId xmlns:a16="http://schemas.microsoft.com/office/drawing/2014/main" id="{85687E9E-E8D3-7EEB-F6B6-5572868B4703}"/>
              </a:ext>
            </a:extLst>
          </p:cNvPr>
          <p:cNvSpPr/>
          <p:nvPr/>
        </p:nvSpPr>
        <p:spPr>
          <a:xfrm>
            <a:off x="4526280" y="886968"/>
            <a:ext cx="192024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400" dirty="0">
                <a:solidFill>
                  <a:srgbClr val="1A2E3B"/>
                </a:solidFill>
                <a:latin typeface="Times New Roman" panose="02020603050405020304" pitchFamily="18" charset="0"/>
                <a:ea typeface="Calibri" pitchFamily="34" charset="-122"/>
                <a:cs typeface="Times New Roman" panose="02020603050405020304" pitchFamily="18" charset="0"/>
              </a:rPr>
              <a:t>Python 3.10</a:t>
            </a:r>
            <a:endParaRPr lang="en-US" sz="1400" dirty="0">
              <a:latin typeface="Times New Roman" panose="02020603050405020304" pitchFamily="18" charset="0"/>
              <a:cs typeface="Times New Roman" panose="02020603050405020304" pitchFamily="18" charset="0"/>
            </a:endParaRPr>
          </a:p>
        </p:txBody>
      </p:sp>
      <p:sp>
        <p:nvSpPr>
          <p:cNvPr id="12" name="Shape 6">
            <a:extLst>
              <a:ext uri="{FF2B5EF4-FFF2-40B4-BE49-F238E27FC236}">
                <a16:creationId xmlns:a16="http://schemas.microsoft.com/office/drawing/2014/main" id="{F6CDBFD4-19BD-8EFE-844A-51C3F35CD4BB}"/>
              </a:ext>
            </a:extLst>
          </p:cNvPr>
          <p:cNvSpPr/>
          <p:nvPr/>
        </p:nvSpPr>
        <p:spPr>
          <a:xfrm>
            <a:off x="2697480" y="1344168"/>
            <a:ext cx="91440" cy="320040"/>
          </a:xfrm>
          <a:prstGeom prst="rect">
            <a:avLst/>
          </a:prstGeom>
          <a:solidFill>
            <a:srgbClr val="0070C0"/>
          </a:solidFill>
          <a:ln/>
        </p:spPr>
        <p:txBody>
          <a:bodyPr/>
          <a:lstStyle/>
          <a:p>
            <a:pPr algn="ctr"/>
            <a:endParaRPr lang="en-US" sz="1400">
              <a:latin typeface="Times New Roman" panose="02020603050405020304" pitchFamily="18" charset="0"/>
              <a:cs typeface="Times New Roman" panose="02020603050405020304" pitchFamily="18" charset="0"/>
            </a:endParaRPr>
          </a:p>
        </p:txBody>
      </p:sp>
      <p:sp>
        <p:nvSpPr>
          <p:cNvPr id="13" name="Text 7">
            <a:extLst>
              <a:ext uri="{FF2B5EF4-FFF2-40B4-BE49-F238E27FC236}">
                <a16:creationId xmlns:a16="http://schemas.microsoft.com/office/drawing/2014/main" id="{250EAD13-4789-A27F-B1AE-65492CDD9DAC}"/>
              </a:ext>
            </a:extLst>
          </p:cNvPr>
          <p:cNvSpPr/>
          <p:nvPr/>
        </p:nvSpPr>
        <p:spPr>
          <a:xfrm>
            <a:off x="2862072" y="1344168"/>
            <a:ext cx="1664208"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400" b="1" dirty="0">
                <a:solidFill>
                  <a:srgbClr val="1C7293"/>
                </a:solidFill>
                <a:latin typeface="Times New Roman" panose="02020603050405020304" pitchFamily="18" charset="0"/>
                <a:ea typeface="Calibri" pitchFamily="34" charset="-122"/>
                <a:cs typeface="Times New Roman" panose="02020603050405020304" pitchFamily="18" charset="0"/>
              </a:rPr>
              <a:t>DL Framework:</a:t>
            </a:r>
            <a:endParaRPr lang="en-US" sz="1400" dirty="0">
              <a:latin typeface="Times New Roman" panose="02020603050405020304" pitchFamily="18" charset="0"/>
              <a:cs typeface="Times New Roman" panose="02020603050405020304" pitchFamily="18" charset="0"/>
            </a:endParaRPr>
          </a:p>
        </p:txBody>
      </p:sp>
      <p:sp>
        <p:nvSpPr>
          <p:cNvPr id="14" name="Text 8">
            <a:extLst>
              <a:ext uri="{FF2B5EF4-FFF2-40B4-BE49-F238E27FC236}">
                <a16:creationId xmlns:a16="http://schemas.microsoft.com/office/drawing/2014/main" id="{9B347300-9EF3-0152-BFC4-61CDF378344F}"/>
              </a:ext>
            </a:extLst>
          </p:cNvPr>
          <p:cNvSpPr/>
          <p:nvPr/>
        </p:nvSpPr>
        <p:spPr>
          <a:xfrm>
            <a:off x="4526280" y="1344168"/>
            <a:ext cx="192024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400" dirty="0">
                <a:solidFill>
                  <a:srgbClr val="1A2E3B"/>
                </a:solidFill>
                <a:latin typeface="Times New Roman" panose="02020603050405020304" pitchFamily="18" charset="0"/>
                <a:ea typeface="Calibri" pitchFamily="34" charset="-122"/>
                <a:cs typeface="Times New Roman" panose="02020603050405020304" pitchFamily="18" charset="0"/>
              </a:rPr>
              <a:t>PyTorch + TorchVision</a:t>
            </a:r>
            <a:endParaRPr lang="en-US" sz="1400" dirty="0">
              <a:latin typeface="Times New Roman" panose="02020603050405020304" pitchFamily="18" charset="0"/>
              <a:cs typeface="Times New Roman" panose="02020603050405020304" pitchFamily="18" charset="0"/>
            </a:endParaRPr>
          </a:p>
        </p:txBody>
      </p:sp>
      <p:sp>
        <p:nvSpPr>
          <p:cNvPr id="15" name="Shape 9">
            <a:extLst>
              <a:ext uri="{FF2B5EF4-FFF2-40B4-BE49-F238E27FC236}">
                <a16:creationId xmlns:a16="http://schemas.microsoft.com/office/drawing/2014/main" id="{7EA24972-1939-7C2E-0B39-00DD499691D8}"/>
              </a:ext>
            </a:extLst>
          </p:cNvPr>
          <p:cNvSpPr/>
          <p:nvPr/>
        </p:nvSpPr>
        <p:spPr>
          <a:xfrm>
            <a:off x="2697480" y="1801368"/>
            <a:ext cx="91440" cy="320040"/>
          </a:xfrm>
          <a:prstGeom prst="rect">
            <a:avLst/>
          </a:prstGeom>
          <a:solidFill>
            <a:srgbClr val="0070C0"/>
          </a:solidFill>
          <a:ln/>
        </p:spPr>
        <p:txBody>
          <a:bodyPr/>
          <a:lstStyle/>
          <a:p>
            <a:pPr algn="ctr"/>
            <a:endParaRPr lang="en-US" sz="1400">
              <a:latin typeface="Times New Roman" panose="02020603050405020304" pitchFamily="18" charset="0"/>
              <a:cs typeface="Times New Roman" panose="02020603050405020304" pitchFamily="18" charset="0"/>
            </a:endParaRPr>
          </a:p>
        </p:txBody>
      </p:sp>
      <p:sp>
        <p:nvSpPr>
          <p:cNvPr id="16" name="Text 10">
            <a:extLst>
              <a:ext uri="{FF2B5EF4-FFF2-40B4-BE49-F238E27FC236}">
                <a16:creationId xmlns:a16="http://schemas.microsoft.com/office/drawing/2014/main" id="{11D9800F-453A-2FE3-16C9-048B75738F41}"/>
              </a:ext>
            </a:extLst>
          </p:cNvPr>
          <p:cNvSpPr/>
          <p:nvPr/>
        </p:nvSpPr>
        <p:spPr>
          <a:xfrm>
            <a:off x="2862072" y="1801368"/>
            <a:ext cx="1664208"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400" b="1" dirty="0">
                <a:solidFill>
                  <a:srgbClr val="065A82"/>
                </a:solidFill>
                <a:latin typeface="Times New Roman" panose="02020603050405020304" pitchFamily="18" charset="0"/>
                <a:ea typeface="Calibri" pitchFamily="34" charset="-122"/>
                <a:cs typeface="Times New Roman" panose="02020603050405020304" pitchFamily="18" charset="0"/>
              </a:rPr>
              <a:t>Web Framework:</a:t>
            </a:r>
            <a:endParaRPr lang="en-US" sz="1400" dirty="0">
              <a:latin typeface="Times New Roman" panose="02020603050405020304" pitchFamily="18" charset="0"/>
              <a:cs typeface="Times New Roman" panose="02020603050405020304" pitchFamily="18" charset="0"/>
            </a:endParaRPr>
          </a:p>
        </p:txBody>
      </p:sp>
      <p:sp>
        <p:nvSpPr>
          <p:cNvPr id="17" name="Text 11">
            <a:extLst>
              <a:ext uri="{FF2B5EF4-FFF2-40B4-BE49-F238E27FC236}">
                <a16:creationId xmlns:a16="http://schemas.microsoft.com/office/drawing/2014/main" id="{852F880B-C1B1-5AF5-6842-7B55C959F7FC}"/>
              </a:ext>
            </a:extLst>
          </p:cNvPr>
          <p:cNvSpPr/>
          <p:nvPr/>
        </p:nvSpPr>
        <p:spPr>
          <a:xfrm>
            <a:off x="4526280" y="1801368"/>
            <a:ext cx="192024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400" dirty="0">
                <a:solidFill>
                  <a:srgbClr val="1A2E3B"/>
                </a:solidFill>
                <a:latin typeface="Times New Roman" panose="02020603050405020304" pitchFamily="18" charset="0"/>
                <a:ea typeface="Calibri" pitchFamily="34" charset="-122"/>
                <a:cs typeface="Times New Roman" panose="02020603050405020304" pitchFamily="18" charset="0"/>
              </a:rPr>
              <a:t>Flask</a:t>
            </a:r>
            <a:endParaRPr lang="en-US" sz="1400" dirty="0">
              <a:latin typeface="Times New Roman" panose="02020603050405020304" pitchFamily="18" charset="0"/>
              <a:cs typeface="Times New Roman" panose="02020603050405020304" pitchFamily="18" charset="0"/>
            </a:endParaRPr>
          </a:p>
        </p:txBody>
      </p:sp>
      <p:sp>
        <p:nvSpPr>
          <p:cNvPr id="18" name="Shape 12">
            <a:extLst>
              <a:ext uri="{FF2B5EF4-FFF2-40B4-BE49-F238E27FC236}">
                <a16:creationId xmlns:a16="http://schemas.microsoft.com/office/drawing/2014/main" id="{8186AE44-D5B7-4AED-CDD3-289C36AEA0F4}"/>
              </a:ext>
            </a:extLst>
          </p:cNvPr>
          <p:cNvSpPr/>
          <p:nvPr/>
        </p:nvSpPr>
        <p:spPr>
          <a:xfrm>
            <a:off x="2697480" y="2258568"/>
            <a:ext cx="91440" cy="320040"/>
          </a:xfrm>
          <a:prstGeom prst="rect">
            <a:avLst/>
          </a:prstGeom>
          <a:solidFill>
            <a:srgbClr val="0070C0"/>
          </a:solidFill>
          <a:ln/>
        </p:spPr>
        <p:txBody>
          <a:bodyPr/>
          <a:lstStyle/>
          <a:p>
            <a:pPr algn="ctr"/>
            <a:endParaRPr lang="en-US" sz="1400">
              <a:latin typeface="Times New Roman" panose="02020603050405020304" pitchFamily="18" charset="0"/>
              <a:cs typeface="Times New Roman" panose="02020603050405020304" pitchFamily="18" charset="0"/>
            </a:endParaRPr>
          </a:p>
        </p:txBody>
      </p:sp>
      <p:sp>
        <p:nvSpPr>
          <p:cNvPr id="19" name="Text 13">
            <a:extLst>
              <a:ext uri="{FF2B5EF4-FFF2-40B4-BE49-F238E27FC236}">
                <a16:creationId xmlns:a16="http://schemas.microsoft.com/office/drawing/2014/main" id="{610CD4B5-376B-16A0-3E71-FC41DF32FAED}"/>
              </a:ext>
            </a:extLst>
          </p:cNvPr>
          <p:cNvSpPr/>
          <p:nvPr/>
        </p:nvSpPr>
        <p:spPr>
          <a:xfrm>
            <a:off x="2862072" y="2258568"/>
            <a:ext cx="1664208"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400" b="1" dirty="0">
                <a:solidFill>
                  <a:srgbClr val="1C7293"/>
                </a:solidFill>
                <a:latin typeface="Times New Roman" panose="02020603050405020304" pitchFamily="18" charset="0"/>
                <a:ea typeface="Calibri" pitchFamily="34" charset="-122"/>
                <a:cs typeface="Times New Roman" panose="02020603050405020304" pitchFamily="18" charset="0"/>
              </a:rPr>
              <a:t>Face Detection:</a:t>
            </a:r>
            <a:endParaRPr lang="en-US" sz="1400" dirty="0">
              <a:latin typeface="Times New Roman" panose="02020603050405020304" pitchFamily="18" charset="0"/>
              <a:cs typeface="Times New Roman" panose="02020603050405020304" pitchFamily="18" charset="0"/>
            </a:endParaRPr>
          </a:p>
        </p:txBody>
      </p:sp>
      <p:sp>
        <p:nvSpPr>
          <p:cNvPr id="20" name="Text 14">
            <a:extLst>
              <a:ext uri="{FF2B5EF4-FFF2-40B4-BE49-F238E27FC236}">
                <a16:creationId xmlns:a16="http://schemas.microsoft.com/office/drawing/2014/main" id="{51B98742-E572-F2FC-2D1F-732685579B7B}"/>
              </a:ext>
            </a:extLst>
          </p:cNvPr>
          <p:cNvSpPr/>
          <p:nvPr/>
        </p:nvSpPr>
        <p:spPr>
          <a:xfrm>
            <a:off x="4526280" y="2258568"/>
            <a:ext cx="192024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400" dirty="0">
                <a:solidFill>
                  <a:srgbClr val="1A2E3B"/>
                </a:solidFill>
                <a:latin typeface="Times New Roman" panose="02020603050405020304" pitchFamily="18" charset="0"/>
                <a:ea typeface="Calibri" pitchFamily="34" charset="-122"/>
                <a:cs typeface="Times New Roman" panose="02020603050405020304" pitchFamily="18" charset="0"/>
              </a:rPr>
              <a:t>facenet-pytorch (MTCNN)</a:t>
            </a:r>
            <a:endParaRPr lang="en-US" sz="1400" dirty="0">
              <a:latin typeface="Times New Roman" panose="02020603050405020304" pitchFamily="18" charset="0"/>
              <a:cs typeface="Times New Roman" panose="02020603050405020304" pitchFamily="18" charset="0"/>
            </a:endParaRPr>
          </a:p>
        </p:txBody>
      </p:sp>
      <p:sp>
        <p:nvSpPr>
          <p:cNvPr id="21" name="Shape 15">
            <a:extLst>
              <a:ext uri="{FF2B5EF4-FFF2-40B4-BE49-F238E27FC236}">
                <a16:creationId xmlns:a16="http://schemas.microsoft.com/office/drawing/2014/main" id="{2CD9B725-CFB4-65A4-3336-4443A6FE3F4C}"/>
              </a:ext>
            </a:extLst>
          </p:cNvPr>
          <p:cNvSpPr/>
          <p:nvPr/>
        </p:nvSpPr>
        <p:spPr>
          <a:xfrm>
            <a:off x="2697480" y="2715768"/>
            <a:ext cx="91440" cy="320040"/>
          </a:xfrm>
          <a:prstGeom prst="rect">
            <a:avLst/>
          </a:prstGeom>
          <a:solidFill>
            <a:srgbClr val="0070C0"/>
          </a:solidFill>
          <a:ln/>
        </p:spPr>
        <p:txBody>
          <a:bodyPr/>
          <a:lstStyle/>
          <a:p>
            <a:pPr algn="ctr"/>
            <a:endParaRPr lang="en-US" sz="1400">
              <a:latin typeface="Times New Roman" panose="02020603050405020304" pitchFamily="18" charset="0"/>
              <a:cs typeface="Times New Roman" panose="02020603050405020304" pitchFamily="18" charset="0"/>
            </a:endParaRPr>
          </a:p>
        </p:txBody>
      </p:sp>
      <p:sp>
        <p:nvSpPr>
          <p:cNvPr id="22" name="Text 16">
            <a:extLst>
              <a:ext uri="{FF2B5EF4-FFF2-40B4-BE49-F238E27FC236}">
                <a16:creationId xmlns:a16="http://schemas.microsoft.com/office/drawing/2014/main" id="{E99D2CC3-6415-F8B3-6F0D-3E4D62025093}"/>
              </a:ext>
            </a:extLst>
          </p:cNvPr>
          <p:cNvSpPr/>
          <p:nvPr/>
        </p:nvSpPr>
        <p:spPr>
          <a:xfrm>
            <a:off x="2862072" y="2715768"/>
            <a:ext cx="1664208"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400" b="1" dirty="0">
                <a:solidFill>
                  <a:srgbClr val="065A82"/>
                </a:solidFill>
                <a:latin typeface="Times New Roman" panose="02020603050405020304" pitchFamily="18" charset="0"/>
                <a:ea typeface="Calibri" pitchFamily="34" charset="-122"/>
                <a:cs typeface="Times New Roman" panose="02020603050405020304" pitchFamily="18" charset="0"/>
              </a:rPr>
              <a:t>CNN Model:</a:t>
            </a:r>
            <a:endParaRPr lang="en-US" sz="1400" dirty="0">
              <a:latin typeface="Times New Roman" panose="02020603050405020304" pitchFamily="18" charset="0"/>
              <a:cs typeface="Times New Roman" panose="02020603050405020304" pitchFamily="18" charset="0"/>
            </a:endParaRPr>
          </a:p>
        </p:txBody>
      </p:sp>
      <p:sp>
        <p:nvSpPr>
          <p:cNvPr id="23" name="Text 17">
            <a:extLst>
              <a:ext uri="{FF2B5EF4-FFF2-40B4-BE49-F238E27FC236}">
                <a16:creationId xmlns:a16="http://schemas.microsoft.com/office/drawing/2014/main" id="{74487896-CB86-E550-A4ED-CD5B0DAC1045}"/>
              </a:ext>
            </a:extLst>
          </p:cNvPr>
          <p:cNvSpPr/>
          <p:nvPr/>
        </p:nvSpPr>
        <p:spPr>
          <a:xfrm>
            <a:off x="4526280" y="2715768"/>
            <a:ext cx="192024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400" dirty="0">
                <a:solidFill>
                  <a:srgbClr val="1A2E3B"/>
                </a:solidFill>
                <a:latin typeface="Times New Roman" panose="02020603050405020304" pitchFamily="18" charset="0"/>
                <a:ea typeface="Calibri" pitchFamily="34" charset="-122"/>
                <a:cs typeface="Times New Roman" panose="02020603050405020304" pitchFamily="18" charset="0"/>
              </a:rPr>
              <a:t>VGG16 (ImageNet weights)</a:t>
            </a:r>
            <a:endParaRPr lang="en-US" sz="1400" dirty="0">
              <a:latin typeface="Times New Roman" panose="02020603050405020304" pitchFamily="18" charset="0"/>
              <a:cs typeface="Times New Roman" panose="02020603050405020304" pitchFamily="18" charset="0"/>
            </a:endParaRPr>
          </a:p>
        </p:txBody>
      </p:sp>
      <p:sp>
        <p:nvSpPr>
          <p:cNvPr id="24" name="Shape 18">
            <a:extLst>
              <a:ext uri="{FF2B5EF4-FFF2-40B4-BE49-F238E27FC236}">
                <a16:creationId xmlns:a16="http://schemas.microsoft.com/office/drawing/2014/main" id="{07ABB745-814E-582D-E621-22B553B74518}"/>
              </a:ext>
            </a:extLst>
          </p:cNvPr>
          <p:cNvSpPr/>
          <p:nvPr/>
        </p:nvSpPr>
        <p:spPr>
          <a:xfrm>
            <a:off x="2697480" y="3172968"/>
            <a:ext cx="91440" cy="320040"/>
          </a:xfrm>
          <a:prstGeom prst="rect">
            <a:avLst/>
          </a:prstGeom>
          <a:solidFill>
            <a:srgbClr val="0070C0"/>
          </a:solidFill>
          <a:ln/>
        </p:spPr>
        <p:txBody>
          <a:bodyPr/>
          <a:lstStyle/>
          <a:p>
            <a:pPr algn="ctr"/>
            <a:endParaRPr lang="en-US" sz="1400">
              <a:latin typeface="Times New Roman" panose="02020603050405020304" pitchFamily="18" charset="0"/>
              <a:cs typeface="Times New Roman" panose="02020603050405020304" pitchFamily="18" charset="0"/>
            </a:endParaRPr>
          </a:p>
        </p:txBody>
      </p:sp>
      <p:sp>
        <p:nvSpPr>
          <p:cNvPr id="25" name="Text 19">
            <a:extLst>
              <a:ext uri="{FF2B5EF4-FFF2-40B4-BE49-F238E27FC236}">
                <a16:creationId xmlns:a16="http://schemas.microsoft.com/office/drawing/2014/main" id="{6AACFA60-352F-260A-2B9C-AD67B669B5F3}"/>
              </a:ext>
            </a:extLst>
          </p:cNvPr>
          <p:cNvSpPr/>
          <p:nvPr/>
        </p:nvSpPr>
        <p:spPr>
          <a:xfrm>
            <a:off x="2862072" y="3172968"/>
            <a:ext cx="1664208"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400" b="1" dirty="0">
                <a:solidFill>
                  <a:srgbClr val="1C7293"/>
                </a:solidFill>
                <a:latin typeface="Times New Roman" panose="02020603050405020304" pitchFamily="18" charset="0"/>
                <a:ea typeface="Calibri" pitchFamily="34" charset="-122"/>
                <a:cs typeface="Times New Roman" panose="02020603050405020304" pitchFamily="18" charset="0"/>
              </a:rPr>
              <a:t>Explainability:</a:t>
            </a:r>
            <a:endParaRPr lang="en-US" sz="1400" dirty="0">
              <a:latin typeface="Times New Roman" panose="02020603050405020304" pitchFamily="18" charset="0"/>
              <a:cs typeface="Times New Roman" panose="02020603050405020304" pitchFamily="18" charset="0"/>
            </a:endParaRPr>
          </a:p>
        </p:txBody>
      </p:sp>
      <p:sp>
        <p:nvSpPr>
          <p:cNvPr id="26" name="Text 20">
            <a:extLst>
              <a:ext uri="{FF2B5EF4-FFF2-40B4-BE49-F238E27FC236}">
                <a16:creationId xmlns:a16="http://schemas.microsoft.com/office/drawing/2014/main" id="{ECAD684B-71C4-B26E-B6C2-E6D629413ABF}"/>
              </a:ext>
            </a:extLst>
          </p:cNvPr>
          <p:cNvSpPr/>
          <p:nvPr/>
        </p:nvSpPr>
        <p:spPr>
          <a:xfrm>
            <a:off x="4526280" y="3172968"/>
            <a:ext cx="192024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400" dirty="0">
                <a:solidFill>
                  <a:srgbClr val="1A2E3B"/>
                </a:solidFill>
                <a:latin typeface="Times New Roman" panose="02020603050405020304" pitchFamily="18" charset="0"/>
                <a:ea typeface="Calibri" pitchFamily="34" charset="-122"/>
                <a:cs typeface="Times New Roman" panose="02020603050405020304" pitchFamily="18" charset="0"/>
              </a:rPr>
              <a:t>Grad-CAM</a:t>
            </a:r>
            <a:endParaRPr lang="en-US" sz="1400" dirty="0">
              <a:latin typeface="Times New Roman" panose="02020603050405020304" pitchFamily="18" charset="0"/>
              <a:cs typeface="Times New Roman" panose="02020603050405020304" pitchFamily="18" charset="0"/>
            </a:endParaRPr>
          </a:p>
        </p:txBody>
      </p:sp>
      <p:sp>
        <p:nvSpPr>
          <p:cNvPr id="27" name="Shape 21">
            <a:extLst>
              <a:ext uri="{FF2B5EF4-FFF2-40B4-BE49-F238E27FC236}">
                <a16:creationId xmlns:a16="http://schemas.microsoft.com/office/drawing/2014/main" id="{2F74D8DC-2387-878E-0BDC-A12CE0C350B1}"/>
              </a:ext>
            </a:extLst>
          </p:cNvPr>
          <p:cNvSpPr/>
          <p:nvPr/>
        </p:nvSpPr>
        <p:spPr>
          <a:xfrm>
            <a:off x="2697480" y="3630168"/>
            <a:ext cx="91440" cy="320040"/>
          </a:xfrm>
          <a:prstGeom prst="rect">
            <a:avLst/>
          </a:prstGeom>
          <a:solidFill>
            <a:srgbClr val="0070C0"/>
          </a:solidFill>
          <a:ln/>
        </p:spPr>
        <p:txBody>
          <a:bodyPr/>
          <a:lstStyle/>
          <a:p>
            <a:pPr algn="ctr"/>
            <a:endParaRPr lang="en-US" sz="1400">
              <a:latin typeface="Times New Roman" panose="02020603050405020304" pitchFamily="18" charset="0"/>
              <a:cs typeface="Times New Roman" panose="02020603050405020304" pitchFamily="18" charset="0"/>
            </a:endParaRPr>
          </a:p>
        </p:txBody>
      </p:sp>
      <p:sp>
        <p:nvSpPr>
          <p:cNvPr id="28" name="Text 22">
            <a:extLst>
              <a:ext uri="{FF2B5EF4-FFF2-40B4-BE49-F238E27FC236}">
                <a16:creationId xmlns:a16="http://schemas.microsoft.com/office/drawing/2014/main" id="{EEE13C55-D9FC-E881-7DBB-B03E6DEA021A}"/>
              </a:ext>
            </a:extLst>
          </p:cNvPr>
          <p:cNvSpPr/>
          <p:nvPr/>
        </p:nvSpPr>
        <p:spPr>
          <a:xfrm>
            <a:off x="2862072" y="3630168"/>
            <a:ext cx="1664208"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400" b="1" dirty="0">
                <a:solidFill>
                  <a:srgbClr val="065A82"/>
                </a:solidFill>
                <a:latin typeface="Times New Roman" panose="02020603050405020304" pitchFamily="18" charset="0"/>
                <a:ea typeface="Calibri" pitchFamily="34" charset="-122"/>
                <a:cs typeface="Times New Roman" panose="02020603050405020304" pitchFamily="18" charset="0"/>
              </a:rPr>
              <a:t>Frontend:</a:t>
            </a:r>
            <a:endParaRPr lang="en-US" sz="1400" dirty="0">
              <a:latin typeface="Times New Roman" panose="02020603050405020304" pitchFamily="18" charset="0"/>
              <a:cs typeface="Times New Roman" panose="02020603050405020304" pitchFamily="18" charset="0"/>
            </a:endParaRPr>
          </a:p>
        </p:txBody>
      </p:sp>
      <p:sp>
        <p:nvSpPr>
          <p:cNvPr id="29" name="Text 23">
            <a:extLst>
              <a:ext uri="{FF2B5EF4-FFF2-40B4-BE49-F238E27FC236}">
                <a16:creationId xmlns:a16="http://schemas.microsoft.com/office/drawing/2014/main" id="{99AA6065-2E90-ABB4-581A-8CCC396B6E0D}"/>
              </a:ext>
            </a:extLst>
          </p:cNvPr>
          <p:cNvSpPr/>
          <p:nvPr/>
        </p:nvSpPr>
        <p:spPr>
          <a:xfrm>
            <a:off x="4526280" y="3630168"/>
            <a:ext cx="192024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400" dirty="0">
                <a:solidFill>
                  <a:srgbClr val="1A2E3B"/>
                </a:solidFill>
                <a:latin typeface="Times New Roman" panose="02020603050405020304" pitchFamily="18" charset="0"/>
                <a:ea typeface="Calibri" pitchFamily="34" charset="-122"/>
                <a:cs typeface="Times New Roman" panose="02020603050405020304" pitchFamily="18" charset="0"/>
              </a:rPr>
              <a:t>HTML5 · CSS3 · JS</a:t>
            </a:r>
            <a:endParaRPr lang="en-US" sz="1400" dirty="0">
              <a:latin typeface="Times New Roman" panose="02020603050405020304" pitchFamily="18" charset="0"/>
              <a:cs typeface="Times New Roman" panose="02020603050405020304" pitchFamily="18" charset="0"/>
            </a:endParaRPr>
          </a:p>
        </p:txBody>
      </p:sp>
      <p:sp>
        <p:nvSpPr>
          <p:cNvPr id="30" name="Shape 24">
            <a:extLst>
              <a:ext uri="{FF2B5EF4-FFF2-40B4-BE49-F238E27FC236}">
                <a16:creationId xmlns:a16="http://schemas.microsoft.com/office/drawing/2014/main" id="{7F564FAA-9559-5057-A688-37C96E27D72C}"/>
              </a:ext>
            </a:extLst>
          </p:cNvPr>
          <p:cNvSpPr/>
          <p:nvPr/>
        </p:nvSpPr>
        <p:spPr>
          <a:xfrm>
            <a:off x="2697480" y="4087368"/>
            <a:ext cx="91440" cy="320040"/>
          </a:xfrm>
          <a:prstGeom prst="rect">
            <a:avLst/>
          </a:prstGeom>
          <a:solidFill>
            <a:srgbClr val="0070C0"/>
          </a:solidFill>
          <a:ln/>
        </p:spPr>
        <p:txBody>
          <a:bodyPr/>
          <a:lstStyle/>
          <a:p>
            <a:pPr algn="ctr"/>
            <a:endParaRPr lang="en-US" sz="1400">
              <a:latin typeface="Times New Roman" panose="02020603050405020304" pitchFamily="18" charset="0"/>
              <a:cs typeface="Times New Roman" panose="02020603050405020304" pitchFamily="18" charset="0"/>
            </a:endParaRPr>
          </a:p>
        </p:txBody>
      </p:sp>
      <p:sp>
        <p:nvSpPr>
          <p:cNvPr id="31" name="Text 25">
            <a:extLst>
              <a:ext uri="{FF2B5EF4-FFF2-40B4-BE49-F238E27FC236}">
                <a16:creationId xmlns:a16="http://schemas.microsoft.com/office/drawing/2014/main" id="{F92D8E51-130C-8163-AA59-16FBB8975802}"/>
              </a:ext>
            </a:extLst>
          </p:cNvPr>
          <p:cNvSpPr/>
          <p:nvPr/>
        </p:nvSpPr>
        <p:spPr>
          <a:xfrm>
            <a:off x="2862072" y="4087368"/>
            <a:ext cx="1664208"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400" b="1" dirty="0">
                <a:solidFill>
                  <a:srgbClr val="1C7293"/>
                </a:solidFill>
                <a:latin typeface="Times New Roman" panose="02020603050405020304" pitchFamily="18" charset="0"/>
                <a:ea typeface="Calibri" pitchFamily="34" charset="-122"/>
                <a:cs typeface="Times New Roman" panose="02020603050405020304" pitchFamily="18" charset="0"/>
              </a:rPr>
              <a:t>Dataset:</a:t>
            </a:r>
            <a:endParaRPr lang="en-US" sz="1400" dirty="0">
              <a:latin typeface="Times New Roman" panose="02020603050405020304" pitchFamily="18" charset="0"/>
              <a:cs typeface="Times New Roman" panose="02020603050405020304" pitchFamily="18" charset="0"/>
            </a:endParaRPr>
          </a:p>
        </p:txBody>
      </p:sp>
      <p:sp>
        <p:nvSpPr>
          <p:cNvPr id="64" name="Text 26">
            <a:extLst>
              <a:ext uri="{FF2B5EF4-FFF2-40B4-BE49-F238E27FC236}">
                <a16:creationId xmlns:a16="http://schemas.microsoft.com/office/drawing/2014/main" id="{DEA67192-C40D-EACC-898F-1CBAC59E5CBC}"/>
              </a:ext>
            </a:extLst>
          </p:cNvPr>
          <p:cNvSpPr/>
          <p:nvPr/>
        </p:nvSpPr>
        <p:spPr>
          <a:xfrm>
            <a:off x="4526280" y="4087368"/>
            <a:ext cx="192024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400" dirty="0">
                <a:solidFill>
                  <a:srgbClr val="1A2E3B"/>
                </a:solidFill>
                <a:latin typeface="Times New Roman" panose="02020603050405020304" pitchFamily="18" charset="0"/>
                <a:ea typeface="Calibri" pitchFamily="34" charset="-122"/>
                <a:cs typeface="Times New Roman" panose="02020603050405020304" pitchFamily="18" charset="0"/>
              </a:rPr>
              <a:t>RealVsFake_81k (Kaggle)</a:t>
            </a:r>
            <a:endParaRPr lang="en-US" sz="1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256032"/>
          </a:xfrm>
          <a:prstGeom prst="rect">
            <a:avLst/>
          </a:prstGeom>
          <a:solidFill>
            <a:srgbClr val="1F3864"/>
          </a:solidFill>
          <a:ln w="12700">
            <a:solidFill>
              <a:srgbClr val="1F3864"/>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3" name="Text 1"/>
          <p:cNvSpPr/>
          <p:nvPr/>
        </p:nvSpPr>
        <p:spPr>
          <a:xfrm>
            <a:off x="274320" y="0"/>
            <a:ext cx="7132320" cy="256032"/>
          </a:xfrm>
          <a:prstGeom prst="rect">
            <a:avLst/>
          </a:prstGeom>
          <a:noFill/>
          <a:ln/>
        </p:spPr>
        <p:txBody>
          <a:bodyPr wrap="square" lIns="0" tIns="0" rIns="0" bIns="0" rtlCol="0" anchor="ctr"/>
          <a:lstStyle/>
          <a:p>
            <a:pPr marL="0" indent="0">
              <a:buNone/>
            </a:pPr>
            <a:r>
              <a:rPr lang="en-US" sz="850" dirty="0">
                <a:solidFill>
                  <a:srgbClr val="FFFFFF"/>
                </a:solidFill>
                <a:latin typeface="Times New Roman" panose="02020603050405020304" pitchFamily="18" charset="0"/>
                <a:cs typeface="Times New Roman" panose="02020603050405020304" pitchFamily="18" charset="0"/>
              </a:rPr>
              <a:t>Deepfake Image Detection System  |  TM471B — May 2026</a:t>
            </a:r>
            <a:endParaRPr lang="en-US" sz="850" dirty="0">
              <a:latin typeface="Times New Roman" panose="02020603050405020304" pitchFamily="18" charset="0"/>
              <a:cs typeface="Times New Roman" panose="02020603050405020304" pitchFamily="18" charset="0"/>
            </a:endParaRPr>
          </a:p>
        </p:txBody>
      </p:sp>
      <p:sp>
        <p:nvSpPr>
          <p:cNvPr id="4" name="Shape 2"/>
          <p:cNvSpPr/>
          <p:nvPr/>
        </p:nvSpPr>
        <p:spPr>
          <a:xfrm>
            <a:off x="8138160" y="27432"/>
            <a:ext cx="749808" cy="201168"/>
          </a:xfrm>
          <a:prstGeom prst="rect">
            <a:avLst/>
          </a:prstGeom>
          <a:solidFill>
            <a:srgbClr val="1A4F9E"/>
          </a:solidFill>
          <a:ln w="12700">
            <a:solidFill>
              <a:srgbClr val="FFFFFF"/>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5" name="Text 3"/>
          <p:cNvSpPr/>
          <p:nvPr/>
        </p:nvSpPr>
        <p:spPr>
          <a:xfrm>
            <a:off x="8138160" y="27432"/>
            <a:ext cx="749808"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Times New Roman" panose="02020603050405020304" pitchFamily="18" charset="0"/>
                <a:cs typeface="Times New Roman" panose="02020603050405020304" pitchFamily="18" charset="0"/>
              </a:rPr>
              <a:t>AOU</a:t>
            </a:r>
            <a:endParaRPr lang="en-US" sz="800" dirty="0">
              <a:latin typeface="Times New Roman" panose="02020603050405020304" pitchFamily="18" charset="0"/>
              <a:cs typeface="Times New Roman" panose="02020603050405020304" pitchFamily="18" charset="0"/>
            </a:endParaRPr>
          </a:p>
        </p:txBody>
      </p:sp>
      <p:sp>
        <p:nvSpPr>
          <p:cNvPr id="6" name="Text 4"/>
          <p:cNvSpPr/>
          <p:nvPr/>
        </p:nvSpPr>
        <p:spPr>
          <a:xfrm>
            <a:off x="8778240" y="4919472"/>
            <a:ext cx="320040" cy="182880"/>
          </a:xfrm>
          <a:prstGeom prst="rect">
            <a:avLst/>
          </a:prstGeom>
          <a:noFill/>
          <a:ln/>
        </p:spPr>
        <p:txBody>
          <a:bodyPr wrap="square" lIns="0" tIns="0" rIns="0" bIns="0" rtlCol="0" anchor="ctr"/>
          <a:lstStyle/>
          <a:p>
            <a:pPr marL="0" indent="0" algn="r">
              <a:buNone/>
            </a:pPr>
            <a:r>
              <a:rPr lang="en-US" sz="900" dirty="0">
                <a:solidFill>
                  <a:srgbClr val="475569"/>
                </a:solidFill>
                <a:latin typeface="Times New Roman" panose="02020603050405020304" pitchFamily="18" charset="0"/>
                <a:cs typeface="Times New Roman" panose="02020603050405020304" pitchFamily="18" charset="0"/>
              </a:rPr>
              <a:t>7</a:t>
            </a:r>
            <a:endParaRPr lang="en-US" sz="900" dirty="0">
              <a:latin typeface="Times New Roman" panose="02020603050405020304" pitchFamily="18" charset="0"/>
              <a:cs typeface="Times New Roman" panose="02020603050405020304" pitchFamily="18" charset="0"/>
            </a:endParaRPr>
          </a:p>
        </p:txBody>
      </p:sp>
      <p:sp>
        <p:nvSpPr>
          <p:cNvPr id="7" name="Text 5"/>
          <p:cNvSpPr/>
          <p:nvPr/>
        </p:nvSpPr>
        <p:spPr>
          <a:xfrm>
            <a:off x="411480" y="320040"/>
            <a:ext cx="8321040" cy="457200"/>
          </a:xfrm>
          <a:prstGeom prst="rect">
            <a:avLst/>
          </a:prstGeom>
          <a:noFill/>
          <a:ln/>
        </p:spPr>
        <p:txBody>
          <a:bodyPr wrap="square" lIns="0" tIns="0" rIns="0" bIns="0" rtlCol="0" anchor="ctr"/>
          <a:lstStyle/>
          <a:p>
            <a:pPr marL="0" indent="0">
              <a:buNone/>
            </a:pPr>
            <a:r>
              <a:rPr lang="en-US" sz="2300" b="1" dirty="0">
                <a:solidFill>
                  <a:srgbClr val="0056B3"/>
                </a:solidFill>
                <a:latin typeface="Times New Roman" panose="02020603050405020304" pitchFamily="18" charset="0"/>
                <a:cs typeface="Times New Roman" panose="02020603050405020304" pitchFamily="18" charset="0"/>
              </a:rPr>
              <a:t>Comparison with Existing Tools</a:t>
            </a:r>
            <a:endParaRPr lang="en-US" sz="2300" dirty="0">
              <a:latin typeface="Times New Roman" panose="02020603050405020304" pitchFamily="18" charset="0"/>
              <a:cs typeface="Times New Roman" panose="02020603050405020304" pitchFamily="18" charset="0"/>
            </a:endParaRPr>
          </a:p>
        </p:txBody>
      </p:sp>
      <p:sp>
        <p:nvSpPr>
          <p:cNvPr id="8" name="Shape 6"/>
          <p:cNvSpPr/>
          <p:nvPr/>
        </p:nvSpPr>
        <p:spPr>
          <a:xfrm>
            <a:off x="411480" y="795528"/>
            <a:ext cx="8321040" cy="22860"/>
          </a:xfrm>
          <a:prstGeom prst="rect">
            <a:avLst/>
          </a:prstGeom>
          <a:solidFill>
            <a:srgbClr val="0056B3"/>
          </a:solidFill>
          <a:ln w="12700">
            <a:solidFill>
              <a:srgbClr val="0056B3"/>
            </a:solidFill>
            <a:prstDash val="solid"/>
          </a:ln>
        </p:spPr>
        <p:txBody>
          <a:bodyPr/>
          <a:lstStyle/>
          <a:p>
            <a:endParaRPr lang="en-US">
              <a:latin typeface="Times New Roman" panose="02020603050405020304" pitchFamily="18" charset="0"/>
              <a:cs typeface="Times New Roman" panose="02020603050405020304" pitchFamily="18" charset="0"/>
            </a:endParaRPr>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320040" y="932688"/>
          <a:ext cx="8503920" cy="3867912"/>
        </p:xfrm>
        <a:graphic>
          <a:graphicData uri="http://schemas.openxmlformats.org/drawingml/2006/table">
            <a:tbl>
              <a:tblPr/>
              <a:tblGrid>
                <a:gridCol w="1828800">
                  <a:extLst>
                    <a:ext uri="{9D8B030D-6E8A-4147-A177-3AD203B41FA5}">
                      <a16:colId xmlns:a16="http://schemas.microsoft.com/office/drawing/2014/main" val="20000"/>
                    </a:ext>
                  </a:extLst>
                </a:gridCol>
                <a:gridCol w="1691640">
                  <a:extLst>
                    <a:ext uri="{9D8B030D-6E8A-4147-A177-3AD203B41FA5}">
                      <a16:colId xmlns:a16="http://schemas.microsoft.com/office/drawing/2014/main" val="20001"/>
                    </a:ext>
                  </a:extLst>
                </a:gridCol>
                <a:gridCol w="1508760">
                  <a:extLst>
                    <a:ext uri="{9D8B030D-6E8A-4147-A177-3AD203B41FA5}">
                      <a16:colId xmlns:a16="http://schemas.microsoft.com/office/drawing/2014/main" val="20002"/>
                    </a:ext>
                  </a:extLst>
                </a:gridCol>
                <a:gridCol w="1691640">
                  <a:extLst>
                    <a:ext uri="{9D8B030D-6E8A-4147-A177-3AD203B41FA5}">
                      <a16:colId xmlns:a16="http://schemas.microsoft.com/office/drawing/2014/main" val="20003"/>
                    </a:ext>
                  </a:extLst>
                </a:gridCol>
                <a:gridCol w="1783080">
                  <a:extLst>
                    <a:ext uri="{9D8B030D-6E8A-4147-A177-3AD203B41FA5}">
                      <a16:colId xmlns:a16="http://schemas.microsoft.com/office/drawing/2014/main" val="20004"/>
                    </a:ext>
                  </a:extLst>
                </a:gridCol>
              </a:tblGrid>
              <a:tr h="429768">
                <a:tc>
                  <a:txBody>
                    <a:bodyPr/>
                    <a:lstStyle/>
                    <a:p>
                      <a:pPr marL="0" indent="0" algn="ctr">
                        <a:buNone/>
                      </a:pPr>
                      <a:r>
                        <a:rPr lang="en-US" sz="950" b="1" dirty="0">
                          <a:solidFill>
                            <a:srgbClr val="FFFFFF"/>
                          </a:solidFill>
                        </a:rPr>
                        <a:t>Feature</a:t>
                      </a:r>
                      <a:endParaRPr lang="en-US" sz="950" dirty="0"/>
                    </a:p>
                  </a:txBody>
                  <a:tcPr anchor="ctr">
                    <a:lnL w="10160" cap="flat" cmpd="sng" algn="ctr">
                      <a:solidFill>
                        <a:srgbClr val="BFDBFE"/>
                      </a:solidFill>
                      <a:prstDash val="solid"/>
                      <a:round/>
                      <a:headEnd type="none" w="med" len="med"/>
                      <a:tailEnd type="none" w="med" len="med"/>
                    </a:lnL>
                    <a:lnR w="10160" cap="flat" cmpd="sng" algn="ctr">
                      <a:solidFill>
                        <a:srgbClr val="BFDBFE"/>
                      </a:solidFill>
                      <a:prstDash val="solid"/>
                      <a:round/>
                      <a:headEnd type="none" w="med" len="med"/>
                      <a:tailEnd type="none" w="med" len="med"/>
                    </a:lnR>
                    <a:lnT w="10160" cap="flat" cmpd="sng" algn="ctr">
                      <a:solidFill>
                        <a:srgbClr val="BFDBFE"/>
                      </a:solidFill>
                      <a:prstDash val="solid"/>
                      <a:round/>
                      <a:headEnd type="none" w="med" len="med"/>
                      <a:tailEnd type="none" w="med" len="med"/>
                    </a:lnT>
                    <a:lnB w="10160" cap="flat" cmpd="sng" algn="ctr">
                      <a:solidFill>
                        <a:srgbClr val="BFDBFE"/>
                      </a:solidFill>
                      <a:prstDash val="solid"/>
                      <a:round/>
                      <a:headEnd type="none" w="med" len="med"/>
                      <a:tailEnd type="none" w="med" len="med"/>
                    </a:lnB>
                    <a:solidFill>
                      <a:srgbClr val="1F3864"/>
                    </a:solidFill>
                  </a:tcPr>
                </a:tc>
                <a:tc>
                  <a:txBody>
                    <a:bodyPr/>
                    <a:lstStyle/>
                    <a:p>
                      <a:pPr marL="0" indent="0" algn="ctr">
                        <a:buNone/>
                      </a:pPr>
                      <a:r>
                        <a:rPr lang="en-US" sz="950" b="1" dirty="0">
                          <a:solidFill>
                            <a:srgbClr val="FFFFFF"/>
                          </a:solidFill>
                        </a:rPr>
                        <a:t>This System</a:t>
                      </a:r>
                      <a:endParaRPr lang="en-US" sz="950" dirty="0"/>
                    </a:p>
                    <a:p>
                      <a:pPr marL="0" indent="0" algn="ctr">
                        <a:buNone/>
                      </a:pPr>
                      <a:r>
                        <a:rPr lang="en-US" sz="950" b="1" dirty="0">
                          <a:solidFill>
                            <a:srgbClr val="FFFFFF"/>
                          </a:solidFill>
                        </a:rPr>
                        <a:t>(DeepScan)</a:t>
                      </a:r>
                      <a:endParaRPr lang="en-US" sz="950" dirty="0"/>
                    </a:p>
                  </a:txBody>
                  <a:tcPr anchor="ctr">
                    <a:lnL w="10160" cap="flat" cmpd="sng" algn="ctr">
                      <a:solidFill>
                        <a:srgbClr val="BFDBFE"/>
                      </a:solidFill>
                      <a:prstDash val="solid"/>
                      <a:round/>
                      <a:headEnd type="none" w="med" len="med"/>
                      <a:tailEnd type="none" w="med" len="med"/>
                    </a:lnL>
                    <a:lnR w="10160" cap="flat" cmpd="sng" algn="ctr">
                      <a:solidFill>
                        <a:srgbClr val="BFDBFE"/>
                      </a:solidFill>
                      <a:prstDash val="solid"/>
                      <a:round/>
                      <a:headEnd type="none" w="med" len="med"/>
                      <a:tailEnd type="none" w="med" len="med"/>
                    </a:lnR>
                    <a:lnT w="10160" cap="flat" cmpd="sng" algn="ctr">
                      <a:solidFill>
                        <a:srgbClr val="BFDBFE"/>
                      </a:solidFill>
                      <a:prstDash val="solid"/>
                      <a:round/>
                      <a:headEnd type="none" w="med" len="med"/>
                      <a:tailEnd type="none" w="med" len="med"/>
                    </a:lnT>
                    <a:lnB w="10160" cap="flat" cmpd="sng" algn="ctr">
                      <a:solidFill>
                        <a:srgbClr val="BFDBFE"/>
                      </a:solidFill>
                      <a:prstDash val="solid"/>
                      <a:round/>
                      <a:headEnd type="none" w="med" len="med"/>
                      <a:tailEnd type="none" w="med" len="med"/>
                    </a:lnB>
                    <a:solidFill>
                      <a:srgbClr val="0056B3"/>
                    </a:solidFill>
                  </a:tcPr>
                </a:tc>
                <a:tc>
                  <a:txBody>
                    <a:bodyPr/>
                    <a:lstStyle/>
                    <a:p>
                      <a:pPr marL="0" indent="0" algn="ctr">
                        <a:buNone/>
                      </a:pPr>
                      <a:r>
                        <a:rPr lang="en-US" sz="950" b="1" dirty="0">
                          <a:solidFill>
                            <a:srgbClr val="FFFFFF"/>
                          </a:solidFill>
                        </a:rPr>
                        <a:t>Sensity AI</a:t>
                      </a:r>
                      <a:endParaRPr lang="en-US" sz="950" dirty="0"/>
                    </a:p>
                  </a:txBody>
                  <a:tcPr anchor="ctr">
                    <a:lnL w="10160" cap="flat" cmpd="sng" algn="ctr">
                      <a:solidFill>
                        <a:srgbClr val="BFDBFE"/>
                      </a:solidFill>
                      <a:prstDash val="solid"/>
                      <a:round/>
                      <a:headEnd type="none" w="med" len="med"/>
                      <a:tailEnd type="none" w="med" len="med"/>
                    </a:lnL>
                    <a:lnR w="10160" cap="flat" cmpd="sng" algn="ctr">
                      <a:solidFill>
                        <a:srgbClr val="BFDBFE"/>
                      </a:solidFill>
                      <a:prstDash val="solid"/>
                      <a:round/>
                      <a:headEnd type="none" w="med" len="med"/>
                      <a:tailEnd type="none" w="med" len="med"/>
                    </a:lnR>
                    <a:lnT w="10160" cap="flat" cmpd="sng" algn="ctr">
                      <a:solidFill>
                        <a:srgbClr val="BFDBFE"/>
                      </a:solidFill>
                      <a:prstDash val="solid"/>
                      <a:round/>
                      <a:headEnd type="none" w="med" len="med"/>
                      <a:tailEnd type="none" w="med" len="med"/>
                    </a:lnT>
                    <a:lnB w="10160" cap="flat" cmpd="sng" algn="ctr">
                      <a:solidFill>
                        <a:srgbClr val="BFDBFE"/>
                      </a:solidFill>
                      <a:prstDash val="solid"/>
                      <a:round/>
                      <a:headEnd type="none" w="med" len="med"/>
                      <a:tailEnd type="none" w="med" len="med"/>
                    </a:lnB>
                    <a:solidFill>
                      <a:srgbClr val="1F3864"/>
                    </a:solidFill>
                  </a:tcPr>
                </a:tc>
                <a:tc>
                  <a:txBody>
                    <a:bodyPr/>
                    <a:lstStyle/>
                    <a:p>
                      <a:pPr marL="0" indent="0" algn="ctr">
                        <a:buNone/>
                      </a:pPr>
                      <a:r>
                        <a:rPr lang="en-US" sz="950" b="1" dirty="0">
                          <a:solidFill>
                            <a:srgbClr val="FFFFFF"/>
                          </a:solidFill>
                        </a:rPr>
                        <a:t>Deepware Scanner</a:t>
                      </a:r>
                      <a:endParaRPr lang="en-US" sz="950" dirty="0"/>
                    </a:p>
                  </a:txBody>
                  <a:tcPr anchor="ctr">
                    <a:lnL w="10160" cap="flat" cmpd="sng" algn="ctr">
                      <a:solidFill>
                        <a:srgbClr val="BFDBFE"/>
                      </a:solidFill>
                      <a:prstDash val="solid"/>
                      <a:round/>
                      <a:headEnd type="none" w="med" len="med"/>
                      <a:tailEnd type="none" w="med" len="med"/>
                    </a:lnL>
                    <a:lnR w="10160" cap="flat" cmpd="sng" algn="ctr">
                      <a:solidFill>
                        <a:srgbClr val="BFDBFE"/>
                      </a:solidFill>
                      <a:prstDash val="solid"/>
                      <a:round/>
                      <a:headEnd type="none" w="med" len="med"/>
                      <a:tailEnd type="none" w="med" len="med"/>
                    </a:lnR>
                    <a:lnT w="10160" cap="flat" cmpd="sng" algn="ctr">
                      <a:solidFill>
                        <a:srgbClr val="BFDBFE"/>
                      </a:solidFill>
                      <a:prstDash val="solid"/>
                      <a:round/>
                      <a:headEnd type="none" w="med" len="med"/>
                      <a:tailEnd type="none" w="med" len="med"/>
                    </a:lnT>
                    <a:lnB w="10160" cap="flat" cmpd="sng" algn="ctr">
                      <a:solidFill>
                        <a:srgbClr val="BFDBFE"/>
                      </a:solidFill>
                      <a:prstDash val="solid"/>
                      <a:round/>
                      <a:headEnd type="none" w="med" len="med"/>
                      <a:tailEnd type="none" w="med" len="med"/>
                    </a:lnB>
                    <a:solidFill>
                      <a:srgbClr val="1F3864"/>
                    </a:solidFill>
                  </a:tcPr>
                </a:tc>
                <a:tc>
                  <a:txBody>
                    <a:bodyPr/>
                    <a:lstStyle/>
                    <a:p>
                      <a:pPr marL="0" indent="0" algn="ctr">
                        <a:buNone/>
                      </a:pPr>
                      <a:r>
                        <a:rPr lang="en-US" sz="950" b="1" dirty="0">
                          <a:solidFill>
                            <a:srgbClr val="FFFFFF"/>
                          </a:solidFill>
                        </a:rPr>
                        <a:t>MS Video</a:t>
                      </a:r>
                      <a:endParaRPr lang="en-US" sz="950" dirty="0"/>
                    </a:p>
                    <a:p>
                      <a:pPr marL="0" indent="0" algn="ctr">
                        <a:buNone/>
                      </a:pPr>
                      <a:r>
                        <a:rPr lang="en-US" sz="950" b="1" dirty="0">
                          <a:solidFill>
                            <a:srgbClr val="FFFFFF"/>
                          </a:solidFill>
                        </a:rPr>
                        <a:t>Authenticator</a:t>
                      </a:r>
                      <a:endParaRPr lang="en-US" sz="950" dirty="0"/>
                    </a:p>
                  </a:txBody>
                  <a:tcPr anchor="ctr">
                    <a:lnL w="10160" cap="flat" cmpd="sng" algn="ctr">
                      <a:solidFill>
                        <a:srgbClr val="BFDBFE"/>
                      </a:solidFill>
                      <a:prstDash val="solid"/>
                      <a:round/>
                      <a:headEnd type="none" w="med" len="med"/>
                      <a:tailEnd type="none" w="med" len="med"/>
                    </a:lnL>
                    <a:lnR w="10160" cap="flat" cmpd="sng" algn="ctr">
                      <a:solidFill>
                        <a:srgbClr val="BFDBFE"/>
                      </a:solidFill>
                      <a:prstDash val="solid"/>
                      <a:round/>
                      <a:headEnd type="none" w="med" len="med"/>
                      <a:tailEnd type="none" w="med" len="med"/>
                    </a:lnR>
                    <a:lnT w="10160" cap="flat" cmpd="sng" algn="ctr">
                      <a:solidFill>
                        <a:srgbClr val="BFDBFE"/>
                      </a:solidFill>
                      <a:prstDash val="solid"/>
                      <a:round/>
                      <a:headEnd type="none" w="med" len="med"/>
                      <a:tailEnd type="none" w="med" len="med"/>
                    </a:lnT>
                    <a:lnB w="10160" cap="flat" cmpd="sng" algn="ctr">
                      <a:solidFill>
                        <a:srgbClr val="BFDBFE"/>
                      </a:solidFill>
                      <a:prstDash val="solid"/>
                      <a:round/>
                      <a:headEnd type="none" w="med" len="med"/>
                      <a:tailEnd type="none" w="med" len="med"/>
                    </a:lnB>
                    <a:solidFill>
                      <a:srgbClr val="1F3864"/>
                    </a:solidFill>
                  </a:tcPr>
                </a:tc>
                <a:extLst>
                  <a:ext uri="{0D108BD9-81ED-4DB2-BD59-A6C34878D82A}">
                    <a16:rowId xmlns:a16="http://schemas.microsoft.com/office/drawing/2014/main" val="10000"/>
                  </a:ext>
                </a:extLst>
              </a:tr>
              <a:tr h="429768">
                <a:tc>
                  <a:txBody>
                    <a:bodyPr/>
                    <a:lstStyle/>
                    <a:p>
                      <a:pPr marL="0" indent="0" algn="ctr">
                        <a:buNone/>
                      </a:pPr>
                      <a:r>
                        <a:rPr lang="en-US" sz="1000" dirty="0">
                          <a:solidFill>
                            <a:srgbClr val="1E293B"/>
                          </a:solidFill>
                        </a:rPr>
                        <a:t>Visual Explainability (Grad-CAM)</a:t>
                      </a:r>
                      <a:endParaRPr lang="en-US" sz="1000" dirty="0"/>
                    </a:p>
                  </a:txBody>
                  <a:tcPr anchor="ctr">
                    <a:lnL w="10160" cap="flat" cmpd="sng" algn="ctr">
                      <a:solidFill>
                        <a:srgbClr val="BFDBFE"/>
                      </a:solidFill>
                      <a:prstDash val="solid"/>
                      <a:round/>
                      <a:headEnd type="none" w="med" len="med"/>
                      <a:tailEnd type="none" w="med" len="med"/>
                    </a:lnL>
                    <a:lnR w="10160" cap="flat" cmpd="sng" algn="ctr">
                      <a:solidFill>
                        <a:srgbClr val="BFDBFE"/>
                      </a:solidFill>
                      <a:prstDash val="solid"/>
                      <a:round/>
                      <a:headEnd type="none" w="med" len="med"/>
                      <a:tailEnd type="none" w="med" len="med"/>
                    </a:lnR>
                    <a:lnT w="10160" cap="flat" cmpd="sng" algn="ctr">
                      <a:solidFill>
                        <a:srgbClr val="BFDBFE"/>
                      </a:solidFill>
                      <a:prstDash val="solid"/>
                      <a:round/>
                      <a:headEnd type="none" w="med" len="med"/>
                      <a:tailEnd type="none" w="med" len="med"/>
                    </a:lnT>
                    <a:lnB w="10160" cap="flat" cmpd="sng" algn="ctr">
                      <a:solidFill>
                        <a:srgbClr val="BFDBFE"/>
                      </a:solidFill>
                      <a:prstDash val="solid"/>
                      <a:round/>
                      <a:headEnd type="none" w="med" len="med"/>
                      <a:tailEnd type="none" w="med" len="med"/>
                    </a:lnB>
                    <a:solidFill>
                      <a:srgbClr val="F0F6FF"/>
                    </a:solidFill>
                  </a:tcPr>
                </a:tc>
                <a:tc>
                  <a:txBody>
                    <a:bodyPr/>
                    <a:lstStyle/>
                    <a:p>
                      <a:pPr marL="0" indent="0" algn="ctr">
                        <a:buNone/>
                      </a:pPr>
                      <a:r>
                        <a:rPr lang="en-US" sz="1000" b="1" dirty="0">
                          <a:solidFill>
                            <a:srgbClr val="16A34A"/>
                          </a:solidFill>
                        </a:rPr>
                        <a:t>✓ Yes</a:t>
                      </a:r>
                      <a:endParaRPr lang="en-US" sz="1000" dirty="0"/>
                    </a:p>
                  </a:txBody>
                  <a:tcPr anchor="ctr">
                    <a:lnL w="10160" cap="flat" cmpd="sng" algn="ctr">
                      <a:solidFill>
                        <a:srgbClr val="BFDBFE"/>
                      </a:solidFill>
                      <a:prstDash val="solid"/>
                      <a:round/>
                      <a:headEnd type="none" w="med" len="med"/>
                      <a:tailEnd type="none" w="med" len="med"/>
                    </a:lnL>
                    <a:lnR w="10160" cap="flat" cmpd="sng" algn="ctr">
                      <a:solidFill>
                        <a:srgbClr val="BFDBFE"/>
                      </a:solidFill>
                      <a:prstDash val="solid"/>
                      <a:round/>
                      <a:headEnd type="none" w="med" len="med"/>
                      <a:tailEnd type="none" w="med" len="med"/>
                    </a:lnR>
                    <a:lnT w="10160" cap="flat" cmpd="sng" algn="ctr">
                      <a:solidFill>
                        <a:srgbClr val="BFDBFE"/>
                      </a:solidFill>
                      <a:prstDash val="solid"/>
                      <a:round/>
                      <a:headEnd type="none" w="med" len="med"/>
                      <a:tailEnd type="none" w="med" len="med"/>
                    </a:lnT>
                    <a:lnB w="10160" cap="flat" cmpd="sng" algn="ctr">
                      <a:solidFill>
                        <a:srgbClr val="BFDBFE"/>
                      </a:solidFill>
                      <a:prstDash val="solid"/>
                      <a:round/>
                      <a:headEnd type="none" w="med" len="med"/>
                      <a:tailEnd type="none" w="med" len="med"/>
                    </a:lnB>
                    <a:solidFill>
                      <a:srgbClr val="F0F6FF"/>
                    </a:solidFill>
                  </a:tcPr>
                </a:tc>
                <a:tc>
                  <a:txBody>
                    <a:bodyPr/>
                    <a:lstStyle/>
                    <a:p>
                      <a:pPr marL="0" indent="0" algn="ctr">
                        <a:buNone/>
                      </a:pPr>
                      <a:r>
                        <a:rPr lang="en-US" sz="1000" b="1" dirty="0">
                          <a:solidFill>
                            <a:srgbClr val="DC2626"/>
                          </a:solidFill>
                        </a:rPr>
                        <a:t>✗ No</a:t>
                      </a:r>
                      <a:endParaRPr lang="en-US" sz="1000" dirty="0"/>
                    </a:p>
                  </a:txBody>
                  <a:tcPr anchor="ctr">
                    <a:lnL w="10160" cap="flat" cmpd="sng" algn="ctr">
                      <a:solidFill>
                        <a:srgbClr val="BFDBFE"/>
                      </a:solidFill>
                      <a:prstDash val="solid"/>
                      <a:round/>
                      <a:headEnd type="none" w="med" len="med"/>
                      <a:tailEnd type="none" w="med" len="med"/>
                    </a:lnL>
                    <a:lnR w="10160" cap="flat" cmpd="sng" algn="ctr">
                      <a:solidFill>
                        <a:srgbClr val="BFDBFE"/>
                      </a:solidFill>
                      <a:prstDash val="solid"/>
                      <a:round/>
                      <a:headEnd type="none" w="med" len="med"/>
                      <a:tailEnd type="none" w="med" len="med"/>
                    </a:lnR>
                    <a:lnT w="10160" cap="flat" cmpd="sng" algn="ctr">
                      <a:solidFill>
                        <a:srgbClr val="BFDBFE"/>
                      </a:solidFill>
                      <a:prstDash val="solid"/>
                      <a:round/>
                      <a:headEnd type="none" w="med" len="med"/>
                      <a:tailEnd type="none" w="med" len="med"/>
                    </a:lnT>
                    <a:lnB w="10160" cap="flat" cmpd="sng" algn="ctr">
                      <a:solidFill>
                        <a:srgbClr val="BFDBFE"/>
                      </a:solidFill>
                      <a:prstDash val="solid"/>
                      <a:round/>
                      <a:headEnd type="none" w="med" len="med"/>
                      <a:tailEnd type="none" w="med" len="med"/>
                    </a:lnB>
                    <a:solidFill>
                      <a:srgbClr val="F0F6FF"/>
                    </a:solidFill>
                  </a:tcPr>
                </a:tc>
                <a:tc>
                  <a:txBody>
                    <a:bodyPr/>
                    <a:lstStyle/>
                    <a:p>
                      <a:pPr marL="0" indent="0" algn="ctr">
                        <a:buNone/>
                      </a:pPr>
                      <a:r>
                        <a:rPr lang="en-US" sz="1000" b="1" dirty="0">
                          <a:solidFill>
                            <a:srgbClr val="DC2626"/>
                          </a:solidFill>
                        </a:rPr>
                        <a:t>✗ No</a:t>
                      </a:r>
                      <a:endParaRPr lang="en-US" sz="1000" dirty="0"/>
                    </a:p>
                  </a:txBody>
                  <a:tcPr anchor="ctr">
                    <a:lnL w="10160" cap="flat" cmpd="sng" algn="ctr">
                      <a:solidFill>
                        <a:srgbClr val="BFDBFE"/>
                      </a:solidFill>
                      <a:prstDash val="solid"/>
                      <a:round/>
                      <a:headEnd type="none" w="med" len="med"/>
                      <a:tailEnd type="none" w="med" len="med"/>
                    </a:lnL>
                    <a:lnR w="10160" cap="flat" cmpd="sng" algn="ctr">
                      <a:solidFill>
                        <a:srgbClr val="BFDBFE"/>
                      </a:solidFill>
                      <a:prstDash val="solid"/>
                      <a:round/>
                      <a:headEnd type="none" w="med" len="med"/>
                      <a:tailEnd type="none" w="med" len="med"/>
                    </a:lnR>
                    <a:lnT w="10160" cap="flat" cmpd="sng" algn="ctr">
                      <a:solidFill>
                        <a:srgbClr val="BFDBFE"/>
                      </a:solidFill>
                      <a:prstDash val="solid"/>
                      <a:round/>
                      <a:headEnd type="none" w="med" len="med"/>
                      <a:tailEnd type="none" w="med" len="med"/>
                    </a:lnT>
                    <a:lnB w="10160" cap="flat" cmpd="sng" algn="ctr">
                      <a:solidFill>
                        <a:srgbClr val="BFDBFE"/>
                      </a:solidFill>
                      <a:prstDash val="solid"/>
                      <a:round/>
                      <a:headEnd type="none" w="med" len="med"/>
                      <a:tailEnd type="none" w="med" len="med"/>
                    </a:lnB>
                    <a:solidFill>
                      <a:srgbClr val="F0F6FF"/>
                    </a:solidFill>
                  </a:tcPr>
                </a:tc>
                <a:tc>
                  <a:txBody>
                    <a:bodyPr/>
                    <a:lstStyle/>
                    <a:p>
                      <a:pPr marL="0" indent="0" algn="ctr">
                        <a:buNone/>
                      </a:pPr>
                      <a:r>
                        <a:rPr lang="en-US" sz="1000" b="1" dirty="0">
                          <a:solidFill>
                            <a:srgbClr val="DC2626"/>
                          </a:solidFill>
                        </a:rPr>
                        <a:t>✗ No</a:t>
                      </a:r>
                      <a:endParaRPr lang="en-US" sz="1000" dirty="0"/>
                    </a:p>
                  </a:txBody>
                  <a:tcPr anchor="ctr">
                    <a:lnL w="10160" cap="flat" cmpd="sng" algn="ctr">
                      <a:solidFill>
                        <a:srgbClr val="BFDBFE"/>
                      </a:solidFill>
                      <a:prstDash val="solid"/>
                      <a:round/>
                      <a:headEnd type="none" w="med" len="med"/>
                      <a:tailEnd type="none" w="med" len="med"/>
                    </a:lnL>
                    <a:lnR w="10160" cap="flat" cmpd="sng" algn="ctr">
                      <a:solidFill>
                        <a:srgbClr val="BFDBFE"/>
                      </a:solidFill>
                      <a:prstDash val="solid"/>
                      <a:round/>
                      <a:headEnd type="none" w="med" len="med"/>
                      <a:tailEnd type="none" w="med" len="med"/>
                    </a:lnR>
                    <a:lnT w="10160" cap="flat" cmpd="sng" algn="ctr">
                      <a:solidFill>
                        <a:srgbClr val="BFDBFE"/>
                      </a:solidFill>
                      <a:prstDash val="solid"/>
                      <a:round/>
                      <a:headEnd type="none" w="med" len="med"/>
                      <a:tailEnd type="none" w="med" len="med"/>
                    </a:lnT>
                    <a:lnB w="10160" cap="flat" cmpd="sng" algn="ctr">
                      <a:solidFill>
                        <a:srgbClr val="BFDBFE"/>
                      </a:solidFill>
                      <a:prstDash val="solid"/>
                      <a:round/>
                      <a:headEnd type="none" w="med" len="med"/>
                      <a:tailEnd type="none" w="med" len="med"/>
                    </a:lnB>
                    <a:solidFill>
                      <a:srgbClr val="F0F6FF"/>
                    </a:solidFill>
                  </a:tcPr>
                </a:tc>
                <a:extLst>
                  <a:ext uri="{0D108BD9-81ED-4DB2-BD59-A6C34878D82A}">
                    <a16:rowId xmlns:a16="http://schemas.microsoft.com/office/drawing/2014/main" val="10001"/>
                  </a:ext>
                </a:extLst>
              </a:tr>
              <a:tr h="429768">
                <a:tc>
                  <a:txBody>
                    <a:bodyPr/>
                    <a:lstStyle/>
                    <a:p>
                      <a:pPr marL="0" indent="0" algn="ctr">
                        <a:buNone/>
                      </a:pPr>
                      <a:r>
                        <a:rPr lang="en-US" sz="1000" dirty="0">
                          <a:solidFill>
                            <a:srgbClr val="1E293B"/>
                          </a:solidFill>
                        </a:rPr>
                        <a:t>Downloadable PDF Report</a:t>
                      </a:r>
                      <a:endParaRPr lang="en-US" sz="1000" dirty="0"/>
                    </a:p>
                  </a:txBody>
                  <a:tcPr anchor="ctr">
                    <a:lnL w="10160" cap="flat" cmpd="sng" algn="ctr">
                      <a:solidFill>
                        <a:srgbClr val="BFDBFE"/>
                      </a:solidFill>
                      <a:prstDash val="solid"/>
                      <a:round/>
                      <a:headEnd type="none" w="med" len="med"/>
                      <a:tailEnd type="none" w="med" len="med"/>
                    </a:lnL>
                    <a:lnR w="10160" cap="flat" cmpd="sng" algn="ctr">
                      <a:solidFill>
                        <a:srgbClr val="BFDBFE"/>
                      </a:solidFill>
                      <a:prstDash val="solid"/>
                      <a:round/>
                      <a:headEnd type="none" w="med" len="med"/>
                      <a:tailEnd type="none" w="med" len="med"/>
                    </a:lnR>
                    <a:lnT w="10160" cap="flat" cmpd="sng" algn="ctr">
                      <a:solidFill>
                        <a:srgbClr val="BFDBFE"/>
                      </a:solidFill>
                      <a:prstDash val="solid"/>
                      <a:round/>
                      <a:headEnd type="none" w="med" len="med"/>
                      <a:tailEnd type="none" w="med" len="med"/>
                    </a:lnT>
                    <a:lnB w="10160" cap="flat" cmpd="sng" algn="ctr">
                      <a:solidFill>
                        <a:srgbClr val="BFDBFE"/>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16A34A"/>
                          </a:solidFill>
                        </a:rPr>
                        <a:t>✓ Auto-Generated</a:t>
                      </a:r>
                      <a:endParaRPr lang="en-US" sz="1000" dirty="0"/>
                    </a:p>
                  </a:txBody>
                  <a:tcPr anchor="ctr">
                    <a:lnL w="10160" cap="flat" cmpd="sng" algn="ctr">
                      <a:solidFill>
                        <a:srgbClr val="BFDBFE"/>
                      </a:solidFill>
                      <a:prstDash val="solid"/>
                      <a:round/>
                      <a:headEnd type="none" w="med" len="med"/>
                      <a:tailEnd type="none" w="med" len="med"/>
                    </a:lnL>
                    <a:lnR w="10160" cap="flat" cmpd="sng" algn="ctr">
                      <a:solidFill>
                        <a:srgbClr val="BFDBFE"/>
                      </a:solidFill>
                      <a:prstDash val="solid"/>
                      <a:round/>
                      <a:headEnd type="none" w="med" len="med"/>
                      <a:tailEnd type="none" w="med" len="med"/>
                    </a:lnR>
                    <a:lnT w="10160" cap="flat" cmpd="sng" algn="ctr">
                      <a:solidFill>
                        <a:srgbClr val="BFDBFE"/>
                      </a:solidFill>
                      <a:prstDash val="solid"/>
                      <a:round/>
                      <a:headEnd type="none" w="med" len="med"/>
                      <a:tailEnd type="none" w="med" len="med"/>
                    </a:lnT>
                    <a:lnB w="10160" cap="flat" cmpd="sng" algn="ctr">
                      <a:solidFill>
                        <a:srgbClr val="BFDBFE"/>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E293B"/>
                          </a:solidFill>
                        </a:rPr>
                        <a:t>Paid Tier Only</a:t>
                      </a:r>
                      <a:endParaRPr lang="en-US" sz="1000" dirty="0"/>
                    </a:p>
                  </a:txBody>
                  <a:tcPr anchor="ctr">
                    <a:lnL w="10160" cap="flat" cmpd="sng" algn="ctr">
                      <a:solidFill>
                        <a:srgbClr val="BFDBFE"/>
                      </a:solidFill>
                      <a:prstDash val="solid"/>
                      <a:round/>
                      <a:headEnd type="none" w="med" len="med"/>
                      <a:tailEnd type="none" w="med" len="med"/>
                    </a:lnL>
                    <a:lnR w="10160" cap="flat" cmpd="sng" algn="ctr">
                      <a:solidFill>
                        <a:srgbClr val="BFDBFE"/>
                      </a:solidFill>
                      <a:prstDash val="solid"/>
                      <a:round/>
                      <a:headEnd type="none" w="med" len="med"/>
                      <a:tailEnd type="none" w="med" len="med"/>
                    </a:lnR>
                    <a:lnT w="10160" cap="flat" cmpd="sng" algn="ctr">
                      <a:solidFill>
                        <a:srgbClr val="BFDBFE"/>
                      </a:solidFill>
                      <a:prstDash val="solid"/>
                      <a:round/>
                      <a:headEnd type="none" w="med" len="med"/>
                      <a:tailEnd type="none" w="med" len="med"/>
                    </a:lnT>
                    <a:lnB w="10160" cap="flat" cmpd="sng" algn="ctr">
                      <a:solidFill>
                        <a:srgbClr val="BFDBFE"/>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DC2626"/>
                          </a:solidFill>
                        </a:rPr>
                        <a:t>✗ No</a:t>
                      </a:r>
                      <a:endParaRPr lang="en-US" sz="1000" dirty="0"/>
                    </a:p>
                  </a:txBody>
                  <a:tcPr anchor="ctr">
                    <a:lnL w="10160" cap="flat" cmpd="sng" algn="ctr">
                      <a:solidFill>
                        <a:srgbClr val="BFDBFE"/>
                      </a:solidFill>
                      <a:prstDash val="solid"/>
                      <a:round/>
                      <a:headEnd type="none" w="med" len="med"/>
                      <a:tailEnd type="none" w="med" len="med"/>
                    </a:lnL>
                    <a:lnR w="10160" cap="flat" cmpd="sng" algn="ctr">
                      <a:solidFill>
                        <a:srgbClr val="BFDBFE"/>
                      </a:solidFill>
                      <a:prstDash val="solid"/>
                      <a:round/>
                      <a:headEnd type="none" w="med" len="med"/>
                      <a:tailEnd type="none" w="med" len="med"/>
                    </a:lnR>
                    <a:lnT w="10160" cap="flat" cmpd="sng" algn="ctr">
                      <a:solidFill>
                        <a:srgbClr val="BFDBFE"/>
                      </a:solidFill>
                      <a:prstDash val="solid"/>
                      <a:round/>
                      <a:headEnd type="none" w="med" len="med"/>
                      <a:tailEnd type="none" w="med" len="med"/>
                    </a:lnT>
                    <a:lnB w="10160" cap="flat" cmpd="sng" algn="ctr">
                      <a:solidFill>
                        <a:srgbClr val="BFDBFE"/>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DC2626"/>
                          </a:solidFill>
                        </a:rPr>
                        <a:t>✗ No</a:t>
                      </a:r>
                      <a:endParaRPr lang="en-US" sz="1000" dirty="0"/>
                    </a:p>
                  </a:txBody>
                  <a:tcPr anchor="ctr">
                    <a:lnL w="10160" cap="flat" cmpd="sng" algn="ctr">
                      <a:solidFill>
                        <a:srgbClr val="BFDBFE"/>
                      </a:solidFill>
                      <a:prstDash val="solid"/>
                      <a:round/>
                      <a:headEnd type="none" w="med" len="med"/>
                      <a:tailEnd type="none" w="med" len="med"/>
                    </a:lnL>
                    <a:lnR w="10160" cap="flat" cmpd="sng" algn="ctr">
                      <a:solidFill>
                        <a:srgbClr val="BFDBFE"/>
                      </a:solidFill>
                      <a:prstDash val="solid"/>
                      <a:round/>
                      <a:headEnd type="none" w="med" len="med"/>
                      <a:tailEnd type="none" w="med" len="med"/>
                    </a:lnR>
                    <a:lnT w="10160" cap="flat" cmpd="sng" algn="ctr">
                      <a:solidFill>
                        <a:srgbClr val="BFDBFE"/>
                      </a:solidFill>
                      <a:prstDash val="solid"/>
                      <a:round/>
                      <a:headEnd type="none" w="med" len="med"/>
                      <a:tailEnd type="none" w="med" len="med"/>
                    </a:lnT>
                    <a:lnB w="10160" cap="flat" cmpd="sng" algn="ctr">
                      <a:solidFill>
                        <a:srgbClr val="BFDBFE"/>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29768">
                <a:tc>
                  <a:txBody>
                    <a:bodyPr/>
                    <a:lstStyle/>
                    <a:p>
                      <a:pPr marL="0" indent="0" algn="ctr">
                        <a:buNone/>
                      </a:pPr>
                      <a:r>
                        <a:rPr lang="en-US" sz="1000" dirty="0">
                          <a:solidFill>
                            <a:srgbClr val="1E293B"/>
                          </a:solidFill>
                        </a:rPr>
                        <a:t>No Account / Sign-up</a:t>
                      </a:r>
                      <a:endParaRPr lang="en-US" sz="1000" dirty="0"/>
                    </a:p>
                  </a:txBody>
                  <a:tcPr anchor="ctr">
                    <a:lnL w="10160" cap="flat" cmpd="sng" algn="ctr">
                      <a:solidFill>
                        <a:srgbClr val="BFDBFE"/>
                      </a:solidFill>
                      <a:prstDash val="solid"/>
                      <a:round/>
                      <a:headEnd type="none" w="med" len="med"/>
                      <a:tailEnd type="none" w="med" len="med"/>
                    </a:lnL>
                    <a:lnR w="10160" cap="flat" cmpd="sng" algn="ctr">
                      <a:solidFill>
                        <a:srgbClr val="BFDBFE"/>
                      </a:solidFill>
                      <a:prstDash val="solid"/>
                      <a:round/>
                      <a:headEnd type="none" w="med" len="med"/>
                      <a:tailEnd type="none" w="med" len="med"/>
                    </a:lnR>
                    <a:lnT w="10160" cap="flat" cmpd="sng" algn="ctr">
                      <a:solidFill>
                        <a:srgbClr val="BFDBFE"/>
                      </a:solidFill>
                      <a:prstDash val="solid"/>
                      <a:round/>
                      <a:headEnd type="none" w="med" len="med"/>
                      <a:tailEnd type="none" w="med" len="med"/>
                    </a:lnT>
                    <a:lnB w="10160" cap="flat" cmpd="sng" algn="ctr">
                      <a:solidFill>
                        <a:srgbClr val="BFDBFE"/>
                      </a:solidFill>
                      <a:prstDash val="solid"/>
                      <a:round/>
                      <a:headEnd type="none" w="med" len="med"/>
                      <a:tailEnd type="none" w="med" len="med"/>
                    </a:lnB>
                    <a:solidFill>
                      <a:srgbClr val="F0F6FF"/>
                    </a:solidFill>
                  </a:tcPr>
                </a:tc>
                <a:tc>
                  <a:txBody>
                    <a:bodyPr/>
                    <a:lstStyle/>
                    <a:p>
                      <a:pPr marL="0" indent="0" algn="ctr">
                        <a:buNone/>
                      </a:pPr>
                      <a:r>
                        <a:rPr lang="en-US" sz="1000" b="1" dirty="0">
                          <a:solidFill>
                            <a:srgbClr val="16A34A"/>
                          </a:solidFill>
                        </a:rPr>
                        <a:t>✓ Anonymous</a:t>
                      </a:r>
                      <a:endParaRPr lang="en-US" sz="1000" dirty="0"/>
                    </a:p>
                  </a:txBody>
                  <a:tcPr anchor="ctr">
                    <a:lnL w="10160" cap="flat" cmpd="sng" algn="ctr">
                      <a:solidFill>
                        <a:srgbClr val="BFDBFE"/>
                      </a:solidFill>
                      <a:prstDash val="solid"/>
                      <a:round/>
                      <a:headEnd type="none" w="med" len="med"/>
                      <a:tailEnd type="none" w="med" len="med"/>
                    </a:lnL>
                    <a:lnR w="10160" cap="flat" cmpd="sng" algn="ctr">
                      <a:solidFill>
                        <a:srgbClr val="BFDBFE"/>
                      </a:solidFill>
                      <a:prstDash val="solid"/>
                      <a:round/>
                      <a:headEnd type="none" w="med" len="med"/>
                      <a:tailEnd type="none" w="med" len="med"/>
                    </a:lnR>
                    <a:lnT w="10160" cap="flat" cmpd="sng" algn="ctr">
                      <a:solidFill>
                        <a:srgbClr val="BFDBFE"/>
                      </a:solidFill>
                      <a:prstDash val="solid"/>
                      <a:round/>
                      <a:headEnd type="none" w="med" len="med"/>
                      <a:tailEnd type="none" w="med" len="med"/>
                    </a:lnT>
                    <a:lnB w="10160" cap="flat" cmpd="sng" algn="ctr">
                      <a:solidFill>
                        <a:srgbClr val="BFDBFE"/>
                      </a:solidFill>
                      <a:prstDash val="solid"/>
                      <a:round/>
                      <a:headEnd type="none" w="med" len="med"/>
                      <a:tailEnd type="none" w="med" len="med"/>
                    </a:lnB>
                    <a:solidFill>
                      <a:srgbClr val="F0F6FF"/>
                    </a:solidFill>
                  </a:tcPr>
                </a:tc>
                <a:tc>
                  <a:txBody>
                    <a:bodyPr/>
                    <a:lstStyle/>
                    <a:p>
                      <a:pPr marL="0" indent="0" algn="ctr">
                        <a:buNone/>
                      </a:pPr>
                      <a:r>
                        <a:rPr lang="en-US" sz="1000" b="1" dirty="0">
                          <a:solidFill>
                            <a:srgbClr val="DC2626"/>
                          </a:solidFill>
                        </a:rPr>
                        <a:t>✗ Required</a:t>
                      </a:r>
                      <a:endParaRPr lang="en-US" sz="1000" dirty="0"/>
                    </a:p>
                  </a:txBody>
                  <a:tcPr anchor="ctr">
                    <a:lnL w="10160" cap="flat" cmpd="sng" algn="ctr">
                      <a:solidFill>
                        <a:srgbClr val="BFDBFE"/>
                      </a:solidFill>
                      <a:prstDash val="solid"/>
                      <a:round/>
                      <a:headEnd type="none" w="med" len="med"/>
                      <a:tailEnd type="none" w="med" len="med"/>
                    </a:lnL>
                    <a:lnR w="10160" cap="flat" cmpd="sng" algn="ctr">
                      <a:solidFill>
                        <a:srgbClr val="BFDBFE"/>
                      </a:solidFill>
                      <a:prstDash val="solid"/>
                      <a:round/>
                      <a:headEnd type="none" w="med" len="med"/>
                      <a:tailEnd type="none" w="med" len="med"/>
                    </a:lnR>
                    <a:lnT w="10160" cap="flat" cmpd="sng" algn="ctr">
                      <a:solidFill>
                        <a:srgbClr val="BFDBFE"/>
                      </a:solidFill>
                      <a:prstDash val="solid"/>
                      <a:round/>
                      <a:headEnd type="none" w="med" len="med"/>
                      <a:tailEnd type="none" w="med" len="med"/>
                    </a:lnT>
                    <a:lnB w="10160" cap="flat" cmpd="sng" algn="ctr">
                      <a:solidFill>
                        <a:srgbClr val="BFDBFE"/>
                      </a:solidFill>
                      <a:prstDash val="solid"/>
                      <a:round/>
                      <a:headEnd type="none" w="med" len="med"/>
                      <a:tailEnd type="none" w="med" len="med"/>
                    </a:lnB>
                    <a:solidFill>
                      <a:srgbClr val="F0F6FF"/>
                    </a:solidFill>
                  </a:tcPr>
                </a:tc>
                <a:tc>
                  <a:txBody>
                    <a:bodyPr/>
                    <a:lstStyle/>
                    <a:p>
                      <a:pPr marL="0" indent="0" algn="ctr">
                        <a:buNone/>
                      </a:pPr>
                      <a:r>
                        <a:rPr lang="en-US" sz="1000" b="1" dirty="0">
                          <a:solidFill>
                            <a:srgbClr val="DC2626"/>
                          </a:solidFill>
                        </a:rPr>
                        <a:t>✗ Required</a:t>
                      </a:r>
                      <a:endParaRPr lang="en-US" sz="1000" dirty="0"/>
                    </a:p>
                  </a:txBody>
                  <a:tcPr anchor="ctr">
                    <a:lnL w="10160" cap="flat" cmpd="sng" algn="ctr">
                      <a:solidFill>
                        <a:srgbClr val="BFDBFE"/>
                      </a:solidFill>
                      <a:prstDash val="solid"/>
                      <a:round/>
                      <a:headEnd type="none" w="med" len="med"/>
                      <a:tailEnd type="none" w="med" len="med"/>
                    </a:lnL>
                    <a:lnR w="10160" cap="flat" cmpd="sng" algn="ctr">
                      <a:solidFill>
                        <a:srgbClr val="BFDBFE"/>
                      </a:solidFill>
                      <a:prstDash val="solid"/>
                      <a:round/>
                      <a:headEnd type="none" w="med" len="med"/>
                      <a:tailEnd type="none" w="med" len="med"/>
                    </a:lnR>
                    <a:lnT w="10160" cap="flat" cmpd="sng" algn="ctr">
                      <a:solidFill>
                        <a:srgbClr val="BFDBFE"/>
                      </a:solidFill>
                      <a:prstDash val="solid"/>
                      <a:round/>
                      <a:headEnd type="none" w="med" len="med"/>
                      <a:tailEnd type="none" w="med" len="med"/>
                    </a:lnT>
                    <a:lnB w="10160" cap="flat" cmpd="sng" algn="ctr">
                      <a:solidFill>
                        <a:srgbClr val="BFDBFE"/>
                      </a:solidFill>
                      <a:prstDash val="solid"/>
                      <a:round/>
                      <a:headEnd type="none" w="med" len="med"/>
                      <a:tailEnd type="none" w="med" len="med"/>
                    </a:lnB>
                    <a:solidFill>
                      <a:srgbClr val="F0F6FF"/>
                    </a:solidFill>
                  </a:tcPr>
                </a:tc>
                <a:tc>
                  <a:txBody>
                    <a:bodyPr/>
                    <a:lstStyle/>
                    <a:p>
                      <a:pPr marL="0" indent="0" algn="ctr">
                        <a:buNone/>
                      </a:pPr>
                      <a:r>
                        <a:rPr lang="en-US" sz="1000" dirty="0">
                          <a:solidFill>
                            <a:srgbClr val="1E293B"/>
                          </a:solidFill>
                        </a:rPr>
                        <a:t>API Key Needed</a:t>
                      </a:r>
                      <a:endParaRPr lang="en-US" sz="1000" dirty="0"/>
                    </a:p>
                  </a:txBody>
                  <a:tcPr anchor="ctr">
                    <a:lnL w="10160" cap="flat" cmpd="sng" algn="ctr">
                      <a:solidFill>
                        <a:srgbClr val="BFDBFE"/>
                      </a:solidFill>
                      <a:prstDash val="solid"/>
                      <a:round/>
                      <a:headEnd type="none" w="med" len="med"/>
                      <a:tailEnd type="none" w="med" len="med"/>
                    </a:lnL>
                    <a:lnR w="10160" cap="flat" cmpd="sng" algn="ctr">
                      <a:solidFill>
                        <a:srgbClr val="BFDBFE"/>
                      </a:solidFill>
                      <a:prstDash val="solid"/>
                      <a:round/>
                      <a:headEnd type="none" w="med" len="med"/>
                      <a:tailEnd type="none" w="med" len="med"/>
                    </a:lnR>
                    <a:lnT w="10160" cap="flat" cmpd="sng" algn="ctr">
                      <a:solidFill>
                        <a:srgbClr val="BFDBFE"/>
                      </a:solidFill>
                      <a:prstDash val="solid"/>
                      <a:round/>
                      <a:headEnd type="none" w="med" len="med"/>
                      <a:tailEnd type="none" w="med" len="med"/>
                    </a:lnT>
                    <a:lnB w="10160" cap="flat" cmpd="sng" algn="ctr">
                      <a:solidFill>
                        <a:srgbClr val="BFDBFE"/>
                      </a:solidFill>
                      <a:prstDash val="solid"/>
                      <a:round/>
                      <a:headEnd type="none" w="med" len="med"/>
                      <a:tailEnd type="none" w="med" len="med"/>
                    </a:lnB>
                    <a:solidFill>
                      <a:srgbClr val="F0F6FF"/>
                    </a:solidFill>
                  </a:tcPr>
                </a:tc>
                <a:extLst>
                  <a:ext uri="{0D108BD9-81ED-4DB2-BD59-A6C34878D82A}">
                    <a16:rowId xmlns:a16="http://schemas.microsoft.com/office/drawing/2014/main" val="10003"/>
                  </a:ext>
                </a:extLst>
              </a:tr>
              <a:tr h="429768">
                <a:tc>
                  <a:txBody>
                    <a:bodyPr/>
                    <a:lstStyle/>
                    <a:p>
                      <a:pPr marL="0" indent="0" algn="ctr">
                        <a:buNone/>
                      </a:pPr>
                      <a:r>
                        <a:rPr lang="en-US" sz="1000" dirty="0">
                          <a:solidFill>
                            <a:srgbClr val="1E293B"/>
                          </a:solidFill>
                        </a:rPr>
                        <a:t>Data Storage</a:t>
                      </a:r>
                      <a:endParaRPr lang="en-US" sz="1000" dirty="0"/>
                    </a:p>
                  </a:txBody>
                  <a:tcPr anchor="ctr">
                    <a:lnL w="10160" cap="flat" cmpd="sng" algn="ctr">
                      <a:solidFill>
                        <a:srgbClr val="BFDBFE"/>
                      </a:solidFill>
                      <a:prstDash val="solid"/>
                      <a:round/>
                      <a:headEnd type="none" w="med" len="med"/>
                      <a:tailEnd type="none" w="med" len="med"/>
                    </a:lnL>
                    <a:lnR w="10160" cap="flat" cmpd="sng" algn="ctr">
                      <a:solidFill>
                        <a:srgbClr val="BFDBFE"/>
                      </a:solidFill>
                      <a:prstDash val="solid"/>
                      <a:round/>
                      <a:headEnd type="none" w="med" len="med"/>
                      <a:tailEnd type="none" w="med" len="med"/>
                    </a:lnR>
                    <a:lnT w="10160" cap="flat" cmpd="sng" algn="ctr">
                      <a:solidFill>
                        <a:srgbClr val="BFDBFE"/>
                      </a:solidFill>
                      <a:prstDash val="solid"/>
                      <a:round/>
                      <a:headEnd type="none" w="med" len="med"/>
                      <a:tailEnd type="none" w="med" len="med"/>
                    </a:lnT>
                    <a:lnB w="10160" cap="flat" cmpd="sng" algn="ctr">
                      <a:solidFill>
                        <a:srgbClr val="BFDBFE"/>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16A34A"/>
                          </a:solidFill>
                        </a:rPr>
                        <a:t>✓ In-Memory Only</a:t>
                      </a:r>
                      <a:endParaRPr lang="en-US" sz="1000" dirty="0"/>
                    </a:p>
                  </a:txBody>
                  <a:tcPr anchor="ctr">
                    <a:lnL w="10160" cap="flat" cmpd="sng" algn="ctr">
                      <a:solidFill>
                        <a:srgbClr val="BFDBFE"/>
                      </a:solidFill>
                      <a:prstDash val="solid"/>
                      <a:round/>
                      <a:headEnd type="none" w="med" len="med"/>
                      <a:tailEnd type="none" w="med" len="med"/>
                    </a:lnL>
                    <a:lnR w="10160" cap="flat" cmpd="sng" algn="ctr">
                      <a:solidFill>
                        <a:srgbClr val="BFDBFE"/>
                      </a:solidFill>
                      <a:prstDash val="solid"/>
                      <a:round/>
                      <a:headEnd type="none" w="med" len="med"/>
                      <a:tailEnd type="none" w="med" len="med"/>
                    </a:lnR>
                    <a:lnT w="10160" cap="flat" cmpd="sng" algn="ctr">
                      <a:solidFill>
                        <a:srgbClr val="BFDBFE"/>
                      </a:solidFill>
                      <a:prstDash val="solid"/>
                      <a:round/>
                      <a:headEnd type="none" w="med" len="med"/>
                      <a:tailEnd type="none" w="med" len="med"/>
                    </a:lnT>
                    <a:lnB w="10160" cap="flat" cmpd="sng" algn="ctr">
                      <a:solidFill>
                        <a:srgbClr val="BFDBFE"/>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DC2626"/>
                          </a:solidFill>
                        </a:rPr>
                        <a:t>✗ Cloud</a:t>
                      </a:r>
                      <a:endParaRPr lang="en-US" sz="1000" dirty="0"/>
                    </a:p>
                  </a:txBody>
                  <a:tcPr anchor="ctr">
                    <a:lnL w="10160" cap="flat" cmpd="sng" algn="ctr">
                      <a:solidFill>
                        <a:srgbClr val="BFDBFE"/>
                      </a:solidFill>
                      <a:prstDash val="solid"/>
                      <a:round/>
                      <a:headEnd type="none" w="med" len="med"/>
                      <a:tailEnd type="none" w="med" len="med"/>
                    </a:lnL>
                    <a:lnR w="10160" cap="flat" cmpd="sng" algn="ctr">
                      <a:solidFill>
                        <a:srgbClr val="BFDBFE"/>
                      </a:solidFill>
                      <a:prstDash val="solid"/>
                      <a:round/>
                      <a:headEnd type="none" w="med" len="med"/>
                      <a:tailEnd type="none" w="med" len="med"/>
                    </a:lnR>
                    <a:lnT w="10160" cap="flat" cmpd="sng" algn="ctr">
                      <a:solidFill>
                        <a:srgbClr val="BFDBFE"/>
                      </a:solidFill>
                      <a:prstDash val="solid"/>
                      <a:round/>
                      <a:headEnd type="none" w="med" len="med"/>
                      <a:tailEnd type="none" w="med" len="med"/>
                    </a:lnT>
                    <a:lnB w="10160" cap="flat" cmpd="sng" algn="ctr">
                      <a:solidFill>
                        <a:srgbClr val="BFDBFE"/>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DC2626"/>
                          </a:solidFill>
                        </a:rPr>
                        <a:t>✗ Cloud</a:t>
                      </a:r>
                      <a:endParaRPr lang="en-US" sz="1000" dirty="0"/>
                    </a:p>
                  </a:txBody>
                  <a:tcPr anchor="ctr">
                    <a:lnL w="10160" cap="flat" cmpd="sng" algn="ctr">
                      <a:solidFill>
                        <a:srgbClr val="BFDBFE"/>
                      </a:solidFill>
                      <a:prstDash val="solid"/>
                      <a:round/>
                      <a:headEnd type="none" w="med" len="med"/>
                      <a:tailEnd type="none" w="med" len="med"/>
                    </a:lnL>
                    <a:lnR w="10160" cap="flat" cmpd="sng" algn="ctr">
                      <a:solidFill>
                        <a:srgbClr val="BFDBFE"/>
                      </a:solidFill>
                      <a:prstDash val="solid"/>
                      <a:round/>
                      <a:headEnd type="none" w="med" len="med"/>
                      <a:tailEnd type="none" w="med" len="med"/>
                    </a:lnR>
                    <a:lnT w="10160" cap="flat" cmpd="sng" algn="ctr">
                      <a:solidFill>
                        <a:srgbClr val="BFDBFE"/>
                      </a:solidFill>
                      <a:prstDash val="solid"/>
                      <a:round/>
                      <a:headEnd type="none" w="med" len="med"/>
                      <a:tailEnd type="none" w="med" len="med"/>
                    </a:lnT>
                    <a:lnB w="10160" cap="flat" cmpd="sng" algn="ctr">
                      <a:solidFill>
                        <a:srgbClr val="BFDBFE"/>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DC2626"/>
                          </a:solidFill>
                        </a:rPr>
                        <a:t>✗ Cloud</a:t>
                      </a:r>
                      <a:endParaRPr lang="en-US" sz="1000" dirty="0"/>
                    </a:p>
                  </a:txBody>
                  <a:tcPr anchor="ctr">
                    <a:lnL w="10160" cap="flat" cmpd="sng" algn="ctr">
                      <a:solidFill>
                        <a:srgbClr val="BFDBFE"/>
                      </a:solidFill>
                      <a:prstDash val="solid"/>
                      <a:round/>
                      <a:headEnd type="none" w="med" len="med"/>
                      <a:tailEnd type="none" w="med" len="med"/>
                    </a:lnL>
                    <a:lnR w="10160" cap="flat" cmpd="sng" algn="ctr">
                      <a:solidFill>
                        <a:srgbClr val="BFDBFE"/>
                      </a:solidFill>
                      <a:prstDash val="solid"/>
                      <a:round/>
                      <a:headEnd type="none" w="med" len="med"/>
                      <a:tailEnd type="none" w="med" len="med"/>
                    </a:lnR>
                    <a:lnT w="10160" cap="flat" cmpd="sng" algn="ctr">
                      <a:solidFill>
                        <a:srgbClr val="BFDBFE"/>
                      </a:solidFill>
                      <a:prstDash val="solid"/>
                      <a:round/>
                      <a:headEnd type="none" w="med" len="med"/>
                      <a:tailEnd type="none" w="med" len="med"/>
                    </a:lnT>
                    <a:lnB w="10160" cap="flat" cmpd="sng" algn="ctr">
                      <a:solidFill>
                        <a:srgbClr val="BFDBFE"/>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29768">
                <a:tc>
                  <a:txBody>
                    <a:bodyPr/>
                    <a:lstStyle/>
                    <a:p>
                      <a:pPr marL="0" indent="0" algn="ctr">
                        <a:buNone/>
                      </a:pPr>
                      <a:r>
                        <a:rPr lang="en-US" sz="1000" dirty="0">
                          <a:solidFill>
                            <a:srgbClr val="1E293B"/>
                          </a:solidFill>
                        </a:rPr>
                        <a:t>Open Source</a:t>
                      </a:r>
                      <a:endParaRPr lang="en-US" sz="1000" dirty="0"/>
                    </a:p>
                  </a:txBody>
                  <a:tcPr anchor="ctr">
                    <a:lnL w="10160" cap="flat" cmpd="sng" algn="ctr">
                      <a:solidFill>
                        <a:srgbClr val="BFDBFE"/>
                      </a:solidFill>
                      <a:prstDash val="solid"/>
                      <a:round/>
                      <a:headEnd type="none" w="med" len="med"/>
                      <a:tailEnd type="none" w="med" len="med"/>
                    </a:lnL>
                    <a:lnR w="10160" cap="flat" cmpd="sng" algn="ctr">
                      <a:solidFill>
                        <a:srgbClr val="BFDBFE"/>
                      </a:solidFill>
                      <a:prstDash val="solid"/>
                      <a:round/>
                      <a:headEnd type="none" w="med" len="med"/>
                      <a:tailEnd type="none" w="med" len="med"/>
                    </a:lnR>
                    <a:lnT w="10160" cap="flat" cmpd="sng" algn="ctr">
                      <a:solidFill>
                        <a:srgbClr val="BFDBFE"/>
                      </a:solidFill>
                      <a:prstDash val="solid"/>
                      <a:round/>
                      <a:headEnd type="none" w="med" len="med"/>
                      <a:tailEnd type="none" w="med" len="med"/>
                    </a:lnT>
                    <a:lnB w="10160" cap="flat" cmpd="sng" algn="ctr">
                      <a:solidFill>
                        <a:srgbClr val="BFDBFE"/>
                      </a:solidFill>
                      <a:prstDash val="solid"/>
                      <a:round/>
                      <a:headEnd type="none" w="med" len="med"/>
                      <a:tailEnd type="none" w="med" len="med"/>
                    </a:lnB>
                    <a:solidFill>
                      <a:srgbClr val="F0F6FF"/>
                    </a:solidFill>
                  </a:tcPr>
                </a:tc>
                <a:tc>
                  <a:txBody>
                    <a:bodyPr/>
                    <a:lstStyle/>
                    <a:p>
                      <a:pPr marL="0" indent="0" algn="ctr">
                        <a:buNone/>
                      </a:pPr>
                      <a:r>
                        <a:rPr lang="en-US" sz="1000" b="1" dirty="0">
                          <a:solidFill>
                            <a:srgbClr val="16A34A"/>
                          </a:solidFill>
                        </a:rPr>
                        <a:t>✓ Fully Documented</a:t>
                      </a:r>
                      <a:endParaRPr lang="en-US" sz="1000" dirty="0"/>
                    </a:p>
                  </a:txBody>
                  <a:tcPr anchor="ctr">
                    <a:lnL w="10160" cap="flat" cmpd="sng" algn="ctr">
                      <a:solidFill>
                        <a:srgbClr val="BFDBFE"/>
                      </a:solidFill>
                      <a:prstDash val="solid"/>
                      <a:round/>
                      <a:headEnd type="none" w="med" len="med"/>
                      <a:tailEnd type="none" w="med" len="med"/>
                    </a:lnL>
                    <a:lnR w="10160" cap="flat" cmpd="sng" algn="ctr">
                      <a:solidFill>
                        <a:srgbClr val="BFDBFE"/>
                      </a:solidFill>
                      <a:prstDash val="solid"/>
                      <a:round/>
                      <a:headEnd type="none" w="med" len="med"/>
                      <a:tailEnd type="none" w="med" len="med"/>
                    </a:lnR>
                    <a:lnT w="10160" cap="flat" cmpd="sng" algn="ctr">
                      <a:solidFill>
                        <a:srgbClr val="BFDBFE"/>
                      </a:solidFill>
                      <a:prstDash val="solid"/>
                      <a:round/>
                      <a:headEnd type="none" w="med" len="med"/>
                      <a:tailEnd type="none" w="med" len="med"/>
                    </a:lnT>
                    <a:lnB w="10160" cap="flat" cmpd="sng" algn="ctr">
                      <a:solidFill>
                        <a:srgbClr val="BFDBFE"/>
                      </a:solidFill>
                      <a:prstDash val="solid"/>
                      <a:round/>
                      <a:headEnd type="none" w="med" len="med"/>
                      <a:tailEnd type="none" w="med" len="med"/>
                    </a:lnB>
                    <a:solidFill>
                      <a:srgbClr val="F0F6FF"/>
                    </a:solidFill>
                  </a:tcPr>
                </a:tc>
                <a:tc>
                  <a:txBody>
                    <a:bodyPr/>
                    <a:lstStyle/>
                    <a:p>
                      <a:pPr marL="0" indent="0" algn="ctr">
                        <a:buNone/>
                      </a:pPr>
                      <a:r>
                        <a:rPr lang="en-US" sz="1000" b="1" dirty="0">
                          <a:solidFill>
                            <a:srgbClr val="DC2626"/>
                          </a:solidFill>
                        </a:rPr>
                        <a:t>✗ Proprietary</a:t>
                      </a:r>
                      <a:endParaRPr lang="en-US" sz="1000" dirty="0"/>
                    </a:p>
                  </a:txBody>
                  <a:tcPr anchor="ctr">
                    <a:lnL w="10160" cap="flat" cmpd="sng" algn="ctr">
                      <a:solidFill>
                        <a:srgbClr val="BFDBFE"/>
                      </a:solidFill>
                      <a:prstDash val="solid"/>
                      <a:round/>
                      <a:headEnd type="none" w="med" len="med"/>
                      <a:tailEnd type="none" w="med" len="med"/>
                    </a:lnL>
                    <a:lnR w="10160" cap="flat" cmpd="sng" algn="ctr">
                      <a:solidFill>
                        <a:srgbClr val="BFDBFE"/>
                      </a:solidFill>
                      <a:prstDash val="solid"/>
                      <a:round/>
                      <a:headEnd type="none" w="med" len="med"/>
                      <a:tailEnd type="none" w="med" len="med"/>
                    </a:lnR>
                    <a:lnT w="10160" cap="flat" cmpd="sng" algn="ctr">
                      <a:solidFill>
                        <a:srgbClr val="BFDBFE"/>
                      </a:solidFill>
                      <a:prstDash val="solid"/>
                      <a:round/>
                      <a:headEnd type="none" w="med" len="med"/>
                      <a:tailEnd type="none" w="med" len="med"/>
                    </a:lnT>
                    <a:lnB w="10160" cap="flat" cmpd="sng" algn="ctr">
                      <a:solidFill>
                        <a:srgbClr val="BFDBFE"/>
                      </a:solidFill>
                      <a:prstDash val="solid"/>
                      <a:round/>
                      <a:headEnd type="none" w="med" len="med"/>
                      <a:tailEnd type="none" w="med" len="med"/>
                    </a:lnB>
                    <a:solidFill>
                      <a:srgbClr val="F0F6FF"/>
                    </a:solidFill>
                  </a:tcPr>
                </a:tc>
                <a:tc>
                  <a:txBody>
                    <a:bodyPr/>
                    <a:lstStyle/>
                    <a:p>
                      <a:pPr marL="0" indent="0" algn="ctr">
                        <a:buNone/>
                      </a:pPr>
                      <a:r>
                        <a:rPr lang="en-US" sz="1000" b="1" dirty="0">
                          <a:solidFill>
                            <a:srgbClr val="DC2626"/>
                          </a:solidFill>
                        </a:rPr>
                        <a:t>✗ No</a:t>
                      </a:r>
                      <a:endParaRPr lang="en-US" sz="1000" dirty="0"/>
                    </a:p>
                  </a:txBody>
                  <a:tcPr anchor="ctr">
                    <a:lnL w="10160" cap="flat" cmpd="sng" algn="ctr">
                      <a:solidFill>
                        <a:srgbClr val="BFDBFE"/>
                      </a:solidFill>
                      <a:prstDash val="solid"/>
                      <a:round/>
                      <a:headEnd type="none" w="med" len="med"/>
                      <a:tailEnd type="none" w="med" len="med"/>
                    </a:lnL>
                    <a:lnR w="10160" cap="flat" cmpd="sng" algn="ctr">
                      <a:solidFill>
                        <a:srgbClr val="BFDBFE"/>
                      </a:solidFill>
                      <a:prstDash val="solid"/>
                      <a:round/>
                      <a:headEnd type="none" w="med" len="med"/>
                      <a:tailEnd type="none" w="med" len="med"/>
                    </a:lnR>
                    <a:lnT w="10160" cap="flat" cmpd="sng" algn="ctr">
                      <a:solidFill>
                        <a:srgbClr val="BFDBFE"/>
                      </a:solidFill>
                      <a:prstDash val="solid"/>
                      <a:round/>
                      <a:headEnd type="none" w="med" len="med"/>
                      <a:tailEnd type="none" w="med" len="med"/>
                    </a:lnT>
                    <a:lnB w="10160" cap="flat" cmpd="sng" algn="ctr">
                      <a:solidFill>
                        <a:srgbClr val="BFDBFE"/>
                      </a:solidFill>
                      <a:prstDash val="solid"/>
                      <a:round/>
                      <a:headEnd type="none" w="med" len="med"/>
                      <a:tailEnd type="none" w="med" len="med"/>
                    </a:lnB>
                    <a:solidFill>
                      <a:srgbClr val="F0F6FF"/>
                    </a:solidFill>
                  </a:tcPr>
                </a:tc>
                <a:tc>
                  <a:txBody>
                    <a:bodyPr/>
                    <a:lstStyle/>
                    <a:p>
                      <a:pPr marL="0" indent="0" algn="ctr">
                        <a:buNone/>
                      </a:pPr>
                      <a:r>
                        <a:rPr lang="en-US" sz="1000" dirty="0">
                          <a:solidFill>
                            <a:srgbClr val="1E293B"/>
                          </a:solidFill>
                        </a:rPr>
                        <a:t>Partial</a:t>
                      </a:r>
                      <a:endParaRPr lang="en-US" sz="1000" dirty="0"/>
                    </a:p>
                  </a:txBody>
                  <a:tcPr anchor="ctr">
                    <a:lnL w="10160" cap="flat" cmpd="sng" algn="ctr">
                      <a:solidFill>
                        <a:srgbClr val="BFDBFE"/>
                      </a:solidFill>
                      <a:prstDash val="solid"/>
                      <a:round/>
                      <a:headEnd type="none" w="med" len="med"/>
                      <a:tailEnd type="none" w="med" len="med"/>
                    </a:lnL>
                    <a:lnR w="10160" cap="flat" cmpd="sng" algn="ctr">
                      <a:solidFill>
                        <a:srgbClr val="BFDBFE"/>
                      </a:solidFill>
                      <a:prstDash val="solid"/>
                      <a:round/>
                      <a:headEnd type="none" w="med" len="med"/>
                      <a:tailEnd type="none" w="med" len="med"/>
                    </a:lnR>
                    <a:lnT w="10160" cap="flat" cmpd="sng" algn="ctr">
                      <a:solidFill>
                        <a:srgbClr val="BFDBFE"/>
                      </a:solidFill>
                      <a:prstDash val="solid"/>
                      <a:round/>
                      <a:headEnd type="none" w="med" len="med"/>
                      <a:tailEnd type="none" w="med" len="med"/>
                    </a:lnT>
                    <a:lnB w="10160" cap="flat" cmpd="sng" algn="ctr">
                      <a:solidFill>
                        <a:srgbClr val="BFDBFE"/>
                      </a:solidFill>
                      <a:prstDash val="solid"/>
                      <a:round/>
                      <a:headEnd type="none" w="med" len="med"/>
                      <a:tailEnd type="none" w="med" len="med"/>
                    </a:lnB>
                    <a:solidFill>
                      <a:srgbClr val="F0F6FF"/>
                    </a:solidFill>
                  </a:tcPr>
                </a:tc>
                <a:extLst>
                  <a:ext uri="{0D108BD9-81ED-4DB2-BD59-A6C34878D82A}">
                    <a16:rowId xmlns:a16="http://schemas.microsoft.com/office/drawing/2014/main" val="10005"/>
                  </a:ext>
                </a:extLst>
              </a:tr>
              <a:tr h="429768">
                <a:tc>
                  <a:txBody>
                    <a:bodyPr/>
                    <a:lstStyle/>
                    <a:p>
                      <a:pPr marL="0" indent="0" algn="ctr">
                        <a:buNone/>
                      </a:pPr>
                      <a:r>
                        <a:rPr lang="en-US" sz="1000" dirty="0">
                          <a:solidFill>
                            <a:srgbClr val="1E293B"/>
                          </a:solidFill>
                        </a:rPr>
                        <a:t>Face Detection</a:t>
                      </a:r>
                      <a:endParaRPr lang="en-US" sz="1000" dirty="0"/>
                    </a:p>
                  </a:txBody>
                  <a:tcPr anchor="ctr">
                    <a:lnL w="10160" cap="flat" cmpd="sng" algn="ctr">
                      <a:solidFill>
                        <a:srgbClr val="BFDBFE"/>
                      </a:solidFill>
                      <a:prstDash val="solid"/>
                      <a:round/>
                      <a:headEnd type="none" w="med" len="med"/>
                      <a:tailEnd type="none" w="med" len="med"/>
                    </a:lnL>
                    <a:lnR w="10160" cap="flat" cmpd="sng" algn="ctr">
                      <a:solidFill>
                        <a:srgbClr val="BFDBFE"/>
                      </a:solidFill>
                      <a:prstDash val="solid"/>
                      <a:round/>
                      <a:headEnd type="none" w="med" len="med"/>
                      <a:tailEnd type="none" w="med" len="med"/>
                    </a:lnR>
                    <a:lnT w="10160" cap="flat" cmpd="sng" algn="ctr">
                      <a:solidFill>
                        <a:srgbClr val="BFDBFE"/>
                      </a:solidFill>
                      <a:prstDash val="solid"/>
                      <a:round/>
                      <a:headEnd type="none" w="med" len="med"/>
                      <a:tailEnd type="none" w="med" len="med"/>
                    </a:lnT>
                    <a:lnB w="10160" cap="flat" cmpd="sng" algn="ctr">
                      <a:solidFill>
                        <a:srgbClr val="BFDBFE"/>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16A34A"/>
                          </a:solidFill>
                        </a:rPr>
                        <a:t>✓ MTCNN</a:t>
                      </a:r>
                      <a:endParaRPr lang="en-US" sz="1000" dirty="0"/>
                    </a:p>
                  </a:txBody>
                  <a:tcPr anchor="ctr">
                    <a:lnL w="10160" cap="flat" cmpd="sng" algn="ctr">
                      <a:solidFill>
                        <a:srgbClr val="BFDBFE"/>
                      </a:solidFill>
                      <a:prstDash val="solid"/>
                      <a:round/>
                      <a:headEnd type="none" w="med" len="med"/>
                      <a:tailEnd type="none" w="med" len="med"/>
                    </a:lnL>
                    <a:lnR w="10160" cap="flat" cmpd="sng" algn="ctr">
                      <a:solidFill>
                        <a:srgbClr val="BFDBFE"/>
                      </a:solidFill>
                      <a:prstDash val="solid"/>
                      <a:round/>
                      <a:headEnd type="none" w="med" len="med"/>
                      <a:tailEnd type="none" w="med" len="med"/>
                    </a:lnR>
                    <a:lnT w="10160" cap="flat" cmpd="sng" algn="ctr">
                      <a:solidFill>
                        <a:srgbClr val="BFDBFE"/>
                      </a:solidFill>
                      <a:prstDash val="solid"/>
                      <a:round/>
                      <a:headEnd type="none" w="med" len="med"/>
                      <a:tailEnd type="none" w="med" len="med"/>
                    </a:lnT>
                    <a:lnB w="10160" cap="flat" cmpd="sng" algn="ctr">
                      <a:solidFill>
                        <a:srgbClr val="BFDBFE"/>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E293B"/>
                          </a:solidFill>
                        </a:rPr>
                        <a:t>Unspecified</a:t>
                      </a:r>
                      <a:endParaRPr lang="en-US" sz="1000" dirty="0"/>
                    </a:p>
                  </a:txBody>
                  <a:tcPr anchor="ctr">
                    <a:lnL w="10160" cap="flat" cmpd="sng" algn="ctr">
                      <a:solidFill>
                        <a:srgbClr val="BFDBFE"/>
                      </a:solidFill>
                      <a:prstDash val="solid"/>
                      <a:round/>
                      <a:headEnd type="none" w="med" len="med"/>
                      <a:tailEnd type="none" w="med" len="med"/>
                    </a:lnL>
                    <a:lnR w="10160" cap="flat" cmpd="sng" algn="ctr">
                      <a:solidFill>
                        <a:srgbClr val="BFDBFE"/>
                      </a:solidFill>
                      <a:prstDash val="solid"/>
                      <a:round/>
                      <a:headEnd type="none" w="med" len="med"/>
                      <a:tailEnd type="none" w="med" len="med"/>
                    </a:lnR>
                    <a:lnT w="10160" cap="flat" cmpd="sng" algn="ctr">
                      <a:solidFill>
                        <a:srgbClr val="BFDBFE"/>
                      </a:solidFill>
                      <a:prstDash val="solid"/>
                      <a:round/>
                      <a:headEnd type="none" w="med" len="med"/>
                      <a:tailEnd type="none" w="med" len="med"/>
                    </a:lnT>
                    <a:lnB w="10160" cap="flat" cmpd="sng" algn="ctr">
                      <a:solidFill>
                        <a:srgbClr val="BFDBFE"/>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E293B"/>
                          </a:solidFill>
                        </a:rPr>
                        <a:t>Unspecified</a:t>
                      </a:r>
                      <a:endParaRPr lang="en-US" sz="1000" dirty="0"/>
                    </a:p>
                  </a:txBody>
                  <a:tcPr anchor="ctr">
                    <a:lnL w="10160" cap="flat" cmpd="sng" algn="ctr">
                      <a:solidFill>
                        <a:srgbClr val="BFDBFE"/>
                      </a:solidFill>
                      <a:prstDash val="solid"/>
                      <a:round/>
                      <a:headEnd type="none" w="med" len="med"/>
                      <a:tailEnd type="none" w="med" len="med"/>
                    </a:lnL>
                    <a:lnR w="10160" cap="flat" cmpd="sng" algn="ctr">
                      <a:solidFill>
                        <a:srgbClr val="BFDBFE"/>
                      </a:solidFill>
                      <a:prstDash val="solid"/>
                      <a:round/>
                      <a:headEnd type="none" w="med" len="med"/>
                      <a:tailEnd type="none" w="med" len="med"/>
                    </a:lnR>
                    <a:lnT w="10160" cap="flat" cmpd="sng" algn="ctr">
                      <a:solidFill>
                        <a:srgbClr val="BFDBFE"/>
                      </a:solidFill>
                      <a:prstDash val="solid"/>
                      <a:round/>
                      <a:headEnd type="none" w="med" len="med"/>
                      <a:tailEnd type="none" w="med" len="med"/>
                    </a:lnT>
                    <a:lnB w="10160" cap="flat" cmpd="sng" algn="ctr">
                      <a:solidFill>
                        <a:srgbClr val="BFDBFE"/>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E293B"/>
                          </a:solidFill>
                        </a:rPr>
                        <a:t>Unspecified</a:t>
                      </a:r>
                      <a:endParaRPr lang="en-US" sz="1000" dirty="0"/>
                    </a:p>
                  </a:txBody>
                  <a:tcPr anchor="ctr">
                    <a:lnL w="10160" cap="flat" cmpd="sng" algn="ctr">
                      <a:solidFill>
                        <a:srgbClr val="BFDBFE"/>
                      </a:solidFill>
                      <a:prstDash val="solid"/>
                      <a:round/>
                      <a:headEnd type="none" w="med" len="med"/>
                      <a:tailEnd type="none" w="med" len="med"/>
                    </a:lnL>
                    <a:lnR w="10160" cap="flat" cmpd="sng" algn="ctr">
                      <a:solidFill>
                        <a:srgbClr val="BFDBFE"/>
                      </a:solidFill>
                      <a:prstDash val="solid"/>
                      <a:round/>
                      <a:headEnd type="none" w="med" len="med"/>
                      <a:tailEnd type="none" w="med" len="med"/>
                    </a:lnR>
                    <a:lnT w="10160" cap="flat" cmpd="sng" algn="ctr">
                      <a:solidFill>
                        <a:srgbClr val="BFDBFE"/>
                      </a:solidFill>
                      <a:prstDash val="solid"/>
                      <a:round/>
                      <a:headEnd type="none" w="med" len="med"/>
                      <a:tailEnd type="none" w="med" len="med"/>
                    </a:lnT>
                    <a:lnB w="10160" cap="flat" cmpd="sng" algn="ctr">
                      <a:solidFill>
                        <a:srgbClr val="BFDBFE"/>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29768">
                <a:tc>
                  <a:txBody>
                    <a:bodyPr/>
                    <a:lstStyle/>
                    <a:p>
                      <a:pPr marL="0" indent="0" algn="ctr">
                        <a:buNone/>
                      </a:pPr>
                      <a:r>
                        <a:rPr lang="en-US" sz="1000" dirty="0">
                          <a:solidFill>
                            <a:srgbClr val="1E293B"/>
                          </a:solidFill>
                        </a:rPr>
                        <a:t>Confidence Score</a:t>
                      </a:r>
                      <a:endParaRPr lang="en-US" sz="1000" dirty="0"/>
                    </a:p>
                  </a:txBody>
                  <a:tcPr anchor="ctr">
                    <a:lnL w="10160" cap="flat" cmpd="sng" algn="ctr">
                      <a:solidFill>
                        <a:srgbClr val="BFDBFE"/>
                      </a:solidFill>
                      <a:prstDash val="solid"/>
                      <a:round/>
                      <a:headEnd type="none" w="med" len="med"/>
                      <a:tailEnd type="none" w="med" len="med"/>
                    </a:lnL>
                    <a:lnR w="10160" cap="flat" cmpd="sng" algn="ctr">
                      <a:solidFill>
                        <a:srgbClr val="BFDBFE"/>
                      </a:solidFill>
                      <a:prstDash val="solid"/>
                      <a:round/>
                      <a:headEnd type="none" w="med" len="med"/>
                      <a:tailEnd type="none" w="med" len="med"/>
                    </a:lnR>
                    <a:lnT w="10160" cap="flat" cmpd="sng" algn="ctr">
                      <a:solidFill>
                        <a:srgbClr val="BFDBFE"/>
                      </a:solidFill>
                      <a:prstDash val="solid"/>
                      <a:round/>
                      <a:headEnd type="none" w="med" len="med"/>
                      <a:tailEnd type="none" w="med" len="med"/>
                    </a:lnT>
                    <a:lnB w="10160" cap="flat" cmpd="sng" algn="ctr">
                      <a:solidFill>
                        <a:srgbClr val="BFDBFE"/>
                      </a:solidFill>
                      <a:prstDash val="solid"/>
                      <a:round/>
                      <a:headEnd type="none" w="med" len="med"/>
                      <a:tailEnd type="none" w="med" len="med"/>
                    </a:lnB>
                    <a:solidFill>
                      <a:srgbClr val="F0F6FF"/>
                    </a:solidFill>
                  </a:tcPr>
                </a:tc>
                <a:tc>
                  <a:txBody>
                    <a:bodyPr/>
                    <a:lstStyle/>
                    <a:p>
                      <a:pPr marL="0" indent="0" algn="ctr">
                        <a:buNone/>
                      </a:pPr>
                      <a:r>
                        <a:rPr lang="en-US" sz="1000" b="1" dirty="0">
                          <a:solidFill>
                            <a:srgbClr val="16A34A"/>
                          </a:solidFill>
                        </a:rPr>
                        <a:t>✓ % + Probability Bar</a:t>
                      </a:r>
                      <a:endParaRPr lang="en-US" sz="1000" dirty="0"/>
                    </a:p>
                  </a:txBody>
                  <a:tcPr anchor="ctr">
                    <a:lnL w="10160" cap="flat" cmpd="sng" algn="ctr">
                      <a:solidFill>
                        <a:srgbClr val="BFDBFE"/>
                      </a:solidFill>
                      <a:prstDash val="solid"/>
                      <a:round/>
                      <a:headEnd type="none" w="med" len="med"/>
                      <a:tailEnd type="none" w="med" len="med"/>
                    </a:lnL>
                    <a:lnR w="10160" cap="flat" cmpd="sng" algn="ctr">
                      <a:solidFill>
                        <a:srgbClr val="BFDBFE"/>
                      </a:solidFill>
                      <a:prstDash val="solid"/>
                      <a:round/>
                      <a:headEnd type="none" w="med" len="med"/>
                      <a:tailEnd type="none" w="med" len="med"/>
                    </a:lnR>
                    <a:lnT w="10160" cap="flat" cmpd="sng" algn="ctr">
                      <a:solidFill>
                        <a:srgbClr val="BFDBFE"/>
                      </a:solidFill>
                      <a:prstDash val="solid"/>
                      <a:round/>
                      <a:headEnd type="none" w="med" len="med"/>
                      <a:tailEnd type="none" w="med" len="med"/>
                    </a:lnT>
                    <a:lnB w="10160" cap="flat" cmpd="sng" algn="ctr">
                      <a:solidFill>
                        <a:srgbClr val="BFDBFE"/>
                      </a:solidFill>
                      <a:prstDash val="solid"/>
                      <a:round/>
                      <a:headEnd type="none" w="med" len="med"/>
                      <a:tailEnd type="none" w="med" len="med"/>
                    </a:lnB>
                    <a:solidFill>
                      <a:srgbClr val="F0F6FF"/>
                    </a:solidFill>
                  </a:tcPr>
                </a:tc>
                <a:tc>
                  <a:txBody>
                    <a:bodyPr/>
                    <a:lstStyle/>
                    <a:p>
                      <a:pPr marL="0" indent="0" algn="ctr">
                        <a:buNone/>
                      </a:pPr>
                      <a:r>
                        <a:rPr lang="en-US" sz="1000" dirty="0">
                          <a:solidFill>
                            <a:srgbClr val="1E293B"/>
                          </a:solidFill>
                        </a:rPr>
                        <a:t>Partial</a:t>
                      </a:r>
                      <a:endParaRPr lang="en-US" sz="1000" dirty="0"/>
                    </a:p>
                  </a:txBody>
                  <a:tcPr anchor="ctr">
                    <a:lnL w="10160" cap="flat" cmpd="sng" algn="ctr">
                      <a:solidFill>
                        <a:srgbClr val="BFDBFE"/>
                      </a:solidFill>
                      <a:prstDash val="solid"/>
                      <a:round/>
                      <a:headEnd type="none" w="med" len="med"/>
                      <a:tailEnd type="none" w="med" len="med"/>
                    </a:lnL>
                    <a:lnR w="10160" cap="flat" cmpd="sng" algn="ctr">
                      <a:solidFill>
                        <a:srgbClr val="BFDBFE"/>
                      </a:solidFill>
                      <a:prstDash val="solid"/>
                      <a:round/>
                      <a:headEnd type="none" w="med" len="med"/>
                      <a:tailEnd type="none" w="med" len="med"/>
                    </a:lnR>
                    <a:lnT w="10160" cap="flat" cmpd="sng" algn="ctr">
                      <a:solidFill>
                        <a:srgbClr val="BFDBFE"/>
                      </a:solidFill>
                      <a:prstDash val="solid"/>
                      <a:round/>
                      <a:headEnd type="none" w="med" len="med"/>
                      <a:tailEnd type="none" w="med" len="med"/>
                    </a:lnT>
                    <a:lnB w="10160" cap="flat" cmpd="sng" algn="ctr">
                      <a:solidFill>
                        <a:srgbClr val="BFDBFE"/>
                      </a:solidFill>
                      <a:prstDash val="solid"/>
                      <a:round/>
                      <a:headEnd type="none" w="med" len="med"/>
                      <a:tailEnd type="none" w="med" len="med"/>
                    </a:lnB>
                    <a:solidFill>
                      <a:srgbClr val="F0F6FF"/>
                    </a:solidFill>
                  </a:tcPr>
                </a:tc>
                <a:tc>
                  <a:txBody>
                    <a:bodyPr/>
                    <a:lstStyle/>
                    <a:p>
                      <a:pPr marL="0" indent="0" algn="ctr">
                        <a:buNone/>
                      </a:pPr>
                      <a:r>
                        <a:rPr lang="en-US" sz="1000" dirty="0">
                          <a:solidFill>
                            <a:srgbClr val="1E293B"/>
                          </a:solidFill>
                        </a:rPr>
                        <a:t>✓ Yes</a:t>
                      </a:r>
                      <a:endParaRPr lang="en-US" sz="1000" dirty="0"/>
                    </a:p>
                  </a:txBody>
                  <a:tcPr anchor="ctr">
                    <a:lnL w="10160" cap="flat" cmpd="sng" algn="ctr">
                      <a:solidFill>
                        <a:srgbClr val="BFDBFE"/>
                      </a:solidFill>
                      <a:prstDash val="solid"/>
                      <a:round/>
                      <a:headEnd type="none" w="med" len="med"/>
                      <a:tailEnd type="none" w="med" len="med"/>
                    </a:lnL>
                    <a:lnR w="10160" cap="flat" cmpd="sng" algn="ctr">
                      <a:solidFill>
                        <a:srgbClr val="BFDBFE"/>
                      </a:solidFill>
                      <a:prstDash val="solid"/>
                      <a:round/>
                      <a:headEnd type="none" w="med" len="med"/>
                      <a:tailEnd type="none" w="med" len="med"/>
                    </a:lnR>
                    <a:lnT w="10160" cap="flat" cmpd="sng" algn="ctr">
                      <a:solidFill>
                        <a:srgbClr val="BFDBFE"/>
                      </a:solidFill>
                      <a:prstDash val="solid"/>
                      <a:round/>
                      <a:headEnd type="none" w="med" len="med"/>
                      <a:tailEnd type="none" w="med" len="med"/>
                    </a:lnT>
                    <a:lnB w="10160" cap="flat" cmpd="sng" algn="ctr">
                      <a:solidFill>
                        <a:srgbClr val="BFDBFE"/>
                      </a:solidFill>
                      <a:prstDash val="solid"/>
                      <a:round/>
                      <a:headEnd type="none" w="med" len="med"/>
                      <a:tailEnd type="none" w="med" len="med"/>
                    </a:lnB>
                    <a:solidFill>
                      <a:srgbClr val="F0F6FF"/>
                    </a:solidFill>
                  </a:tcPr>
                </a:tc>
                <a:tc>
                  <a:txBody>
                    <a:bodyPr/>
                    <a:lstStyle/>
                    <a:p>
                      <a:pPr marL="0" indent="0" algn="ctr">
                        <a:buNone/>
                      </a:pPr>
                      <a:r>
                        <a:rPr lang="en-US" sz="1000" dirty="0">
                          <a:solidFill>
                            <a:srgbClr val="1E293B"/>
                          </a:solidFill>
                        </a:rPr>
                        <a:t>✓ Yes</a:t>
                      </a:r>
                      <a:endParaRPr lang="en-US" sz="1000" dirty="0"/>
                    </a:p>
                  </a:txBody>
                  <a:tcPr anchor="ctr">
                    <a:lnL w="10160" cap="flat" cmpd="sng" algn="ctr">
                      <a:solidFill>
                        <a:srgbClr val="BFDBFE"/>
                      </a:solidFill>
                      <a:prstDash val="solid"/>
                      <a:round/>
                      <a:headEnd type="none" w="med" len="med"/>
                      <a:tailEnd type="none" w="med" len="med"/>
                    </a:lnL>
                    <a:lnR w="10160" cap="flat" cmpd="sng" algn="ctr">
                      <a:solidFill>
                        <a:srgbClr val="BFDBFE"/>
                      </a:solidFill>
                      <a:prstDash val="solid"/>
                      <a:round/>
                      <a:headEnd type="none" w="med" len="med"/>
                      <a:tailEnd type="none" w="med" len="med"/>
                    </a:lnR>
                    <a:lnT w="10160" cap="flat" cmpd="sng" algn="ctr">
                      <a:solidFill>
                        <a:srgbClr val="BFDBFE"/>
                      </a:solidFill>
                      <a:prstDash val="solid"/>
                      <a:round/>
                      <a:headEnd type="none" w="med" len="med"/>
                      <a:tailEnd type="none" w="med" len="med"/>
                    </a:lnT>
                    <a:lnB w="10160" cap="flat" cmpd="sng" algn="ctr">
                      <a:solidFill>
                        <a:srgbClr val="BFDBFE"/>
                      </a:solidFill>
                      <a:prstDash val="solid"/>
                      <a:round/>
                      <a:headEnd type="none" w="med" len="med"/>
                      <a:tailEnd type="none" w="med" len="med"/>
                    </a:lnB>
                    <a:solidFill>
                      <a:srgbClr val="F0F6FF"/>
                    </a:solidFill>
                  </a:tcPr>
                </a:tc>
                <a:extLst>
                  <a:ext uri="{0D108BD9-81ED-4DB2-BD59-A6C34878D82A}">
                    <a16:rowId xmlns:a16="http://schemas.microsoft.com/office/drawing/2014/main" val="10007"/>
                  </a:ext>
                </a:extLst>
              </a:tr>
              <a:tr h="429768">
                <a:tc>
                  <a:txBody>
                    <a:bodyPr/>
                    <a:lstStyle/>
                    <a:p>
                      <a:pPr marL="0" indent="0" algn="ctr">
                        <a:buNone/>
                      </a:pPr>
                      <a:r>
                        <a:rPr lang="en-US" sz="1000" dirty="0">
                          <a:solidFill>
                            <a:srgbClr val="1E293B"/>
                          </a:solidFill>
                        </a:rPr>
                        <a:t>Input Type</a:t>
                      </a:r>
                      <a:endParaRPr lang="en-US" sz="1000" dirty="0"/>
                    </a:p>
                  </a:txBody>
                  <a:tcPr anchor="ctr">
                    <a:lnL w="10160" cap="flat" cmpd="sng" algn="ctr">
                      <a:solidFill>
                        <a:srgbClr val="BFDBFE"/>
                      </a:solidFill>
                      <a:prstDash val="solid"/>
                      <a:round/>
                      <a:headEnd type="none" w="med" len="med"/>
                      <a:tailEnd type="none" w="med" len="med"/>
                    </a:lnL>
                    <a:lnR w="10160" cap="flat" cmpd="sng" algn="ctr">
                      <a:solidFill>
                        <a:srgbClr val="BFDBFE"/>
                      </a:solidFill>
                      <a:prstDash val="solid"/>
                      <a:round/>
                      <a:headEnd type="none" w="med" len="med"/>
                      <a:tailEnd type="none" w="med" len="med"/>
                    </a:lnR>
                    <a:lnT w="10160" cap="flat" cmpd="sng" algn="ctr">
                      <a:solidFill>
                        <a:srgbClr val="BFDBFE"/>
                      </a:solidFill>
                      <a:prstDash val="solid"/>
                      <a:round/>
                      <a:headEnd type="none" w="med" len="med"/>
                      <a:tailEnd type="none" w="med" len="med"/>
                    </a:lnT>
                    <a:lnB w="10160" cap="flat" cmpd="sng" algn="ctr">
                      <a:solidFill>
                        <a:srgbClr val="BFDBFE"/>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E293B"/>
                          </a:solidFill>
                        </a:rPr>
                        <a:t>Still Image (JPG/PNG)</a:t>
                      </a:r>
                      <a:endParaRPr lang="en-US" sz="1000" dirty="0"/>
                    </a:p>
                  </a:txBody>
                  <a:tcPr anchor="ctr">
                    <a:lnL w="10160" cap="flat" cmpd="sng" algn="ctr">
                      <a:solidFill>
                        <a:srgbClr val="BFDBFE"/>
                      </a:solidFill>
                      <a:prstDash val="solid"/>
                      <a:round/>
                      <a:headEnd type="none" w="med" len="med"/>
                      <a:tailEnd type="none" w="med" len="med"/>
                    </a:lnL>
                    <a:lnR w="10160" cap="flat" cmpd="sng" algn="ctr">
                      <a:solidFill>
                        <a:srgbClr val="BFDBFE"/>
                      </a:solidFill>
                      <a:prstDash val="solid"/>
                      <a:round/>
                      <a:headEnd type="none" w="med" len="med"/>
                      <a:tailEnd type="none" w="med" len="med"/>
                    </a:lnR>
                    <a:lnT w="10160" cap="flat" cmpd="sng" algn="ctr">
                      <a:solidFill>
                        <a:srgbClr val="BFDBFE"/>
                      </a:solidFill>
                      <a:prstDash val="solid"/>
                      <a:round/>
                      <a:headEnd type="none" w="med" len="med"/>
                      <a:tailEnd type="none" w="med" len="med"/>
                    </a:lnT>
                    <a:lnB w="10160" cap="flat" cmpd="sng" algn="ctr">
                      <a:solidFill>
                        <a:srgbClr val="BFDBFE"/>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E293B"/>
                          </a:solidFill>
                        </a:rPr>
                        <a:t>Image &amp; Video</a:t>
                      </a:r>
                      <a:endParaRPr lang="en-US" sz="1000" dirty="0"/>
                    </a:p>
                  </a:txBody>
                  <a:tcPr anchor="ctr">
                    <a:lnL w="10160" cap="flat" cmpd="sng" algn="ctr">
                      <a:solidFill>
                        <a:srgbClr val="BFDBFE"/>
                      </a:solidFill>
                      <a:prstDash val="solid"/>
                      <a:round/>
                      <a:headEnd type="none" w="med" len="med"/>
                      <a:tailEnd type="none" w="med" len="med"/>
                    </a:lnL>
                    <a:lnR w="10160" cap="flat" cmpd="sng" algn="ctr">
                      <a:solidFill>
                        <a:srgbClr val="BFDBFE"/>
                      </a:solidFill>
                      <a:prstDash val="solid"/>
                      <a:round/>
                      <a:headEnd type="none" w="med" len="med"/>
                      <a:tailEnd type="none" w="med" len="med"/>
                    </a:lnR>
                    <a:lnT w="10160" cap="flat" cmpd="sng" algn="ctr">
                      <a:solidFill>
                        <a:srgbClr val="BFDBFE"/>
                      </a:solidFill>
                      <a:prstDash val="solid"/>
                      <a:round/>
                      <a:headEnd type="none" w="med" len="med"/>
                      <a:tailEnd type="none" w="med" len="med"/>
                    </a:lnT>
                    <a:lnB w="10160" cap="flat" cmpd="sng" algn="ctr">
                      <a:solidFill>
                        <a:srgbClr val="BFDBFE"/>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E293B"/>
                          </a:solidFill>
                        </a:rPr>
                        <a:t>Video Only</a:t>
                      </a:r>
                      <a:endParaRPr lang="en-US" sz="1000" dirty="0"/>
                    </a:p>
                  </a:txBody>
                  <a:tcPr anchor="ctr">
                    <a:lnL w="10160" cap="flat" cmpd="sng" algn="ctr">
                      <a:solidFill>
                        <a:srgbClr val="BFDBFE"/>
                      </a:solidFill>
                      <a:prstDash val="solid"/>
                      <a:round/>
                      <a:headEnd type="none" w="med" len="med"/>
                      <a:tailEnd type="none" w="med" len="med"/>
                    </a:lnL>
                    <a:lnR w="10160" cap="flat" cmpd="sng" algn="ctr">
                      <a:solidFill>
                        <a:srgbClr val="BFDBFE"/>
                      </a:solidFill>
                      <a:prstDash val="solid"/>
                      <a:round/>
                      <a:headEnd type="none" w="med" len="med"/>
                      <a:tailEnd type="none" w="med" len="med"/>
                    </a:lnR>
                    <a:lnT w="10160" cap="flat" cmpd="sng" algn="ctr">
                      <a:solidFill>
                        <a:srgbClr val="BFDBFE"/>
                      </a:solidFill>
                      <a:prstDash val="solid"/>
                      <a:round/>
                      <a:headEnd type="none" w="med" len="med"/>
                      <a:tailEnd type="none" w="med" len="med"/>
                    </a:lnT>
                    <a:lnB w="10160" cap="flat" cmpd="sng" algn="ctr">
                      <a:solidFill>
                        <a:srgbClr val="BFDBFE"/>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E293B"/>
                          </a:solidFill>
                        </a:rPr>
                        <a:t>Image &amp; Video</a:t>
                      </a:r>
                      <a:endParaRPr lang="en-US" sz="1000" dirty="0"/>
                    </a:p>
                  </a:txBody>
                  <a:tcPr anchor="ctr">
                    <a:lnL w="10160" cap="flat" cmpd="sng" algn="ctr">
                      <a:solidFill>
                        <a:srgbClr val="BFDBFE"/>
                      </a:solidFill>
                      <a:prstDash val="solid"/>
                      <a:round/>
                      <a:headEnd type="none" w="med" len="med"/>
                      <a:tailEnd type="none" w="med" len="med"/>
                    </a:lnL>
                    <a:lnR w="10160" cap="flat" cmpd="sng" algn="ctr">
                      <a:solidFill>
                        <a:srgbClr val="BFDBFE"/>
                      </a:solidFill>
                      <a:prstDash val="solid"/>
                      <a:round/>
                      <a:headEnd type="none" w="med" len="med"/>
                      <a:tailEnd type="none" w="med" len="med"/>
                    </a:lnR>
                    <a:lnT w="10160" cap="flat" cmpd="sng" algn="ctr">
                      <a:solidFill>
                        <a:srgbClr val="BFDBFE"/>
                      </a:solidFill>
                      <a:prstDash val="solid"/>
                      <a:round/>
                      <a:headEnd type="none" w="med" len="med"/>
                      <a:tailEnd type="none" w="med" len="med"/>
                    </a:lnT>
                    <a:lnB w="10160" cap="flat" cmpd="sng" algn="ctr">
                      <a:solidFill>
                        <a:srgbClr val="BFDBFE"/>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256032"/>
          </a:xfrm>
          <a:prstGeom prst="rect">
            <a:avLst/>
          </a:prstGeom>
          <a:solidFill>
            <a:srgbClr val="1F3864"/>
          </a:solidFill>
          <a:ln w="12700">
            <a:solidFill>
              <a:srgbClr val="1F3864"/>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3" name="Text 1"/>
          <p:cNvSpPr/>
          <p:nvPr/>
        </p:nvSpPr>
        <p:spPr>
          <a:xfrm>
            <a:off x="274320" y="0"/>
            <a:ext cx="7132320" cy="256032"/>
          </a:xfrm>
          <a:prstGeom prst="rect">
            <a:avLst/>
          </a:prstGeom>
          <a:noFill/>
          <a:ln/>
        </p:spPr>
        <p:txBody>
          <a:bodyPr wrap="square" lIns="0" tIns="0" rIns="0" bIns="0" rtlCol="0" anchor="ctr"/>
          <a:lstStyle/>
          <a:p>
            <a:pPr marL="0" indent="0">
              <a:buNone/>
            </a:pPr>
            <a:r>
              <a:rPr lang="en-US" sz="850" dirty="0">
                <a:solidFill>
                  <a:srgbClr val="FFFFFF"/>
                </a:solidFill>
                <a:latin typeface="Times New Roman" panose="02020603050405020304" pitchFamily="18" charset="0"/>
                <a:cs typeface="Times New Roman" panose="02020603050405020304" pitchFamily="18" charset="0"/>
              </a:rPr>
              <a:t>Deepfake Image Detection System  |  TM471B — May 2026</a:t>
            </a:r>
            <a:endParaRPr lang="en-US" sz="850" dirty="0">
              <a:latin typeface="Times New Roman" panose="02020603050405020304" pitchFamily="18" charset="0"/>
              <a:cs typeface="Times New Roman" panose="02020603050405020304" pitchFamily="18" charset="0"/>
            </a:endParaRPr>
          </a:p>
        </p:txBody>
      </p:sp>
      <p:sp>
        <p:nvSpPr>
          <p:cNvPr id="4" name="Shape 2"/>
          <p:cNvSpPr/>
          <p:nvPr/>
        </p:nvSpPr>
        <p:spPr>
          <a:xfrm>
            <a:off x="8138160" y="27432"/>
            <a:ext cx="749808" cy="201168"/>
          </a:xfrm>
          <a:prstGeom prst="rect">
            <a:avLst/>
          </a:prstGeom>
          <a:solidFill>
            <a:srgbClr val="1A4F9E"/>
          </a:solidFill>
          <a:ln w="12700">
            <a:solidFill>
              <a:srgbClr val="FFFFFF"/>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5" name="Text 3"/>
          <p:cNvSpPr/>
          <p:nvPr/>
        </p:nvSpPr>
        <p:spPr>
          <a:xfrm>
            <a:off x="8138160" y="27432"/>
            <a:ext cx="749808"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Times New Roman" panose="02020603050405020304" pitchFamily="18" charset="0"/>
                <a:cs typeface="Times New Roman" panose="02020603050405020304" pitchFamily="18" charset="0"/>
              </a:rPr>
              <a:t>AOU</a:t>
            </a:r>
            <a:endParaRPr lang="en-US" sz="800" dirty="0">
              <a:latin typeface="Times New Roman" panose="02020603050405020304" pitchFamily="18" charset="0"/>
              <a:cs typeface="Times New Roman" panose="02020603050405020304" pitchFamily="18" charset="0"/>
            </a:endParaRPr>
          </a:p>
        </p:txBody>
      </p:sp>
      <p:sp>
        <p:nvSpPr>
          <p:cNvPr id="6" name="Text 4"/>
          <p:cNvSpPr/>
          <p:nvPr/>
        </p:nvSpPr>
        <p:spPr>
          <a:xfrm>
            <a:off x="8778240" y="4919472"/>
            <a:ext cx="320040" cy="182880"/>
          </a:xfrm>
          <a:prstGeom prst="rect">
            <a:avLst/>
          </a:prstGeom>
          <a:noFill/>
          <a:ln/>
        </p:spPr>
        <p:txBody>
          <a:bodyPr wrap="square" lIns="0" tIns="0" rIns="0" bIns="0" rtlCol="0" anchor="ctr"/>
          <a:lstStyle/>
          <a:p>
            <a:pPr marL="0" indent="0" algn="r">
              <a:buNone/>
            </a:pPr>
            <a:r>
              <a:rPr lang="en-US" sz="900" dirty="0">
                <a:solidFill>
                  <a:srgbClr val="475569"/>
                </a:solidFill>
                <a:latin typeface="Times New Roman" panose="02020603050405020304" pitchFamily="18" charset="0"/>
                <a:cs typeface="Times New Roman" panose="02020603050405020304" pitchFamily="18" charset="0"/>
              </a:rPr>
              <a:t>8</a:t>
            </a:r>
            <a:endParaRPr lang="en-US" sz="900" dirty="0">
              <a:latin typeface="Times New Roman" panose="02020603050405020304" pitchFamily="18" charset="0"/>
              <a:cs typeface="Times New Roman" panose="02020603050405020304" pitchFamily="18" charset="0"/>
            </a:endParaRPr>
          </a:p>
        </p:txBody>
      </p:sp>
      <p:sp>
        <p:nvSpPr>
          <p:cNvPr id="7" name="Text 5"/>
          <p:cNvSpPr/>
          <p:nvPr/>
        </p:nvSpPr>
        <p:spPr>
          <a:xfrm>
            <a:off x="411480" y="320040"/>
            <a:ext cx="8321040" cy="457200"/>
          </a:xfrm>
          <a:prstGeom prst="rect">
            <a:avLst/>
          </a:prstGeom>
          <a:noFill/>
          <a:ln/>
        </p:spPr>
        <p:txBody>
          <a:bodyPr wrap="square" lIns="0" tIns="0" rIns="0" bIns="0" rtlCol="0" anchor="ctr"/>
          <a:lstStyle/>
          <a:p>
            <a:pPr marL="0" indent="0">
              <a:buNone/>
            </a:pPr>
            <a:r>
              <a:rPr lang="en-US" sz="2300" b="1" dirty="0">
                <a:solidFill>
                  <a:srgbClr val="0056B3"/>
                </a:solidFill>
                <a:latin typeface="Times New Roman" panose="02020603050405020304" pitchFamily="18" charset="0"/>
                <a:cs typeface="Times New Roman" panose="02020603050405020304" pitchFamily="18" charset="0"/>
              </a:rPr>
              <a:t>System Design</a:t>
            </a:r>
            <a:endParaRPr lang="en-US" sz="2300" dirty="0">
              <a:latin typeface="Times New Roman" panose="02020603050405020304" pitchFamily="18" charset="0"/>
              <a:cs typeface="Times New Roman" panose="02020603050405020304" pitchFamily="18" charset="0"/>
            </a:endParaRPr>
          </a:p>
        </p:txBody>
      </p:sp>
      <p:sp>
        <p:nvSpPr>
          <p:cNvPr id="8" name="Shape 6"/>
          <p:cNvSpPr/>
          <p:nvPr/>
        </p:nvSpPr>
        <p:spPr>
          <a:xfrm>
            <a:off x="411480" y="795528"/>
            <a:ext cx="8321040" cy="22860"/>
          </a:xfrm>
          <a:prstGeom prst="rect">
            <a:avLst/>
          </a:prstGeom>
          <a:solidFill>
            <a:srgbClr val="0056B3"/>
          </a:solidFill>
          <a:ln w="12700">
            <a:solidFill>
              <a:srgbClr val="0056B3"/>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9" name="Shape 7"/>
          <p:cNvSpPr/>
          <p:nvPr/>
        </p:nvSpPr>
        <p:spPr>
          <a:xfrm>
            <a:off x="411480" y="914400"/>
            <a:ext cx="3977640" cy="347472"/>
          </a:xfrm>
          <a:prstGeom prst="rect">
            <a:avLst/>
          </a:prstGeom>
          <a:solidFill>
            <a:srgbClr val="1F3864"/>
          </a:solidFill>
          <a:ln w="12700">
            <a:solidFill>
              <a:srgbClr val="1F3864"/>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10" name="Text 8"/>
          <p:cNvSpPr/>
          <p:nvPr/>
        </p:nvSpPr>
        <p:spPr>
          <a:xfrm>
            <a:off x="411480" y="914400"/>
            <a:ext cx="3977640"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Times New Roman" panose="02020603050405020304" pitchFamily="18" charset="0"/>
                <a:cs typeface="Times New Roman" panose="02020603050405020304" pitchFamily="18" charset="0"/>
              </a:rPr>
              <a:t>VGG16 Architecture</a:t>
            </a:r>
            <a:endParaRPr lang="en-US" sz="1200" dirty="0">
              <a:latin typeface="Times New Roman" panose="02020603050405020304" pitchFamily="18" charset="0"/>
              <a:cs typeface="Times New Roman" panose="02020603050405020304" pitchFamily="18" charset="0"/>
            </a:endParaRPr>
          </a:p>
        </p:txBody>
      </p:sp>
      <p:sp>
        <p:nvSpPr>
          <p:cNvPr id="11" name="Shape 9"/>
          <p:cNvSpPr/>
          <p:nvPr/>
        </p:nvSpPr>
        <p:spPr>
          <a:xfrm>
            <a:off x="411480" y="1261872"/>
            <a:ext cx="3977640" cy="3520440"/>
          </a:xfrm>
          <a:prstGeom prst="rect">
            <a:avLst/>
          </a:prstGeom>
          <a:solidFill>
            <a:srgbClr val="EBF3FF"/>
          </a:solidFill>
          <a:ln w="12700">
            <a:solidFill>
              <a:srgbClr val="BFDBFE"/>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12" name="Text 10"/>
          <p:cNvSpPr/>
          <p:nvPr/>
        </p:nvSpPr>
        <p:spPr>
          <a:xfrm>
            <a:off x="530352" y="1335024"/>
            <a:ext cx="3749040" cy="384048"/>
          </a:xfrm>
          <a:prstGeom prst="rect">
            <a:avLst/>
          </a:prstGeom>
          <a:noFill/>
          <a:ln/>
        </p:spPr>
        <p:txBody>
          <a:bodyPr wrap="square" lIns="25400" tIns="25400" rIns="25400" bIns="25400" rtlCol="0" anchor="ctr"/>
          <a:lstStyle/>
          <a:p>
            <a:pPr marL="0" indent="0">
              <a:buNone/>
            </a:pPr>
            <a:r>
              <a:rPr lang="en-US" sz="1050" b="1" dirty="0">
                <a:solidFill>
                  <a:srgbClr val="0056B3"/>
                </a:solidFill>
                <a:latin typeface="Times New Roman" panose="02020603050405020304" pitchFamily="18" charset="0"/>
                <a:cs typeface="Times New Roman" panose="02020603050405020304" pitchFamily="18" charset="0"/>
              </a:rPr>
              <a:t>Model:  </a:t>
            </a:r>
            <a:r>
              <a:rPr lang="en-US" sz="1050" dirty="0">
                <a:solidFill>
                  <a:srgbClr val="1E293B"/>
                </a:solidFill>
                <a:latin typeface="Times New Roman" panose="02020603050405020304" pitchFamily="18" charset="0"/>
                <a:cs typeface="Times New Roman" panose="02020603050405020304" pitchFamily="18" charset="0"/>
              </a:rPr>
              <a:t>VGG16 — 16 layers, ~138M parameters</a:t>
            </a:r>
            <a:endParaRPr lang="en-US" sz="1050" dirty="0">
              <a:latin typeface="Times New Roman" panose="02020603050405020304" pitchFamily="18" charset="0"/>
              <a:cs typeface="Times New Roman" panose="02020603050405020304" pitchFamily="18" charset="0"/>
            </a:endParaRPr>
          </a:p>
        </p:txBody>
      </p:sp>
      <p:sp>
        <p:nvSpPr>
          <p:cNvPr id="13" name="Text 11"/>
          <p:cNvSpPr/>
          <p:nvPr/>
        </p:nvSpPr>
        <p:spPr>
          <a:xfrm>
            <a:off x="530352" y="1755648"/>
            <a:ext cx="3749040" cy="384048"/>
          </a:xfrm>
          <a:prstGeom prst="rect">
            <a:avLst/>
          </a:prstGeom>
          <a:noFill/>
          <a:ln/>
        </p:spPr>
        <p:txBody>
          <a:bodyPr wrap="square" lIns="25400" tIns="25400" rIns="25400" bIns="25400" rtlCol="0" anchor="ctr"/>
          <a:lstStyle/>
          <a:p>
            <a:pPr marL="0" indent="0">
              <a:buNone/>
            </a:pPr>
            <a:r>
              <a:rPr lang="en-US" sz="1050" b="1" dirty="0">
                <a:solidFill>
                  <a:srgbClr val="0056B3"/>
                </a:solidFill>
                <a:latin typeface="Times New Roman" panose="02020603050405020304" pitchFamily="18" charset="0"/>
                <a:cs typeface="Times New Roman" panose="02020603050405020304" pitchFamily="18" charset="0"/>
              </a:rPr>
              <a:t>Pre-trained:  </a:t>
            </a:r>
            <a:r>
              <a:rPr lang="en-US" sz="1050" dirty="0">
                <a:solidFill>
                  <a:srgbClr val="1E293B"/>
                </a:solidFill>
                <a:latin typeface="Times New Roman" panose="02020603050405020304" pitchFamily="18" charset="0"/>
                <a:cs typeface="Times New Roman" panose="02020603050405020304" pitchFamily="18" charset="0"/>
              </a:rPr>
              <a:t>ImageNet weights (transfer learning)</a:t>
            </a:r>
            <a:endParaRPr lang="en-US" sz="1050" dirty="0">
              <a:latin typeface="Times New Roman" panose="02020603050405020304" pitchFamily="18" charset="0"/>
              <a:cs typeface="Times New Roman" panose="02020603050405020304" pitchFamily="18" charset="0"/>
            </a:endParaRPr>
          </a:p>
        </p:txBody>
      </p:sp>
      <p:sp>
        <p:nvSpPr>
          <p:cNvPr id="14" name="Text 12"/>
          <p:cNvSpPr/>
          <p:nvPr/>
        </p:nvSpPr>
        <p:spPr>
          <a:xfrm>
            <a:off x="530352" y="2176272"/>
            <a:ext cx="3749040" cy="384048"/>
          </a:xfrm>
          <a:prstGeom prst="rect">
            <a:avLst/>
          </a:prstGeom>
          <a:noFill/>
          <a:ln/>
        </p:spPr>
        <p:txBody>
          <a:bodyPr wrap="square" lIns="25400" tIns="25400" rIns="25400" bIns="25400" rtlCol="0" anchor="ctr"/>
          <a:lstStyle/>
          <a:p>
            <a:pPr marL="0" indent="0">
              <a:buNone/>
            </a:pPr>
            <a:r>
              <a:rPr lang="en-US" sz="1050" b="1" dirty="0">
                <a:solidFill>
                  <a:srgbClr val="0056B3"/>
                </a:solidFill>
                <a:latin typeface="Times New Roman" panose="02020603050405020304" pitchFamily="18" charset="0"/>
                <a:cs typeface="Times New Roman" panose="02020603050405020304" pitchFamily="18" charset="0"/>
              </a:rPr>
              <a:t>Frozen:  </a:t>
            </a:r>
            <a:r>
              <a:rPr lang="en-US" sz="1050" dirty="0">
                <a:solidFill>
                  <a:srgbClr val="1E293B"/>
                </a:solidFill>
                <a:latin typeface="Times New Roman" panose="02020603050405020304" pitchFamily="18" charset="0"/>
                <a:cs typeface="Times New Roman" panose="02020603050405020304" pitchFamily="18" charset="0"/>
              </a:rPr>
              <a:t>Convolutional Blocks 1–4</a:t>
            </a:r>
            <a:endParaRPr lang="en-US" sz="1050" dirty="0">
              <a:latin typeface="Times New Roman" panose="02020603050405020304" pitchFamily="18" charset="0"/>
              <a:cs typeface="Times New Roman" panose="02020603050405020304" pitchFamily="18" charset="0"/>
            </a:endParaRPr>
          </a:p>
        </p:txBody>
      </p:sp>
      <p:sp>
        <p:nvSpPr>
          <p:cNvPr id="15" name="Text 13"/>
          <p:cNvSpPr/>
          <p:nvPr/>
        </p:nvSpPr>
        <p:spPr>
          <a:xfrm>
            <a:off x="530352" y="2596896"/>
            <a:ext cx="3749040" cy="384048"/>
          </a:xfrm>
          <a:prstGeom prst="rect">
            <a:avLst/>
          </a:prstGeom>
          <a:noFill/>
          <a:ln/>
        </p:spPr>
        <p:txBody>
          <a:bodyPr wrap="square" lIns="25400" tIns="25400" rIns="25400" bIns="25400" rtlCol="0" anchor="ctr"/>
          <a:lstStyle/>
          <a:p>
            <a:pPr marL="0" indent="0">
              <a:buNone/>
            </a:pPr>
            <a:r>
              <a:rPr lang="en-US" sz="1050" b="1" dirty="0">
                <a:solidFill>
                  <a:srgbClr val="0056B3"/>
                </a:solidFill>
                <a:latin typeface="Times New Roman" panose="02020603050405020304" pitchFamily="18" charset="0"/>
                <a:cs typeface="Times New Roman" panose="02020603050405020304" pitchFamily="18" charset="0"/>
              </a:rPr>
              <a:t>Trained:  </a:t>
            </a:r>
            <a:r>
              <a:rPr lang="en-US" sz="1050" dirty="0">
                <a:solidFill>
                  <a:srgbClr val="1E293B"/>
                </a:solidFill>
                <a:latin typeface="Times New Roman" panose="02020603050405020304" pitchFamily="18" charset="0"/>
                <a:cs typeface="Times New Roman" panose="02020603050405020304" pitchFamily="18" charset="0"/>
              </a:rPr>
              <a:t>Block 5 + Custom classifier head</a:t>
            </a:r>
            <a:endParaRPr lang="en-US" sz="1050" dirty="0">
              <a:latin typeface="Times New Roman" panose="02020603050405020304" pitchFamily="18" charset="0"/>
              <a:cs typeface="Times New Roman" panose="02020603050405020304" pitchFamily="18" charset="0"/>
            </a:endParaRPr>
          </a:p>
        </p:txBody>
      </p:sp>
      <p:sp>
        <p:nvSpPr>
          <p:cNvPr id="16" name="Text 14"/>
          <p:cNvSpPr/>
          <p:nvPr/>
        </p:nvSpPr>
        <p:spPr>
          <a:xfrm>
            <a:off x="530352" y="3017520"/>
            <a:ext cx="3749040" cy="384048"/>
          </a:xfrm>
          <a:prstGeom prst="rect">
            <a:avLst/>
          </a:prstGeom>
          <a:noFill/>
          <a:ln/>
        </p:spPr>
        <p:txBody>
          <a:bodyPr wrap="square" lIns="25400" tIns="25400" rIns="25400" bIns="25400" rtlCol="0" anchor="ctr"/>
          <a:lstStyle/>
          <a:p>
            <a:pPr marL="0" indent="0">
              <a:buNone/>
            </a:pPr>
            <a:r>
              <a:rPr lang="en-US" sz="1050" b="1" dirty="0">
                <a:solidFill>
                  <a:srgbClr val="0056B3"/>
                </a:solidFill>
                <a:latin typeface="Times New Roman" panose="02020603050405020304" pitchFamily="18" charset="0"/>
                <a:cs typeface="Times New Roman" panose="02020603050405020304" pitchFamily="18" charset="0"/>
              </a:rPr>
              <a:t>Custom Head:  </a:t>
            </a:r>
            <a:r>
              <a:rPr lang="en-US" sz="1050" dirty="0">
                <a:solidFill>
                  <a:srgbClr val="1E293B"/>
                </a:solidFill>
                <a:latin typeface="Times New Roman" panose="02020603050405020304" pitchFamily="18" charset="0"/>
                <a:cs typeface="Times New Roman" panose="02020603050405020304" pitchFamily="18" charset="0"/>
              </a:rPr>
              <a:t>Linear(25,088→4,096) → ReLU → Dropout(0.5) → Linear(4,096→2)</a:t>
            </a:r>
            <a:endParaRPr lang="en-US" sz="1050" dirty="0">
              <a:latin typeface="Times New Roman" panose="02020603050405020304" pitchFamily="18" charset="0"/>
              <a:cs typeface="Times New Roman" panose="02020603050405020304" pitchFamily="18" charset="0"/>
            </a:endParaRPr>
          </a:p>
        </p:txBody>
      </p:sp>
      <p:sp>
        <p:nvSpPr>
          <p:cNvPr id="17" name="Text 15"/>
          <p:cNvSpPr/>
          <p:nvPr/>
        </p:nvSpPr>
        <p:spPr>
          <a:xfrm>
            <a:off x="530352" y="3438144"/>
            <a:ext cx="3749040" cy="384048"/>
          </a:xfrm>
          <a:prstGeom prst="rect">
            <a:avLst/>
          </a:prstGeom>
          <a:noFill/>
          <a:ln/>
        </p:spPr>
        <p:txBody>
          <a:bodyPr wrap="square" lIns="25400" tIns="25400" rIns="25400" bIns="25400" rtlCol="0" anchor="ctr"/>
          <a:lstStyle/>
          <a:p>
            <a:pPr marL="0" indent="0">
              <a:buNone/>
            </a:pPr>
            <a:r>
              <a:rPr lang="en-US" sz="1050" b="1" dirty="0">
                <a:solidFill>
                  <a:srgbClr val="0056B3"/>
                </a:solidFill>
                <a:latin typeface="Times New Roman" panose="02020603050405020304" pitchFamily="18" charset="0"/>
                <a:cs typeface="Times New Roman" panose="02020603050405020304" pitchFamily="18" charset="0"/>
              </a:rPr>
              <a:t>Optimizer:  </a:t>
            </a:r>
            <a:r>
              <a:rPr lang="en-US" sz="1050" dirty="0">
                <a:solidFill>
                  <a:srgbClr val="1E293B"/>
                </a:solidFill>
                <a:latin typeface="Times New Roman" panose="02020603050405020304" pitchFamily="18" charset="0"/>
                <a:cs typeface="Times New Roman" panose="02020603050405020304" pitchFamily="18" charset="0"/>
              </a:rPr>
              <a:t>Adam  lr=1×10⁻⁴, wd=1×10⁻⁵</a:t>
            </a:r>
            <a:endParaRPr lang="en-US" sz="1050" dirty="0">
              <a:latin typeface="Times New Roman" panose="02020603050405020304" pitchFamily="18" charset="0"/>
              <a:cs typeface="Times New Roman" panose="02020603050405020304" pitchFamily="18" charset="0"/>
            </a:endParaRPr>
          </a:p>
        </p:txBody>
      </p:sp>
      <p:sp>
        <p:nvSpPr>
          <p:cNvPr id="18" name="Text 16"/>
          <p:cNvSpPr/>
          <p:nvPr/>
        </p:nvSpPr>
        <p:spPr>
          <a:xfrm>
            <a:off x="530352" y="3858768"/>
            <a:ext cx="3749040" cy="384048"/>
          </a:xfrm>
          <a:prstGeom prst="rect">
            <a:avLst/>
          </a:prstGeom>
          <a:noFill/>
          <a:ln/>
        </p:spPr>
        <p:txBody>
          <a:bodyPr wrap="square" lIns="25400" tIns="25400" rIns="25400" bIns="25400" rtlCol="0" anchor="ctr"/>
          <a:lstStyle/>
          <a:p>
            <a:pPr marL="0" indent="0">
              <a:buNone/>
            </a:pPr>
            <a:r>
              <a:rPr lang="en-US" sz="1050" b="1" dirty="0">
                <a:solidFill>
                  <a:srgbClr val="0056B3"/>
                </a:solidFill>
                <a:latin typeface="Times New Roman" panose="02020603050405020304" pitchFamily="18" charset="0"/>
                <a:cs typeface="Times New Roman" panose="02020603050405020304" pitchFamily="18" charset="0"/>
              </a:rPr>
              <a:t>Loss:  </a:t>
            </a:r>
            <a:r>
              <a:rPr lang="en-US" sz="1050" dirty="0">
                <a:solidFill>
                  <a:srgbClr val="1E293B"/>
                </a:solidFill>
                <a:latin typeface="Times New Roman" panose="02020603050405020304" pitchFamily="18" charset="0"/>
                <a:cs typeface="Times New Roman" panose="02020603050405020304" pitchFamily="18" charset="0"/>
              </a:rPr>
              <a:t>Cross-entropy + Label Smoothing ε=0.1</a:t>
            </a:r>
            <a:endParaRPr lang="en-US" sz="1050" dirty="0">
              <a:latin typeface="Times New Roman" panose="02020603050405020304" pitchFamily="18" charset="0"/>
              <a:cs typeface="Times New Roman" panose="02020603050405020304" pitchFamily="18" charset="0"/>
            </a:endParaRPr>
          </a:p>
        </p:txBody>
      </p:sp>
      <p:sp>
        <p:nvSpPr>
          <p:cNvPr id="20" name="Shape 18"/>
          <p:cNvSpPr/>
          <p:nvPr/>
        </p:nvSpPr>
        <p:spPr>
          <a:xfrm>
            <a:off x="4754880" y="914400"/>
            <a:ext cx="3977640" cy="347472"/>
          </a:xfrm>
          <a:prstGeom prst="rect">
            <a:avLst/>
          </a:prstGeom>
          <a:solidFill>
            <a:srgbClr val="0056B3"/>
          </a:solidFill>
          <a:ln w="12700">
            <a:solidFill>
              <a:srgbClr val="0056B3"/>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21" name="Text 19"/>
          <p:cNvSpPr/>
          <p:nvPr/>
        </p:nvSpPr>
        <p:spPr>
          <a:xfrm>
            <a:off x="4754880" y="914400"/>
            <a:ext cx="3977640"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Times New Roman" panose="02020603050405020304" pitchFamily="18" charset="0"/>
                <a:cs typeface="Times New Roman" panose="02020603050405020304" pitchFamily="18" charset="0"/>
              </a:rPr>
              <a:t>Dataset &amp; Training Setup</a:t>
            </a:r>
            <a:endParaRPr lang="en-US" sz="1200" dirty="0">
              <a:latin typeface="Times New Roman" panose="02020603050405020304" pitchFamily="18" charset="0"/>
              <a:cs typeface="Times New Roman" panose="02020603050405020304" pitchFamily="18" charset="0"/>
            </a:endParaRPr>
          </a:p>
        </p:txBody>
      </p:sp>
      <p:sp>
        <p:nvSpPr>
          <p:cNvPr id="22" name="Shape 20"/>
          <p:cNvSpPr/>
          <p:nvPr/>
        </p:nvSpPr>
        <p:spPr>
          <a:xfrm>
            <a:off x="4754880" y="1261872"/>
            <a:ext cx="3977640" cy="3520440"/>
          </a:xfrm>
          <a:prstGeom prst="rect">
            <a:avLst/>
          </a:prstGeom>
          <a:solidFill>
            <a:srgbClr val="EFF6FF"/>
          </a:solidFill>
          <a:ln w="12700">
            <a:solidFill>
              <a:srgbClr val="BFDBFE"/>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23" name="Text 21"/>
          <p:cNvSpPr/>
          <p:nvPr/>
        </p:nvSpPr>
        <p:spPr>
          <a:xfrm>
            <a:off x="4864608" y="1335024"/>
            <a:ext cx="3749040" cy="384048"/>
          </a:xfrm>
          <a:prstGeom prst="rect">
            <a:avLst/>
          </a:prstGeom>
          <a:noFill/>
          <a:ln/>
        </p:spPr>
        <p:txBody>
          <a:bodyPr wrap="square" lIns="25400" tIns="25400" rIns="25400" bIns="25400" rtlCol="0" anchor="ctr"/>
          <a:lstStyle/>
          <a:p>
            <a:pPr marL="0" indent="0">
              <a:buNone/>
            </a:pPr>
            <a:r>
              <a:rPr lang="en-US" sz="1050" b="1" dirty="0">
                <a:solidFill>
                  <a:srgbClr val="1F3864"/>
                </a:solidFill>
                <a:latin typeface="Times New Roman" panose="02020603050405020304" pitchFamily="18" charset="0"/>
                <a:cs typeface="Times New Roman" panose="02020603050405020304" pitchFamily="18" charset="0"/>
              </a:rPr>
              <a:t>Dataset:  </a:t>
            </a:r>
            <a:r>
              <a:rPr lang="en-US" sz="1050" dirty="0">
                <a:solidFill>
                  <a:srgbClr val="1E293B"/>
                </a:solidFill>
                <a:latin typeface="Times New Roman" panose="02020603050405020304" pitchFamily="18" charset="0"/>
                <a:cs typeface="Times New Roman" panose="02020603050405020304" pitchFamily="18" charset="0"/>
              </a:rPr>
              <a:t>RealVsFake_81k_by_Wish (Kaggle)</a:t>
            </a:r>
            <a:endParaRPr lang="en-US" sz="1050" dirty="0">
              <a:latin typeface="Times New Roman" panose="02020603050405020304" pitchFamily="18" charset="0"/>
              <a:cs typeface="Times New Roman" panose="02020603050405020304" pitchFamily="18" charset="0"/>
            </a:endParaRPr>
          </a:p>
        </p:txBody>
      </p:sp>
      <p:sp>
        <p:nvSpPr>
          <p:cNvPr id="24" name="Text 22"/>
          <p:cNvSpPr/>
          <p:nvPr/>
        </p:nvSpPr>
        <p:spPr>
          <a:xfrm>
            <a:off x="4864608" y="1755648"/>
            <a:ext cx="3749040" cy="384048"/>
          </a:xfrm>
          <a:prstGeom prst="rect">
            <a:avLst/>
          </a:prstGeom>
          <a:noFill/>
          <a:ln/>
        </p:spPr>
        <p:txBody>
          <a:bodyPr wrap="square" lIns="25400" tIns="25400" rIns="25400" bIns="25400" rtlCol="0" anchor="ctr"/>
          <a:lstStyle/>
          <a:p>
            <a:pPr marL="0" indent="0">
              <a:buNone/>
            </a:pPr>
            <a:r>
              <a:rPr lang="en-US" sz="1050" b="1" dirty="0">
                <a:solidFill>
                  <a:srgbClr val="1F3864"/>
                </a:solidFill>
                <a:latin typeface="Times New Roman" panose="02020603050405020304" pitchFamily="18" charset="0"/>
                <a:cs typeface="Times New Roman" panose="02020603050405020304" pitchFamily="18" charset="0"/>
              </a:rPr>
              <a:t>Total:  </a:t>
            </a:r>
            <a:r>
              <a:rPr lang="en-US" sz="1050" dirty="0">
                <a:solidFill>
                  <a:srgbClr val="1E293B"/>
                </a:solidFill>
                <a:latin typeface="Times New Roman" panose="02020603050405020304" pitchFamily="18" charset="0"/>
                <a:cs typeface="Times New Roman" panose="02020603050405020304" pitchFamily="18" charset="0"/>
              </a:rPr>
              <a:t>120,000 images (60K Real + 60K Fake)</a:t>
            </a:r>
            <a:endParaRPr lang="en-US" sz="1050" dirty="0">
              <a:latin typeface="Times New Roman" panose="02020603050405020304" pitchFamily="18" charset="0"/>
              <a:cs typeface="Times New Roman" panose="02020603050405020304" pitchFamily="18" charset="0"/>
            </a:endParaRPr>
          </a:p>
        </p:txBody>
      </p:sp>
      <p:sp>
        <p:nvSpPr>
          <p:cNvPr id="25" name="Text 23"/>
          <p:cNvSpPr/>
          <p:nvPr/>
        </p:nvSpPr>
        <p:spPr>
          <a:xfrm>
            <a:off x="4864608" y="2176272"/>
            <a:ext cx="3749040" cy="384048"/>
          </a:xfrm>
          <a:prstGeom prst="rect">
            <a:avLst/>
          </a:prstGeom>
          <a:noFill/>
          <a:ln/>
        </p:spPr>
        <p:txBody>
          <a:bodyPr wrap="square" lIns="25400" tIns="25400" rIns="25400" bIns="25400" rtlCol="0" anchor="ctr"/>
          <a:lstStyle/>
          <a:p>
            <a:pPr marL="0" indent="0">
              <a:buNone/>
            </a:pPr>
            <a:r>
              <a:rPr lang="en-US" sz="1050" b="1" dirty="0">
                <a:solidFill>
                  <a:srgbClr val="1F3864"/>
                </a:solidFill>
                <a:latin typeface="Times New Roman" panose="02020603050405020304" pitchFamily="18" charset="0"/>
                <a:cs typeface="Times New Roman" panose="02020603050405020304" pitchFamily="18" charset="0"/>
              </a:rPr>
              <a:t>Real Sources:  </a:t>
            </a:r>
            <a:r>
              <a:rPr lang="en-US" sz="1050" dirty="0">
                <a:solidFill>
                  <a:srgbClr val="1E293B"/>
                </a:solidFill>
                <a:latin typeface="Times New Roman" panose="02020603050405020304" pitchFamily="18" charset="0"/>
                <a:cs typeface="Times New Roman" panose="02020603050405020304" pitchFamily="18" charset="0"/>
              </a:rPr>
              <a:t>FFHQ [70K] + CelebA [11K]</a:t>
            </a:r>
            <a:endParaRPr lang="en-US" sz="1050" dirty="0">
              <a:latin typeface="Times New Roman" panose="02020603050405020304" pitchFamily="18" charset="0"/>
              <a:cs typeface="Times New Roman" panose="02020603050405020304" pitchFamily="18" charset="0"/>
            </a:endParaRPr>
          </a:p>
        </p:txBody>
      </p:sp>
      <p:sp>
        <p:nvSpPr>
          <p:cNvPr id="26" name="Text 24"/>
          <p:cNvSpPr/>
          <p:nvPr/>
        </p:nvSpPr>
        <p:spPr>
          <a:xfrm>
            <a:off x="4864608" y="2596896"/>
            <a:ext cx="3749040" cy="384048"/>
          </a:xfrm>
          <a:prstGeom prst="rect">
            <a:avLst/>
          </a:prstGeom>
          <a:noFill/>
          <a:ln/>
        </p:spPr>
        <p:txBody>
          <a:bodyPr wrap="square" lIns="25400" tIns="25400" rIns="25400" bIns="25400" rtlCol="0" anchor="ctr"/>
          <a:lstStyle/>
          <a:p>
            <a:pPr marL="0" indent="0">
              <a:buNone/>
            </a:pPr>
            <a:r>
              <a:rPr lang="en-US" sz="1050" b="1" dirty="0">
                <a:solidFill>
                  <a:srgbClr val="1F3864"/>
                </a:solidFill>
                <a:latin typeface="Times New Roman" panose="02020603050405020304" pitchFamily="18" charset="0"/>
                <a:cs typeface="Times New Roman" panose="02020603050405020304" pitchFamily="18" charset="0"/>
              </a:rPr>
              <a:t>Fake Sources:  </a:t>
            </a:r>
            <a:r>
              <a:rPr lang="en-US" sz="1050" dirty="0">
                <a:solidFill>
                  <a:srgbClr val="1E293B"/>
                </a:solidFill>
                <a:latin typeface="Times New Roman" panose="02020603050405020304" pitchFamily="18" charset="0"/>
                <a:cs typeface="Times New Roman" panose="02020603050405020304" pitchFamily="18" charset="0"/>
              </a:rPr>
              <a:t>StyleGAN · Stable Diffusion · AiGenImage</a:t>
            </a:r>
            <a:endParaRPr lang="en-US" sz="1050" dirty="0">
              <a:latin typeface="Times New Roman" panose="02020603050405020304" pitchFamily="18" charset="0"/>
              <a:cs typeface="Times New Roman" panose="02020603050405020304" pitchFamily="18" charset="0"/>
            </a:endParaRPr>
          </a:p>
        </p:txBody>
      </p:sp>
      <p:sp>
        <p:nvSpPr>
          <p:cNvPr id="27" name="Text 25"/>
          <p:cNvSpPr/>
          <p:nvPr/>
        </p:nvSpPr>
        <p:spPr>
          <a:xfrm>
            <a:off x="4864608" y="3017520"/>
            <a:ext cx="3749040" cy="384048"/>
          </a:xfrm>
          <a:prstGeom prst="rect">
            <a:avLst/>
          </a:prstGeom>
          <a:noFill/>
          <a:ln/>
        </p:spPr>
        <p:txBody>
          <a:bodyPr wrap="square" lIns="25400" tIns="25400" rIns="25400" bIns="25400" rtlCol="0" anchor="ctr"/>
          <a:lstStyle/>
          <a:p>
            <a:pPr marL="0" indent="0">
              <a:buNone/>
            </a:pPr>
            <a:r>
              <a:rPr lang="en-US" sz="1050" b="1" dirty="0">
                <a:solidFill>
                  <a:srgbClr val="1F3864"/>
                </a:solidFill>
                <a:latin typeface="Times New Roman" panose="02020603050405020304" pitchFamily="18" charset="0"/>
                <a:cs typeface="Times New Roman" panose="02020603050405020304" pitchFamily="18" charset="0"/>
              </a:rPr>
              <a:t>Split:  </a:t>
            </a:r>
            <a:r>
              <a:rPr lang="en-US" sz="1050" dirty="0">
                <a:solidFill>
                  <a:srgbClr val="1E293B"/>
                </a:solidFill>
                <a:latin typeface="Times New Roman" panose="02020603050405020304" pitchFamily="18" charset="0"/>
                <a:cs typeface="Times New Roman" panose="02020603050405020304" pitchFamily="18" charset="0"/>
              </a:rPr>
              <a:t>70% Train / 15% Val / 15% Test</a:t>
            </a:r>
            <a:endParaRPr lang="en-US" sz="1050" dirty="0">
              <a:latin typeface="Times New Roman" panose="02020603050405020304" pitchFamily="18" charset="0"/>
              <a:cs typeface="Times New Roman" panose="02020603050405020304" pitchFamily="18" charset="0"/>
            </a:endParaRPr>
          </a:p>
        </p:txBody>
      </p:sp>
      <p:sp>
        <p:nvSpPr>
          <p:cNvPr id="28" name="Text 26"/>
          <p:cNvSpPr/>
          <p:nvPr/>
        </p:nvSpPr>
        <p:spPr>
          <a:xfrm>
            <a:off x="4864608" y="3438144"/>
            <a:ext cx="3749040" cy="384048"/>
          </a:xfrm>
          <a:prstGeom prst="rect">
            <a:avLst/>
          </a:prstGeom>
          <a:noFill/>
          <a:ln/>
        </p:spPr>
        <p:txBody>
          <a:bodyPr wrap="square" lIns="25400" tIns="25400" rIns="25400" bIns="25400" rtlCol="0" anchor="ctr"/>
          <a:lstStyle/>
          <a:p>
            <a:pPr marL="0" indent="0">
              <a:buNone/>
            </a:pPr>
            <a:r>
              <a:rPr lang="en-US" sz="1050" b="1" dirty="0">
                <a:solidFill>
                  <a:srgbClr val="1F3864"/>
                </a:solidFill>
                <a:latin typeface="Times New Roman" panose="02020603050405020304" pitchFamily="18" charset="0"/>
                <a:cs typeface="Times New Roman" panose="02020603050405020304" pitchFamily="18" charset="0"/>
              </a:rPr>
              <a:t>Preprocessing:  </a:t>
            </a:r>
            <a:r>
              <a:rPr lang="en-US" sz="1050" dirty="0">
                <a:solidFill>
                  <a:srgbClr val="1E293B"/>
                </a:solidFill>
                <a:latin typeface="Times New Roman" panose="02020603050405020304" pitchFamily="18" charset="0"/>
                <a:cs typeface="Times New Roman" panose="02020603050405020304" pitchFamily="18" charset="0"/>
              </a:rPr>
              <a:t>MTCNN crop → 224×224 → ImageNet norm</a:t>
            </a:r>
            <a:endParaRPr lang="en-US" sz="1050" dirty="0">
              <a:latin typeface="Times New Roman" panose="02020603050405020304" pitchFamily="18" charset="0"/>
              <a:cs typeface="Times New Roman" panose="02020603050405020304" pitchFamily="18" charset="0"/>
            </a:endParaRPr>
          </a:p>
        </p:txBody>
      </p:sp>
      <p:sp>
        <p:nvSpPr>
          <p:cNvPr id="29" name="Text 27"/>
          <p:cNvSpPr/>
          <p:nvPr/>
        </p:nvSpPr>
        <p:spPr>
          <a:xfrm>
            <a:off x="4864608" y="3858768"/>
            <a:ext cx="3749040" cy="384048"/>
          </a:xfrm>
          <a:prstGeom prst="rect">
            <a:avLst/>
          </a:prstGeom>
          <a:noFill/>
          <a:ln/>
        </p:spPr>
        <p:txBody>
          <a:bodyPr wrap="square" lIns="25400" tIns="25400" rIns="25400" bIns="25400" rtlCol="0" anchor="ctr"/>
          <a:lstStyle/>
          <a:p>
            <a:pPr marL="0" indent="0">
              <a:buNone/>
            </a:pPr>
            <a:r>
              <a:rPr lang="en-US" sz="1050" b="1" dirty="0">
                <a:solidFill>
                  <a:srgbClr val="1F3864"/>
                </a:solidFill>
                <a:latin typeface="Times New Roman" panose="02020603050405020304" pitchFamily="18" charset="0"/>
                <a:cs typeface="Times New Roman" panose="02020603050405020304" pitchFamily="18" charset="0"/>
              </a:rPr>
              <a:t>Epochs:  </a:t>
            </a:r>
            <a:r>
              <a:rPr lang="en-US" sz="1050" dirty="0">
                <a:solidFill>
                  <a:srgbClr val="1E293B"/>
                </a:solidFill>
                <a:latin typeface="Times New Roman" panose="02020603050405020304" pitchFamily="18" charset="0"/>
                <a:cs typeface="Times New Roman" panose="02020603050405020304" pitchFamily="18" charset="0"/>
              </a:rPr>
              <a:t>10 · Batch 64 · GPU accelerated</a:t>
            </a:r>
            <a:endParaRPr lang="en-US" sz="105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256032"/>
          </a:xfrm>
          <a:prstGeom prst="rect">
            <a:avLst/>
          </a:prstGeom>
          <a:solidFill>
            <a:srgbClr val="1F3864"/>
          </a:solidFill>
          <a:ln w="12700">
            <a:solidFill>
              <a:srgbClr val="1F3864"/>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3" name="Text 1"/>
          <p:cNvSpPr/>
          <p:nvPr/>
        </p:nvSpPr>
        <p:spPr>
          <a:xfrm>
            <a:off x="274320" y="0"/>
            <a:ext cx="7132320" cy="256032"/>
          </a:xfrm>
          <a:prstGeom prst="rect">
            <a:avLst/>
          </a:prstGeom>
          <a:noFill/>
          <a:ln/>
        </p:spPr>
        <p:txBody>
          <a:bodyPr wrap="square" lIns="0" tIns="0" rIns="0" bIns="0" rtlCol="0" anchor="ctr"/>
          <a:lstStyle/>
          <a:p>
            <a:pPr marL="0" indent="0">
              <a:buNone/>
            </a:pPr>
            <a:r>
              <a:rPr lang="en-US" sz="850" dirty="0">
                <a:solidFill>
                  <a:srgbClr val="FFFFFF"/>
                </a:solidFill>
                <a:latin typeface="Times New Roman" panose="02020603050405020304" pitchFamily="18" charset="0"/>
                <a:cs typeface="Times New Roman" panose="02020603050405020304" pitchFamily="18" charset="0"/>
              </a:rPr>
              <a:t>Deepfake Image Detection System  |  TM471B — May 2026</a:t>
            </a:r>
            <a:endParaRPr lang="en-US" sz="850" dirty="0">
              <a:latin typeface="Times New Roman" panose="02020603050405020304" pitchFamily="18" charset="0"/>
              <a:cs typeface="Times New Roman" panose="02020603050405020304" pitchFamily="18" charset="0"/>
            </a:endParaRPr>
          </a:p>
        </p:txBody>
      </p:sp>
      <p:sp>
        <p:nvSpPr>
          <p:cNvPr id="4" name="Shape 2"/>
          <p:cNvSpPr/>
          <p:nvPr/>
        </p:nvSpPr>
        <p:spPr>
          <a:xfrm>
            <a:off x="8138160" y="27432"/>
            <a:ext cx="749808" cy="201168"/>
          </a:xfrm>
          <a:prstGeom prst="rect">
            <a:avLst/>
          </a:prstGeom>
          <a:solidFill>
            <a:srgbClr val="1A4F9E"/>
          </a:solidFill>
          <a:ln w="12700">
            <a:solidFill>
              <a:srgbClr val="FFFFFF"/>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5" name="Text 3"/>
          <p:cNvSpPr/>
          <p:nvPr/>
        </p:nvSpPr>
        <p:spPr>
          <a:xfrm>
            <a:off x="8138160" y="27432"/>
            <a:ext cx="749808"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Times New Roman" panose="02020603050405020304" pitchFamily="18" charset="0"/>
                <a:cs typeface="Times New Roman" panose="02020603050405020304" pitchFamily="18" charset="0"/>
              </a:rPr>
              <a:t>AOU</a:t>
            </a:r>
            <a:endParaRPr lang="en-US" sz="800" dirty="0">
              <a:latin typeface="Times New Roman" panose="02020603050405020304" pitchFamily="18" charset="0"/>
              <a:cs typeface="Times New Roman" panose="02020603050405020304" pitchFamily="18" charset="0"/>
            </a:endParaRPr>
          </a:p>
        </p:txBody>
      </p:sp>
      <p:sp>
        <p:nvSpPr>
          <p:cNvPr id="6" name="Text 4"/>
          <p:cNvSpPr/>
          <p:nvPr/>
        </p:nvSpPr>
        <p:spPr>
          <a:xfrm>
            <a:off x="8778240" y="4919472"/>
            <a:ext cx="320040" cy="182880"/>
          </a:xfrm>
          <a:prstGeom prst="rect">
            <a:avLst/>
          </a:prstGeom>
          <a:noFill/>
          <a:ln/>
        </p:spPr>
        <p:txBody>
          <a:bodyPr wrap="square" lIns="0" tIns="0" rIns="0" bIns="0" rtlCol="0" anchor="ctr"/>
          <a:lstStyle/>
          <a:p>
            <a:pPr marL="0" indent="0" algn="r">
              <a:buNone/>
            </a:pPr>
            <a:r>
              <a:rPr lang="en-US" sz="900" dirty="0">
                <a:solidFill>
                  <a:srgbClr val="475569"/>
                </a:solidFill>
                <a:latin typeface="Times New Roman" panose="02020603050405020304" pitchFamily="18" charset="0"/>
                <a:cs typeface="Times New Roman" panose="02020603050405020304" pitchFamily="18" charset="0"/>
              </a:rPr>
              <a:t>17</a:t>
            </a:r>
            <a:endParaRPr lang="en-US" sz="900" dirty="0">
              <a:latin typeface="Times New Roman" panose="02020603050405020304" pitchFamily="18" charset="0"/>
              <a:cs typeface="Times New Roman" panose="02020603050405020304" pitchFamily="18" charset="0"/>
            </a:endParaRPr>
          </a:p>
        </p:txBody>
      </p:sp>
      <p:sp>
        <p:nvSpPr>
          <p:cNvPr id="7" name="Text 5"/>
          <p:cNvSpPr/>
          <p:nvPr/>
        </p:nvSpPr>
        <p:spPr>
          <a:xfrm>
            <a:off x="411480" y="320040"/>
            <a:ext cx="8321040" cy="457200"/>
          </a:xfrm>
          <a:prstGeom prst="rect">
            <a:avLst/>
          </a:prstGeom>
          <a:noFill/>
          <a:ln/>
        </p:spPr>
        <p:txBody>
          <a:bodyPr wrap="square" lIns="0" tIns="0" rIns="0" bIns="0" rtlCol="0" anchor="ctr"/>
          <a:lstStyle/>
          <a:p>
            <a:pPr marL="0" indent="0">
              <a:buNone/>
            </a:pPr>
            <a:r>
              <a:rPr lang="en-US" sz="2300" b="1" dirty="0">
                <a:solidFill>
                  <a:srgbClr val="0056B3"/>
                </a:solidFill>
                <a:latin typeface="Times New Roman" panose="02020603050405020304" pitchFamily="18" charset="0"/>
                <a:cs typeface="Times New Roman" panose="02020603050405020304" pitchFamily="18" charset="0"/>
              </a:rPr>
              <a:t>Implementation — System Pipeline &amp; Key Features</a:t>
            </a:r>
            <a:endParaRPr lang="en-US" sz="2300" dirty="0">
              <a:latin typeface="Times New Roman" panose="02020603050405020304" pitchFamily="18" charset="0"/>
              <a:cs typeface="Times New Roman" panose="02020603050405020304" pitchFamily="18" charset="0"/>
            </a:endParaRPr>
          </a:p>
        </p:txBody>
      </p:sp>
      <p:sp>
        <p:nvSpPr>
          <p:cNvPr id="8" name="Shape 6"/>
          <p:cNvSpPr/>
          <p:nvPr/>
        </p:nvSpPr>
        <p:spPr>
          <a:xfrm>
            <a:off x="224136" y="792900"/>
            <a:ext cx="8321040" cy="22860"/>
          </a:xfrm>
          <a:prstGeom prst="rect">
            <a:avLst/>
          </a:prstGeom>
          <a:solidFill>
            <a:srgbClr val="0056B3"/>
          </a:solidFill>
          <a:ln w="12700">
            <a:solidFill>
              <a:srgbClr val="0056B3"/>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9" name="Shape 9"/>
          <p:cNvSpPr/>
          <p:nvPr/>
        </p:nvSpPr>
        <p:spPr>
          <a:xfrm>
            <a:off x="144816" y="1203120"/>
            <a:ext cx="1447800" cy="228600"/>
          </a:xfrm>
          <a:prstGeom prst="rect">
            <a:avLst/>
          </a:prstGeom>
          <a:solidFill>
            <a:srgbClr val="1F3864"/>
          </a:solidFill>
          <a:ln w="12700">
            <a:solidFill>
              <a:srgbClr val="1F3864"/>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10" name="Txt 10"/>
          <p:cNvSpPr/>
          <p:nvPr/>
        </p:nvSpPr>
        <p:spPr>
          <a:xfrm>
            <a:off x="144816" y="1203120"/>
            <a:ext cx="1447800" cy="228600"/>
          </a:xfrm>
          <a:prstGeom prst="rect">
            <a:avLst/>
          </a:prstGeom>
          <a:noFill/>
          <a:ln/>
        </p:spPr>
        <p:txBody>
          <a:bodyPr wrap="square" lIns="91440" tIns="45720" rIns="91440" bIns="45720" rtlCol="0" anchor="ctr"/>
          <a:lstStyle/>
          <a:p>
            <a:pPr marL="0" indent="0" algn="ctr">
              <a:buNone/>
            </a:pPr>
            <a:r>
              <a:rPr lang="en-US" sz="950" b="1" dirty="0">
                <a:solidFill>
                  <a:srgbClr val="FFFFFF"/>
                </a:solidFill>
                <a:latin typeface="Times New Roman" panose="02020603050405020304" pitchFamily="18" charset="0"/>
                <a:cs typeface="Times New Roman" panose="02020603050405020304" pitchFamily="18" charset="0"/>
              </a:rPr>
              <a:t>1. Upload</a:t>
            </a:r>
            <a:endParaRPr lang="en-US" sz="950" dirty="0">
              <a:latin typeface="Times New Roman" panose="02020603050405020304" pitchFamily="18" charset="0"/>
              <a:cs typeface="Times New Roman" panose="02020603050405020304" pitchFamily="18" charset="0"/>
            </a:endParaRPr>
          </a:p>
        </p:txBody>
      </p:sp>
      <p:sp>
        <p:nvSpPr>
          <p:cNvPr id="11" name="Shape 11"/>
          <p:cNvSpPr/>
          <p:nvPr/>
        </p:nvSpPr>
        <p:spPr>
          <a:xfrm>
            <a:off x="144816" y="1431720"/>
            <a:ext cx="1447800" cy="457200"/>
          </a:xfrm>
          <a:prstGeom prst="rect">
            <a:avLst/>
          </a:prstGeom>
          <a:solidFill>
            <a:srgbClr val="EBF3FF"/>
          </a:solidFill>
          <a:ln w="12700">
            <a:solidFill>
              <a:srgbClr val="BFDBFE"/>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12" name="Txt 12"/>
          <p:cNvSpPr/>
          <p:nvPr/>
        </p:nvSpPr>
        <p:spPr>
          <a:xfrm>
            <a:off x="144816" y="1431720"/>
            <a:ext cx="1447800" cy="457200"/>
          </a:xfrm>
          <a:prstGeom prst="rect">
            <a:avLst/>
          </a:prstGeom>
          <a:noFill/>
          <a:ln/>
        </p:spPr>
        <p:txBody>
          <a:bodyPr wrap="square" lIns="91440" tIns="45720" rIns="91440" bIns="45720" rtlCol="0" anchor="ctr"/>
          <a:lstStyle/>
          <a:p>
            <a:pPr marL="0" indent="0" algn="ctr">
              <a:buNone/>
            </a:pPr>
            <a:r>
              <a:rPr lang="en-US" sz="820" dirty="0">
                <a:solidFill>
                  <a:srgbClr val="1E293B"/>
                </a:solidFill>
                <a:latin typeface="Times New Roman" panose="02020603050405020304" pitchFamily="18" charset="0"/>
                <a:cs typeface="Times New Roman" panose="02020603050405020304" pitchFamily="18" charset="0"/>
              </a:rPr>
              <a:t>User drags image (JPG/PNG/WEBP); in-RAM only</a:t>
            </a:r>
            <a:endParaRPr lang="en-US" sz="820" dirty="0">
              <a:latin typeface="Times New Roman" panose="02020603050405020304" pitchFamily="18" charset="0"/>
              <a:cs typeface="Times New Roman" panose="02020603050405020304" pitchFamily="18" charset="0"/>
            </a:endParaRPr>
          </a:p>
        </p:txBody>
      </p:sp>
      <p:sp>
        <p:nvSpPr>
          <p:cNvPr id="13" name="Shape 13"/>
          <p:cNvSpPr/>
          <p:nvPr/>
        </p:nvSpPr>
        <p:spPr>
          <a:xfrm>
            <a:off x="1638336" y="1203120"/>
            <a:ext cx="1447800" cy="228600"/>
          </a:xfrm>
          <a:prstGeom prst="rect">
            <a:avLst/>
          </a:prstGeom>
          <a:solidFill>
            <a:srgbClr val="1F3864"/>
          </a:solidFill>
          <a:ln w="12700">
            <a:solidFill>
              <a:srgbClr val="1F3864"/>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14" name="Txt 14"/>
          <p:cNvSpPr/>
          <p:nvPr/>
        </p:nvSpPr>
        <p:spPr>
          <a:xfrm>
            <a:off x="1638336" y="1203120"/>
            <a:ext cx="1447800" cy="228600"/>
          </a:xfrm>
          <a:prstGeom prst="rect">
            <a:avLst/>
          </a:prstGeom>
          <a:noFill/>
          <a:ln/>
        </p:spPr>
        <p:txBody>
          <a:bodyPr wrap="square" lIns="91440" tIns="45720" rIns="91440" bIns="45720" rtlCol="0" anchor="ctr"/>
          <a:lstStyle/>
          <a:p>
            <a:pPr marL="0" indent="0" algn="ctr">
              <a:buNone/>
            </a:pPr>
            <a:r>
              <a:rPr lang="en-US" sz="950" b="1" dirty="0">
                <a:solidFill>
                  <a:srgbClr val="FFFFFF"/>
                </a:solidFill>
                <a:latin typeface="Times New Roman" panose="02020603050405020304" pitchFamily="18" charset="0"/>
                <a:cs typeface="Times New Roman" panose="02020603050405020304" pitchFamily="18" charset="0"/>
              </a:rPr>
              <a:t>2. Face Detect</a:t>
            </a:r>
            <a:endParaRPr lang="en-US" sz="950" dirty="0">
              <a:latin typeface="Times New Roman" panose="02020603050405020304" pitchFamily="18" charset="0"/>
              <a:cs typeface="Times New Roman" panose="02020603050405020304" pitchFamily="18" charset="0"/>
            </a:endParaRPr>
          </a:p>
        </p:txBody>
      </p:sp>
      <p:sp>
        <p:nvSpPr>
          <p:cNvPr id="15" name="Shape 15"/>
          <p:cNvSpPr/>
          <p:nvPr/>
        </p:nvSpPr>
        <p:spPr>
          <a:xfrm>
            <a:off x="1638336" y="1431720"/>
            <a:ext cx="1447800" cy="457200"/>
          </a:xfrm>
          <a:prstGeom prst="rect">
            <a:avLst/>
          </a:prstGeom>
          <a:solidFill>
            <a:srgbClr val="EBF3FF"/>
          </a:solidFill>
          <a:ln w="12700">
            <a:solidFill>
              <a:srgbClr val="BFDBFE"/>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16" name="Txt 16"/>
          <p:cNvSpPr/>
          <p:nvPr/>
        </p:nvSpPr>
        <p:spPr>
          <a:xfrm>
            <a:off x="1638336" y="1431720"/>
            <a:ext cx="1447800" cy="457200"/>
          </a:xfrm>
          <a:prstGeom prst="rect">
            <a:avLst/>
          </a:prstGeom>
          <a:noFill/>
          <a:ln/>
        </p:spPr>
        <p:txBody>
          <a:bodyPr wrap="square" lIns="91440" tIns="45720" rIns="91440" bIns="45720" rtlCol="0" anchor="ctr"/>
          <a:lstStyle/>
          <a:p>
            <a:pPr marL="0" indent="0" algn="ctr">
              <a:buNone/>
            </a:pPr>
            <a:r>
              <a:rPr lang="en-US" sz="820" dirty="0">
                <a:solidFill>
                  <a:srgbClr val="1E293B"/>
                </a:solidFill>
                <a:latin typeface="Times New Roman" panose="02020603050405020304" pitchFamily="18" charset="0"/>
                <a:cs typeface="Times New Roman" panose="02020603050405020304" pitchFamily="18" charset="0"/>
              </a:rPr>
              <a:t>MTCNN crops face; fallback to full image</a:t>
            </a:r>
            <a:endParaRPr lang="en-US" sz="820" dirty="0">
              <a:latin typeface="Times New Roman" panose="02020603050405020304" pitchFamily="18" charset="0"/>
              <a:cs typeface="Times New Roman" panose="02020603050405020304" pitchFamily="18" charset="0"/>
            </a:endParaRPr>
          </a:p>
        </p:txBody>
      </p:sp>
      <p:sp>
        <p:nvSpPr>
          <p:cNvPr id="17" name="Shape 17"/>
          <p:cNvSpPr/>
          <p:nvPr/>
        </p:nvSpPr>
        <p:spPr>
          <a:xfrm>
            <a:off x="3131856" y="1203120"/>
            <a:ext cx="1447800" cy="228600"/>
          </a:xfrm>
          <a:prstGeom prst="rect">
            <a:avLst/>
          </a:prstGeom>
          <a:solidFill>
            <a:srgbClr val="1F3864"/>
          </a:solidFill>
          <a:ln w="12700">
            <a:solidFill>
              <a:srgbClr val="1F3864"/>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18" name="Txt 18"/>
          <p:cNvSpPr/>
          <p:nvPr/>
        </p:nvSpPr>
        <p:spPr>
          <a:xfrm>
            <a:off x="3131856" y="1203120"/>
            <a:ext cx="1447800" cy="228600"/>
          </a:xfrm>
          <a:prstGeom prst="rect">
            <a:avLst/>
          </a:prstGeom>
          <a:noFill/>
          <a:ln/>
        </p:spPr>
        <p:txBody>
          <a:bodyPr wrap="square" lIns="91440" tIns="45720" rIns="91440" bIns="45720" rtlCol="0" anchor="ctr"/>
          <a:lstStyle/>
          <a:p>
            <a:pPr marL="0" indent="0" algn="ctr">
              <a:buNone/>
            </a:pPr>
            <a:r>
              <a:rPr lang="en-US" sz="950" b="1" dirty="0">
                <a:solidFill>
                  <a:srgbClr val="FFFFFF"/>
                </a:solidFill>
                <a:latin typeface="Times New Roman" panose="02020603050405020304" pitchFamily="18" charset="0"/>
                <a:cs typeface="Times New Roman" panose="02020603050405020304" pitchFamily="18" charset="0"/>
              </a:rPr>
              <a:t>3. Inference</a:t>
            </a:r>
            <a:endParaRPr lang="en-US" sz="950" dirty="0">
              <a:latin typeface="Times New Roman" panose="02020603050405020304" pitchFamily="18" charset="0"/>
              <a:cs typeface="Times New Roman" panose="02020603050405020304" pitchFamily="18" charset="0"/>
            </a:endParaRPr>
          </a:p>
        </p:txBody>
      </p:sp>
      <p:sp>
        <p:nvSpPr>
          <p:cNvPr id="19" name="Shape 19"/>
          <p:cNvSpPr/>
          <p:nvPr/>
        </p:nvSpPr>
        <p:spPr>
          <a:xfrm>
            <a:off x="3131856" y="1431720"/>
            <a:ext cx="1447800" cy="457200"/>
          </a:xfrm>
          <a:prstGeom prst="rect">
            <a:avLst/>
          </a:prstGeom>
          <a:solidFill>
            <a:srgbClr val="EBF3FF"/>
          </a:solidFill>
          <a:ln w="12700">
            <a:solidFill>
              <a:srgbClr val="BFDBFE"/>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20" name="Txt 20"/>
          <p:cNvSpPr/>
          <p:nvPr/>
        </p:nvSpPr>
        <p:spPr>
          <a:xfrm>
            <a:off x="3131856" y="1431720"/>
            <a:ext cx="1447800" cy="457200"/>
          </a:xfrm>
          <a:prstGeom prst="rect">
            <a:avLst/>
          </a:prstGeom>
          <a:noFill/>
          <a:ln/>
        </p:spPr>
        <p:txBody>
          <a:bodyPr wrap="square" lIns="91440" tIns="45720" rIns="91440" bIns="45720" rtlCol="0" anchor="ctr"/>
          <a:lstStyle/>
          <a:p>
            <a:pPr marL="0" indent="0" algn="ctr">
              <a:buNone/>
            </a:pPr>
            <a:r>
              <a:rPr lang="en-US" sz="820" dirty="0">
                <a:solidFill>
                  <a:srgbClr val="1E293B"/>
                </a:solidFill>
                <a:latin typeface="Times New Roman" panose="02020603050405020304" pitchFamily="18" charset="0"/>
                <a:cs typeface="Times New Roman" panose="02020603050405020304" pitchFamily="18" charset="0"/>
              </a:rPr>
              <a:t>VGG16 classifies; SoftMax confidence score</a:t>
            </a:r>
            <a:endParaRPr lang="en-US" sz="820" dirty="0">
              <a:latin typeface="Times New Roman" panose="02020603050405020304" pitchFamily="18" charset="0"/>
              <a:cs typeface="Times New Roman" panose="02020603050405020304" pitchFamily="18" charset="0"/>
            </a:endParaRPr>
          </a:p>
        </p:txBody>
      </p:sp>
      <p:sp>
        <p:nvSpPr>
          <p:cNvPr id="21" name="Shape 21"/>
          <p:cNvSpPr/>
          <p:nvPr/>
        </p:nvSpPr>
        <p:spPr>
          <a:xfrm>
            <a:off x="4625376" y="1203120"/>
            <a:ext cx="1447800" cy="228600"/>
          </a:xfrm>
          <a:prstGeom prst="rect">
            <a:avLst/>
          </a:prstGeom>
          <a:solidFill>
            <a:srgbClr val="1F3864"/>
          </a:solidFill>
          <a:ln w="12700">
            <a:solidFill>
              <a:srgbClr val="1F3864"/>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22" name="Txt 22"/>
          <p:cNvSpPr/>
          <p:nvPr/>
        </p:nvSpPr>
        <p:spPr>
          <a:xfrm>
            <a:off x="4625376" y="1203120"/>
            <a:ext cx="1447800" cy="228600"/>
          </a:xfrm>
          <a:prstGeom prst="rect">
            <a:avLst/>
          </a:prstGeom>
          <a:noFill/>
          <a:ln/>
        </p:spPr>
        <p:txBody>
          <a:bodyPr wrap="square" lIns="91440" tIns="45720" rIns="91440" bIns="45720" rtlCol="0" anchor="ctr"/>
          <a:lstStyle/>
          <a:p>
            <a:pPr marL="0" indent="0" algn="ctr">
              <a:buNone/>
            </a:pPr>
            <a:r>
              <a:rPr lang="en-US" sz="950" b="1" dirty="0">
                <a:solidFill>
                  <a:srgbClr val="FFFFFF"/>
                </a:solidFill>
                <a:latin typeface="Times New Roman" panose="02020603050405020304" pitchFamily="18" charset="0"/>
                <a:cs typeface="Times New Roman" panose="02020603050405020304" pitchFamily="18" charset="0"/>
              </a:rPr>
              <a:t>4. Grad-CAM</a:t>
            </a:r>
            <a:endParaRPr lang="en-US" sz="950" dirty="0">
              <a:latin typeface="Times New Roman" panose="02020603050405020304" pitchFamily="18" charset="0"/>
              <a:cs typeface="Times New Roman" panose="02020603050405020304" pitchFamily="18" charset="0"/>
            </a:endParaRPr>
          </a:p>
        </p:txBody>
      </p:sp>
      <p:sp>
        <p:nvSpPr>
          <p:cNvPr id="23" name="Shape 23"/>
          <p:cNvSpPr/>
          <p:nvPr/>
        </p:nvSpPr>
        <p:spPr>
          <a:xfrm>
            <a:off x="4625376" y="1431720"/>
            <a:ext cx="1447800" cy="457200"/>
          </a:xfrm>
          <a:prstGeom prst="rect">
            <a:avLst/>
          </a:prstGeom>
          <a:solidFill>
            <a:srgbClr val="EBF3FF"/>
          </a:solidFill>
          <a:ln w="12700">
            <a:solidFill>
              <a:srgbClr val="BFDBFE"/>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24" name="Txt 24"/>
          <p:cNvSpPr/>
          <p:nvPr/>
        </p:nvSpPr>
        <p:spPr>
          <a:xfrm>
            <a:off x="4625376" y="1431720"/>
            <a:ext cx="1447800" cy="457200"/>
          </a:xfrm>
          <a:prstGeom prst="rect">
            <a:avLst/>
          </a:prstGeom>
          <a:noFill/>
          <a:ln/>
        </p:spPr>
        <p:txBody>
          <a:bodyPr wrap="square" lIns="91440" tIns="45720" rIns="91440" bIns="45720" rtlCol="0" anchor="ctr"/>
          <a:lstStyle/>
          <a:p>
            <a:pPr marL="0" indent="0" algn="ctr">
              <a:buNone/>
            </a:pPr>
            <a:r>
              <a:rPr lang="en-US" sz="820" dirty="0">
                <a:solidFill>
                  <a:srgbClr val="1E293B"/>
                </a:solidFill>
                <a:latin typeface="Times New Roman" panose="02020603050405020304" pitchFamily="18" charset="0"/>
                <a:cs typeface="Times New Roman" panose="02020603050405020304" pitchFamily="18" charset="0"/>
              </a:rPr>
              <a:t>Heatmap over Block 5 highlights artifacts</a:t>
            </a:r>
            <a:endParaRPr lang="en-US" sz="820" dirty="0">
              <a:latin typeface="Times New Roman" panose="02020603050405020304" pitchFamily="18" charset="0"/>
              <a:cs typeface="Times New Roman" panose="02020603050405020304" pitchFamily="18" charset="0"/>
            </a:endParaRPr>
          </a:p>
        </p:txBody>
      </p:sp>
      <p:sp>
        <p:nvSpPr>
          <p:cNvPr id="25" name="Shape 25"/>
          <p:cNvSpPr/>
          <p:nvPr/>
        </p:nvSpPr>
        <p:spPr>
          <a:xfrm>
            <a:off x="6118896" y="1203120"/>
            <a:ext cx="1447800" cy="228600"/>
          </a:xfrm>
          <a:prstGeom prst="rect">
            <a:avLst/>
          </a:prstGeom>
          <a:solidFill>
            <a:srgbClr val="1F3864"/>
          </a:solidFill>
          <a:ln w="12700">
            <a:solidFill>
              <a:srgbClr val="1F3864"/>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26" name="Txt 26"/>
          <p:cNvSpPr/>
          <p:nvPr/>
        </p:nvSpPr>
        <p:spPr>
          <a:xfrm>
            <a:off x="6118896" y="1203120"/>
            <a:ext cx="1447800" cy="228600"/>
          </a:xfrm>
          <a:prstGeom prst="rect">
            <a:avLst/>
          </a:prstGeom>
          <a:noFill/>
          <a:ln/>
        </p:spPr>
        <p:txBody>
          <a:bodyPr wrap="square" lIns="91440" tIns="45720" rIns="91440" bIns="45720" rtlCol="0" anchor="ctr"/>
          <a:lstStyle/>
          <a:p>
            <a:pPr marL="0" indent="0" algn="ctr">
              <a:buNone/>
            </a:pPr>
            <a:r>
              <a:rPr lang="en-US" sz="950" b="1" dirty="0">
                <a:solidFill>
                  <a:srgbClr val="FFFFFF"/>
                </a:solidFill>
                <a:latin typeface="Times New Roman" panose="02020603050405020304" pitchFamily="18" charset="0"/>
                <a:cs typeface="Times New Roman" panose="02020603050405020304" pitchFamily="18" charset="0"/>
              </a:rPr>
              <a:t>5. Result</a:t>
            </a:r>
            <a:endParaRPr lang="en-US" sz="950" dirty="0">
              <a:latin typeface="Times New Roman" panose="02020603050405020304" pitchFamily="18" charset="0"/>
              <a:cs typeface="Times New Roman" panose="02020603050405020304" pitchFamily="18" charset="0"/>
            </a:endParaRPr>
          </a:p>
        </p:txBody>
      </p:sp>
      <p:sp>
        <p:nvSpPr>
          <p:cNvPr id="27" name="Shape 27"/>
          <p:cNvSpPr/>
          <p:nvPr/>
        </p:nvSpPr>
        <p:spPr>
          <a:xfrm>
            <a:off x="6118896" y="1431720"/>
            <a:ext cx="1447800" cy="457200"/>
          </a:xfrm>
          <a:prstGeom prst="rect">
            <a:avLst/>
          </a:prstGeom>
          <a:solidFill>
            <a:srgbClr val="EBF3FF"/>
          </a:solidFill>
          <a:ln w="12700">
            <a:solidFill>
              <a:srgbClr val="BFDBFE"/>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28" name="Txt 28"/>
          <p:cNvSpPr/>
          <p:nvPr/>
        </p:nvSpPr>
        <p:spPr>
          <a:xfrm>
            <a:off x="6118896" y="1431720"/>
            <a:ext cx="1447800" cy="457200"/>
          </a:xfrm>
          <a:prstGeom prst="rect">
            <a:avLst/>
          </a:prstGeom>
          <a:noFill/>
          <a:ln/>
        </p:spPr>
        <p:txBody>
          <a:bodyPr wrap="square" lIns="91440" tIns="45720" rIns="91440" bIns="45720" rtlCol="0" anchor="ctr"/>
          <a:lstStyle/>
          <a:p>
            <a:pPr marL="0" indent="0" algn="ctr">
              <a:buNone/>
            </a:pPr>
            <a:r>
              <a:rPr lang="en-US" sz="820" dirty="0">
                <a:solidFill>
                  <a:srgbClr val="1E293B"/>
                </a:solidFill>
                <a:latin typeface="Times New Roman" panose="02020603050405020304" pitchFamily="18" charset="0"/>
                <a:cs typeface="Times New Roman" panose="02020603050405020304" pitchFamily="18" charset="0"/>
              </a:rPr>
              <a:t>Label + confidence bar + overlay toggle</a:t>
            </a:r>
            <a:endParaRPr lang="en-US" sz="820" dirty="0">
              <a:latin typeface="Times New Roman" panose="02020603050405020304" pitchFamily="18" charset="0"/>
              <a:cs typeface="Times New Roman" panose="02020603050405020304" pitchFamily="18" charset="0"/>
            </a:endParaRPr>
          </a:p>
        </p:txBody>
      </p:sp>
      <p:sp>
        <p:nvSpPr>
          <p:cNvPr id="29" name="Shape 29"/>
          <p:cNvSpPr/>
          <p:nvPr/>
        </p:nvSpPr>
        <p:spPr>
          <a:xfrm>
            <a:off x="7612416" y="1203120"/>
            <a:ext cx="1447800" cy="228600"/>
          </a:xfrm>
          <a:prstGeom prst="rect">
            <a:avLst/>
          </a:prstGeom>
          <a:solidFill>
            <a:srgbClr val="1F3864"/>
          </a:solidFill>
          <a:ln w="12700">
            <a:solidFill>
              <a:srgbClr val="1F3864"/>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30" name="Txt 30"/>
          <p:cNvSpPr/>
          <p:nvPr/>
        </p:nvSpPr>
        <p:spPr>
          <a:xfrm>
            <a:off x="7612416" y="1203120"/>
            <a:ext cx="1447800" cy="228600"/>
          </a:xfrm>
          <a:prstGeom prst="rect">
            <a:avLst/>
          </a:prstGeom>
          <a:noFill/>
          <a:ln/>
        </p:spPr>
        <p:txBody>
          <a:bodyPr wrap="square" lIns="91440" tIns="45720" rIns="91440" bIns="45720" rtlCol="0" anchor="ctr"/>
          <a:lstStyle/>
          <a:p>
            <a:pPr marL="0" indent="0" algn="ctr">
              <a:buNone/>
            </a:pPr>
            <a:r>
              <a:rPr lang="en-US" sz="950" b="1" dirty="0">
                <a:solidFill>
                  <a:srgbClr val="FFFFFF"/>
                </a:solidFill>
                <a:latin typeface="Times New Roman" panose="02020603050405020304" pitchFamily="18" charset="0"/>
                <a:cs typeface="Times New Roman" panose="02020603050405020304" pitchFamily="18" charset="0"/>
              </a:rPr>
              <a:t>6. PDF Report</a:t>
            </a:r>
            <a:endParaRPr lang="en-US" sz="950" dirty="0">
              <a:latin typeface="Times New Roman" panose="02020603050405020304" pitchFamily="18" charset="0"/>
              <a:cs typeface="Times New Roman" panose="02020603050405020304" pitchFamily="18" charset="0"/>
            </a:endParaRPr>
          </a:p>
        </p:txBody>
      </p:sp>
      <p:sp>
        <p:nvSpPr>
          <p:cNvPr id="31" name="Shape 31"/>
          <p:cNvSpPr/>
          <p:nvPr/>
        </p:nvSpPr>
        <p:spPr>
          <a:xfrm>
            <a:off x="7612416" y="1431720"/>
            <a:ext cx="1447800" cy="457200"/>
          </a:xfrm>
          <a:prstGeom prst="rect">
            <a:avLst/>
          </a:prstGeom>
          <a:solidFill>
            <a:srgbClr val="EBF3FF"/>
          </a:solidFill>
          <a:ln w="12700">
            <a:solidFill>
              <a:srgbClr val="BFDBFE"/>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32" name="Txt 32"/>
          <p:cNvSpPr/>
          <p:nvPr/>
        </p:nvSpPr>
        <p:spPr>
          <a:xfrm>
            <a:off x="7612416" y="1431720"/>
            <a:ext cx="1447800" cy="457200"/>
          </a:xfrm>
          <a:prstGeom prst="rect">
            <a:avLst/>
          </a:prstGeom>
          <a:noFill/>
          <a:ln/>
        </p:spPr>
        <p:txBody>
          <a:bodyPr wrap="square" lIns="91440" tIns="45720" rIns="91440" bIns="45720" rtlCol="0" anchor="ctr"/>
          <a:lstStyle/>
          <a:p>
            <a:pPr marL="0" indent="0" algn="ctr">
              <a:buNone/>
            </a:pPr>
            <a:r>
              <a:rPr lang="en-US" sz="820" dirty="0">
                <a:solidFill>
                  <a:srgbClr val="1E293B"/>
                </a:solidFill>
                <a:latin typeface="Times New Roman" panose="02020603050405020304" pitchFamily="18" charset="0"/>
                <a:cs typeface="Times New Roman" panose="02020603050405020304" pitchFamily="18" charset="0"/>
              </a:rPr>
              <a:t>Auto-generated forensic PDF download</a:t>
            </a:r>
            <a:endParaRPr lang="en-US" sz="820" dirty="0">
              <a:latin typeface="Times New Roman" panose="02020603050405020304" pitchFamily="18" charset="0"/>
              <a:cs typeface="Times New Roman" panose="02020603050405020304" pitchFamily="18" charset="0"/>
            </a:endParaRPr>
          </a:p>
        </p:txBody>
      </p:sp>
      <p:sp>
        <p:nvSpPr>
          <p:cNvPr id="33" name="Shape 33"/>
          <p:cNvSpPr/>
          <p:nvPr/>
        </p:nvSpPr>
        <p:spPr>
          <a:xfrm>
            <a:off x="274320" y="2434812"/>
            <a:ext cx="2776320" cy="775978"/>
          </a:xfrm>
          <a:prstGeom prst="rect">
            <a:avLst/>
          </a:prstGeom>
          <a:solidFill>
            <a:srgbClr val="EBF3FF"/>
          </a:solidFill>
          <a:ln w="12700">
            <a:solidFill>
              <a:srgbClr val="0056B3"/>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34" name="Txt 34"/>
          <p:cNvSpPr/>
          <p:nvPr/>
        </p:nvSpPr>
        <p:spPr>
          <a:xfrm>
            <a:off x="274320" y="2434812"/>
            <a:ext cx="2776320" cy="228600"/>
          </a:xfrm>
          <a:prstGeom prst="rect">
            <a:avLst/>
          </a:prstGeom>
          <a:noFill/>
          <a:ln/>
        </p:spPr>
        <p:txBody>
          <a:bodyPr wrap="square" lIns="91440" tIns="45720" rIns="91440" bIns="45720" rtlCol="0" anchor="ctr"/>
          <a:lstStyle/>
          <a:p>
            <a:pPr marL="0" indent="0" algn="ctr">
              <a:buNone/>
            </a:pPr>
            <a:r>
              <a:rPr lang="en-US" sz="1000" b="1" dirty="0">
                <a:solidFill>
                  <a:srgbClr val="0056B3"/>
                </a:solidFill>
                <a:latin typeface="Times New Roman" panose="02020603050405020304" pitchFamily="18" charset="0"/>
                <a:cs typeface="Times New Roman" panose="02020603050405020304" pitchFamily="18" charset="0"/>
              </a:rPr>
              <a:t>Explainable</a:t>
            </a:r>
            <a:endParaRPr lang="en-US" sz="1000" dirty="0">
              <a:latin typeface="Times New Roman" panose="02020603050405020304" pitchFamily="18" charset="0"/>
              <a:cs typeface="Times New Roman" panose="02020603050405020304" pitchFamily="18" charset="0"/>
            </a:endParaRPr>
          </a:p>
        </p:txBody>
      </p:sp>
      <p:sp>
        <p:nvSpPr>
          <p:cNvPr id="35" name="Txt 35"/>
          <p:cNvSpPr/>
          <p:nvPr/>
        </p:nvSpPr>
        <p:spPr>
          <a:xfrm>
            <a:off x="274320" y="2640552"/>
            <a:ext cx="2776320" cy="320040"/>
          </a:xfrm>
          <a:prstGeom prst="rect">
            <a:avLst/>
          </a:prstGeom>
          <a:noFill/>
          <a:ln/>
        </p:spPr>
        <p:txBody>
          <a:bodyPr wrap="square" lIns="91440" tIns="45720" rIns="91440" bIns="45720" rtlCol="0" anchor="t"/>
          <a:lstStyle/>
          <a:p>
            <a:pPr marL="0" indent="0" algn="l">
              <a:buNone/>
            </a:pPr>
            <a:r>
              <a:rPr lang="en-US" sz="870" dirty="0">
                <a:solidFill>
                  <a:srgbClr val="475569"/>
                </a:solidFill>
                <a:latin typeface="Times New Roman" panose="02020603050405020304" pitchFamily="18" charset="0"/>
                <a:cs typeface="Times New Roman" panose="02020603050405020304" pitchFamily="18" charset="0"/>
              </a:rPr>
              <a:t>Grad-CAM heatmaps show which facial regions drove the prediction, meeting FR4 and building analyst trust.</a:t>
            </a:r>
            <a:endParaRPr lang="en-US" sz="870" dirty="0">
              <a:latin typeface="Times New Roman" panose="02020603050405020304" pitchFamily="18" charset="0"/>
              <a:cs typeface="Times New Roman" panose="02020603050405020304" pitchFamily="18" charset="0"/>
            </a:endParaRPr>
          </a:p>
        </p:txBody>
      </p:sp>
      <p:sp>
        <p:nvSpPr>
          <p:cNvPr id="36" name="Shape 36"/>
          <p:cNvSpPr/>
          <p:nvPr/>
        </p:nvSpPr>
        <p:spPr>
          <a:xfrm>
            <a:off x="3142080" y="2434811"/>
            <a:ext cx="2776320" cy="775979"/>
          </a:xfrm>
          <a:prstGeom prst="rect">
            <a:avLst/>
          </a:prstGeom>
          <a:solidFill>
            <a:srgbClr val="E8FFF0"/>
          </a:solidFill>
          <a:ln w="12700">
            <a:solidFill>
              <a:srgbClr val="059669"/>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37" name="Txt 37"/>
          <p:cNvSpPr/>
          <p:nvPr/>
        </p:nvSpPr>
        <p:spPr>
          <a:xfrm>
            <a:off x="3142080" y="2434812"/>
            <a:ext cx="2776320" cy="228600"/>
          </a:xfrm>
          <a:prstGeom prst="rect">
            <a:avLst/>
          </a:prstGeom>
          <a:noFill/>
          <a:ln/>
        </p:spPr>
        <p:txBody>
          <a:bodyPr wrap="square" lIns="91440" tIns="45720" rIns="91440" bIns="45720" rtlCol="0" anchor="ctr"/>
          <a:lstStyle/>
          <a:p>
            <a:pPr marL="0" indent="0" algn="ctr">
              <a:buNone/>
            </a:pPr>
            <a:r>
              <a:rPr lang="en-US" sz="1000" b="1" dirty="0">
                <a:solidFill>
                  <a:srgbClr val="059669"/>
                </a:solidFill>
                <a:latin typeface="Times New Roman" panose="02020603050405020304" pitchFamily="18" charset="0"/>
                <a:cs typeface="Times New Roman" panose="02020603050405020304" pitchFamily="18" charset="0"/>
              </a:rPr>
              <a:t>Privacy-First Design</a:t>
            </a:r>
            <a:endParaRPr lang="en-US" sz="1000" dirty="0">
              <a:latin typeface="Times New Roman" panose="02020603050405020304" pitchFamily="18" charset="0"/>
              <a:cs typeface="Times New Roman" panose="02020603050405020304" pitchFamily="18" charset="0"/>
            </a:endParaRPr>
          </a:p>
        </p:txBody>
      </p:sp>
      <p:sp>
        <p:nvSpPr>
          <p:cNvPr id="38" name="Txt 38"/>
          <p:cNvSpPr/>
          <p:nvPr/>
        </p:nvSpPr>
        <p:spPr>
          <a:xfrm>
            <a:off x="3142080" y="2663412"/>
            <a:ext cx="2776320" cy="320040"/>
          </a:xfrm>
          <a:prstGeom prst="rect">
            <a:avLst/>
          </a:prstGeom>
          <a:noFill/>
          <a:ln/>
        </p:spPr>
        <p:txBody>
          <a:bodyPr wrap="square" lIns="91440" tIns="45720" rIns="91440" bIns="45720" rtlCol="0" anchor="t"/>
          <a:lstStyle/>
          <a:p>
            <a:pPr marL="0" indent="0" algn="l">
              <a:buNone/>
            </a:pPr>
            <a:r>
              <a:rPr lang="en-US" sz="870" dirty="0">
                <a:solidFill>
                  <a:srgbClr val="475569"/>
                </a:solidFill>
                <a:latin typeface="Times New Roman" panose="02020603050405020304" pitchFamily="18" charset="0"/>
                <a:cs typeface="Times New Roman" panose="02020603050405020304" pitchFamily="18" charset="0"/>
              </a:rPr>
              <a:t>Images in-memory only; never written to disk; auto-deleted post-response. Zero storage — fully GDPR compliant.</a:t>
            </a:r>
            <a:endParaRPr lang="en-US" sz="870" dirty="0">
              <a:latin typeface="Times New Roman" panose="02020603050405020304" pitchFamily="18" charset="0"/>
              <a:cs typeface="Times New Roman" panose="02020603050405020304" pitchFamily="18" charset="0"/>
            </a:endParaRPr>
          </a:p>
        </p:txBody>
      </p:sp>
      <p:sp>
        <p:nvSpPr>
          <p:cNvPr id="39" name="Shape 39"/>
          <p:cNvSpPr/>
          <p:nvPr/>
        </p:nvSpPr>
        <p:spPr>
          <a:xfrm>
            <a:off x="6009840" y="2434812"/>
            <a:ext cx="2776320" cy="775980"/>
          </a:xfrm>
          <a:prstGeom prst="rect">
            <a:avLst/>
          </a:prstGeom>
          <a:solidFill>
            <a:srgbClr val="FFF8E8"/>
          </a:solidFill>
          <a:ln w="12700">
            <a:solidFill>
              <a:srgbClr val="D97706"/>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40" name="Txt 40"/>
          <p:cNvSpPr/>
          <p:nvPr/>
        </p:nvSpPr>
        <p:spPr>
          <a:xfrm>
            <a:off x="6009840" y="2434812"/>
            <a:ext cx="2776320" cy="228600"/>
          </a:xfrm>
          <a:prstGeom prst="rect">
            <a:avLst/>
          </a:prstGeom>
          <a:noFill/>
          <a:ln/>
        </p:spPr>
        <p:txBody>
          <a:bodyPr wrap="square" lIns="91440" tIns="45720" rIns="91440" bIns="45720" rtlCol="0" anchor="ctr"/>
          <a:lstStyle/>
          <a:p>
            <a:pPr marL="0" indent="0" algn="ctr">
              <a:buNone/>
            </a:pPr>
            <a:r>
              <a:rPr lang="en-US" sz="1000" b="1" dirty="0">
                <a:solidFill>
                  <a:srgbClr val="D97706"/>
                </a:solidFill>
                <a:latin typeface="Times New Roman" panose="02020603050405020304" pitchFamily="18" charset="0"/>
                <a:cs typeface="Times New Roman" panose="02020603050405020304" pitchFamily="18" charset="0"/>
              </a:rPr>
              <a:t>Forensic PDF Report</a:t>
            </a:r>
            <a:endParaRPr lang="en-US" sz="1000" dirty="0">
              <a:latin typeface="Times New Roman" panose="02020603050405020304" pitchFamily="18" charset="0"/>
              <a:cs typeface="Times New Roman" panose="02020603050405020304" pitchFamily="18" charset="0"/>
            </a:endParaRPr>
          </a:p>
        </p:txBody>
      </p:sp>
      <p:sp>
        <p:nvSpPr>
          <p:cNvPr id="41" name="Txt 41"/>
          <p:cNvSpPr/>
          <p:nvPr/>
        </p:nvSpPr>
        <p:spPr>
          <a:xfrm>
            <a:off x="6009840" y="2663412"/>
            <a:ext cx="2776320" cy="320040"/>
          </a:xfrm>
          <a:prstGeom prst="rect">
            <a:avLst/>
          </a:prstGeom>
          <a:noFill/>
          <a:ln/>
        </p:spPr>
        <p:txBody>
          <a:bodyPr wrap="square" lIns="91440" tIns="45720" rIns="91440" bIns="45720" rtlCol="0" anchor="t"/>
          <a:lstStyle/>
          <a:p>
            <a:pPr marL="0" indent="0" algn="l">
              <a:buNone/>
            </a:pPr>
            <a:r>
              <a:rPr lang="en-US" sz="870" dirty="0">
                <a:solidFill>
                  <a:srgbClr val="475569"/>
                </a:solidFill>
                <a:latin typeface="Times New Roman" panose="02020603050405020304" pitchFamily="18" charset="0"/>
                <a:cs typeface="Times New Roman" panose="02020603050405020304" pitchFamily="18" charset="0"/>
              </a:rPr>
              <a:t>Downloadable report: verdict, confidence score, Grad-CAM overlay and scan timestamp, ready for evidence filing.</a:t>
            </a:r>
            <a:endParaRPr lang="en-US" sz="870" dirty="0">
              <a:latin typeface="Times New Roman" panose="02020603050405020304" pitchFamily="18" charset="0"/>
              <a:cs typeface="Times New Roman" panose="02020603050405020304" pitchFamily="18" charset="0"/>
            </a:endParaRPr>
          </a:p>
        </p:txBody>
      </p:sp>
      <p:sp>
        <p:nvSpPr>
          <p:cNvPr id="42" name="Shape 42"/>
          <p:cNvSpPr/>
          <p:nvPr/>
        </p:nvSpPr>
        <p:spPr>
          <a:xfrm>
            <a:off x="274320" y="3756686"/>
            <a:ext cx="8538552" cy="228600"/>
          </a:xfrm>
          <a:prstGeom prst="rect">
            <a:avLst/>
          </a:prstGeom>
          <a:solidFill>
            <a:srgbClr val="1F3864"/>
          </a:solidFill>
          <a:ln w="12700">
            <a:solidFill>
              <a:srgbClr val="1F3864"/>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43" name="Txt 43"/>
          <p:cNvSpPr/>
          <p:nvPr/>
        </p:nvSpPr>
        <p:spPr>
          <a:xfrm>
            <a:off x="274320" y="3756686"/>
            <a:ext cx="8538552" cy="228600"/>
          </a:xfrm>
          <a:prstGeom prst="rect">
            <a:avLst/>
          </a:prstGeom>
          <a:noFill/>
          <a:ln/>
        </p:spPr>
        <p:txBody>
          <a:bodyPr wrap="square" lIns="91440" tIns="45720" rIns="91440" bIns="45720" rtlCol="0" anchor="ctr"/>
          <a:lstStyle/>
          <a:p>
            <a:pPr marL="0" indent="0" algn="ctr">
              <a:buNone/>
            </a:pPr>
            <a:r>
              <a:rPr lang="en-US" sz="1000" b="1" dirty="0">
                <a:solidFill>
                  <a:srgbClr val="FFFFFF"/>
                </a:solidFill>
                <a:latin typeface="Times New Roman" panose="02020603050405020304" pitchFamily="18" charset="0"/>
                <a:cs typeface="Times New Roman" panose="02020603050405020304" pitchFamily="18" charset="0"/>
              </a:rPr>
              <a:t>Implementation Challenges &amp; Mitigations</a:t>
            </a:r>
            <a:endParaRPr lang="en-US" sz="1000" dirty="0">
              <a:latin typeface="Times New Roman" panose="02020603050405020304" pitchFamily="18" charset="0"/>
              <a:cs typeface="Times New Roman" panose="02020603050405020304" pitchFamily="18" charset="0"/>
            </a:endParaRPr>
          </a:p>
        </p:txBody>
      </p:sp>
      <p:sp>
        <p:nvSpPr>
          <p:cNvPr id="44" name="Shape 44"/>
          <p:cNvSpPr/>
          <p:nvPr/>
        </p:nvSpPr>
        <p:spPr>
          <a:xfrm>
            <a:off x="274320" y="4031006"/>
            <a:ext cx="4177320" cy="274320"/>
          </a:xfrm>
          <a:prstGeom prst="rect">
            <a:avLst/>
          </a:prstGeom>
          <a:solidFill>
            <a:srgbClr val="FEF3C7"/>
          </a:solidFill>
          <a:ln w="12700">
            <a:solidFill>
              <a:srgbClr val="D97706"/>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45" name="Txt 45"/>
          <p:cNvSpPr/>
          <p:nvPr/>
        </p:nvSpPr>
        <p:spPr>
          <a:xfrm>
            <a:off x="274320" y="4031006"/>
            <a:ext cx="1550000" cy="274320"/>
          </a:xfrm>
          <a:prstGeom prst="rect">
            <a:avLst/>
          </a:prstGeom>
          <a:noFill/>
          <a:ln/>
        </p:spPr>
        <p:txBody>
          <a:bodyPr wrap="square" lIns="91440" tIns="45720" rIns="91440" bIns="45720" rtlCol="0" anchor="ctr"/>
          <a:lstStyle/>
          <a:p>
            <a:pPr marL="0" indent="0" algn="ctr">
              <a:buNone/>
            </a:pPr>
            <a:r>
              <a:rPr lang="en-US" sz="950" b="1" dirty="0">
                <a:solidFill>
                  <a:srgbClr val="D97706"/>
                </a:solidFill>
                <a:latin typeface="Times New Roman" panose="02020603050405020304" pitchFamily="18" charset="0"/>
                <a:cs typeface="Times New Roman" panose="02020603050405020304" pitchFamily="18" charset="0"/>
              </a:rPr>
              <a:t>Dataset Bias</a:t>
            </a:r>
            <a:endParaRPr lang="en-US" sz="950" dirty="0">
              <a:latin typeface="Times New Roman" panose="02020603050405020304" pitchFamily="18" charset="0"/>
              <a:cs typeface="Times New Roman" panose="02020603050405020304" pitchFamily="18" charset="0"/>
            </a:endParaRPr>
          </a:p>
        </p:txBody>
      </p:sp>
      <p:sp>
        <p:nvSpPr>
          <p:cNvPr id="46" name="Txt 46"/>
          <p:cNvSpPr/>
          <p:nvPr/>
        </p:nvSpPr>
        <p:spPr>
          <a:xfrm>
            <a:off x="1824320" y="4031006"/>
            <a:ext cx="2627320" cy="274320"/>
          </a:xfrm>
          <a:prstGeom prst="rect">
            <a:avLst/>
          </a:prstGeom>
          <a:noFill/>
          <a:ln/>
        </p:spPr>
        <p:txBody>
          <a:bodyPr wrap="square" lIns="91440" tIns="45720" rIns="91440" bIns="45720" rtlCol="0" anchor="ctr"/>
          <a:lstStyle/>
          <a:p>
            <a:pPr marL="0" indent="0" algn="l">
              <a:buNone/>
            </a:pPr>
            <a:r>
              <a:rPr lang="en-US" sz="880" dirty="0">
                <a:solidFill>
                  <a:srgbClr val="475569"/>
                </a:solidFill>
                <a:latin typeface="Times New Roman" panose="02020603050405020304" pitchFamily="18" charset="0"/>
                <a:cs typeface="Times New Roman" panose="02020603050405020304" pitchFamily="18" charset="0"/>
              </a:rPr>
              <a:t>Balanced 60K/60K subset across multiple generative models (GAN + Diffusion)</a:t>
            </a:r>
            <a:endParaRPr lang="en-US" sz="880" dirty="0">
              <a:latin typeface="Times New Roman" panose="02020603050405020304" pitchFamily="18" charset="0"/>
              <a:cs typeface="Times New Roman" panose="02020603050405020304" pitchFamily="18" charset="0"/>
            </a:endParaRPr>
          </a:p>
        </p:txBody>
      </p:sp>
      <p:sp>
        <p:nvSpPr>
          <p:cNvPr id="47" name="Shape 47"/>
          <p:cNvSpPr/>
          <p:nvPr/>
        </p:nvSpPr>
        <p:spPr>
          <a:xfrm>
            <a:off x="4497360" y="4031006"/>
            <a:ext cx="4177320" cy="274320"/>
          </a:xfrm>
          <a:prstGeom prst="rect">
            <a:avLst/>
          </a:prstGeom>
          <a:solidFill>
            <a:srgbClr val="FEF3C7"/>
          </a:solidFill>
          <a:ln w="12700">
            <a:solidFill>
              <a:srgbClr val="D97706"/>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48" name="Txt 48"/>
          <p:cNvSpPr/>
          <p:nvPr/>
        </p:nvSpPr>
        <p:spPr>
          <a:xfrm>
            <a:off x="4497360" y="4031006"/>
            <a:ext cx="1550000" cy="274320"/>
          </a:xfrm>
          <a:prstGeom prst="rect">
            <a:avLst/>
          </a:prstGeom>
          <a:noFill/>
          <a:ln/>
        </p:spPr>
        <p:txBody>
          <a:bodyPr wrap="square" lIns="91440" tIns="45720" rIns="91440" bIns="45720" rtlCol="0" anchor="ctr"/>
          <a:lstStyle/>
          <a:p>
            <a:pPr marL="0" indent="0" algn="ctr">
              <a:buNone/>
            </a:pPr>
            <a:r>
              <a:rPr lang="en-US" sz="950" b="1" dirty="0">
                <a:solidFill>
                  <a:srgbClr val="D97706"/>
                </a:solidFill>
                <a:latin typeface="Times New Roman" panose="02020603050405020304" pitchFamily="18" charset="0"/>
                <a:cs typeface="Times New Roman" panose="02020603050405020304" pitchFamily="18" charset="0"/>
              </a:rPr>
              <a:t>GPU Constraints</a:t>
            </a:r>
            <a:endParaRPr lang="en-US" sz="950" dirty="0">
              <a:latin typeface="Times New Roman" panose="02020603050405020304" pitchFamily="18" charset="0"/>
              <a:cs typeface="Times New Roman" panose="02020603050405020304" pitchFamily="18" charset="0"/>
            </a:endParaRPr>
          </a:p>
        </p:txBody>
      </p:sp>
      <p:sp>
        <p:nvSpPr>
          <p:cNvPr id="49" name="Txt 49"/>
          <p:cNvSpPr/>
          <p:nvPr/>
        </p:nvSpPr>
        <p:spPr>
          <a:xfrm>
            <a:off x="6047360" y="4031006"/>
            <a:ext cx="2627320" cy="274320"/>
          </a:xfrm>
          <a:prstGeom prst="rect">
            <a:avLst/>
          </a:prstGeom>
          <a:noFill/>
          <a:ln/>
        </p:spPr>
        <p:txBody>
          <a:bodyPr wrap="square" lIns="91440" tIns="45720" rIns="91440" bIns="45720" rtlCol="0" anchor="ctr"/>
          <a:lstStyle/>
          <a:p>
            <a:pPr marL="0" indent="0" algn="l">
              <a:buNone/>
            </a:pPr>
            <a:r>
              <a:rPr lang="en-US" sz="880" dirty="0">
                <a:solidFill>
                  <a:srgbClr val="475569"/>
                </a:solidFill>
                <a:latin typeface="Times New Roman" panose="02020603050405020304" pitchFamily="18" charset="0"/>
                <a:cs typeface="Times New Roman" panose="02020603050405020304" pitchFamily="18" charset="0"/>
              </a:rPr>
              <a:t>Batch=64, gradient clipping, StepLR scheduler for stable training</a:t>
            </a:r>
            <a:endParaRPr lang="en-US" sz="880" dirty="0">
              <a:latin typeface="Times New Roman" panose="02020603050405020304" pitchFamily="18" charset="0"/>
              <a:cs typeface="Times New Roman" panose="02020603050405020304" pitchFamily="18" charset="0"/>
            </a:endParaRPr>
          </a:p>
        </p:txBody>
      </p:sp>
      <p:sp>
        <p:nvSpPr>
          <p:cNvPr id="50" name="Shape 50"/>
          <p:cNvSpPr/>
          <p:nvPr/>
        </p:nvSpPr>
        <p:spPr>
          <a:xfrm>
            <a:off x="274320" y="4351046"/>
            <a:ext cx="4177320" cy="274320"/>
          </a:xfrm>
          <a:prstGeom prst="rect">
            <a:avLst/>
          </a:prstGeom>
          <a:solidFill>
            <a:srgbClr val="FEF3C7"/>
          </a:solidFill>
          <a:ln w="12700">
            <a:solidFill>
              <a:srgbClr val="D97706"/>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51" name="Txt 51"/>
          <p:cNvSpPr/>
          <p:nvPr/>
        </p:nvSpPr>
        <p:spPr>
          <a:xfrm>
            <a:off x="274320" y="4351046"/>
            <a:ext cx="1550000" cy="274320"/>
          </a:xfrm>
          <a:prstGeom prst="rect">
            <a:avLst/>
          </a:prstGeom>
          <a:noFill/>
          <a:ln/>
        </p:spPr>
        <p:txBody>
          <a:bodyPr wrap="square" lIns="91440" tIns="45720" rIns="91440" bIns="45720" rtlCol="0" anchor="ctr"/>
          <a:lstStyle/>
          <a:p>
            <a:pPr marL="0" indent="0" algn="ctr">
              <a:buNone/>
            </a:pPr>
            <a:r>
              <a:rPr lang="en-US" sz="950" b="1" dirty="0">
                <a:solidFill>
                  <a:srgbClr val="D97706"/>
                </a:solidFill>
                <a:latin typeface="Times New Roman" panose="02020603050405020304" pitchFamily="18" charset="0"/>
                <a:cs typeface="Times New Roman" panose="02020603050405020304" pitchFamily="18" charset="0"/>
              </a:rPr>
              <a:t>No Face Detected</a:t>
            </a:r>
            <a:endParaRPr lang="en-US" sz="950" dirty="0">
              <a:latin typeface="Times New Roman" panose="02020603050405020304" pitchFamily="18" charset="0"/>
              <a:cs typeface="Times New Roman" panose="02020603050405020304" pitchFamily="18" charset="0"/>
            </a:endParaRPr>
          </a:p>
        </p:txBody>
      </p:sp>
      <p:sp>
        <p:nvSpPr>
          <p:cNvPr id="52" name="Txt 52"/>
          <p:cNvSpPr/>
          <p:nvPr/>
        </p:nvSpPr>
        <p:spPr>
          <a:xfrm>
            <a:off x="1824320" y="4351046"/>
            <a:ext cx="2627320" cy="274320"/>
          </a:xfrm>
          <a:prstGeom prst="rect">
            <a:avLst/>
          </a:prstGeom>
          <a:noFill/>
          <a:ln/>
        </p:spPr>
        <p:txBody>
          <a:bodyPr wrap="square" lIns="91440" tIns="45720" rIns="91440" bIns="45720" rtlCol="0" anchor="ctr"/>
          <a:lstStyle/>
          <a:p>
            <a:pPr marL="0" indent="0" algn="l">
              <a:buNone/>
            </a:pPr>
            <a:r>
              <a:rPr lang="en-US" sz="880" dirty="0">
                <a:solidFill>
                  <a:srgbClr val="475569"/>
                </a:solidFill>
                <a:latin typeface="Times New Roman" panose="02020603050405020304" pitchFamily="18" charset="0"/>
                <a:cs typeface="Times New Roman" panose="02020603050405020304" pitchFamily="18" charset="0"/>
              </a:rPr>
              <a:t>Fallback: full-image inference with a visible user warning</a:t>
            </a:r>
            <a:endParaRPr lang="en-US" sz="880" dirty="0">
              <a:latin typeface="Times New Roman" panose="02020603050405020304" pitchFamily="18" charset="0"/>
              <a:cs typeface="Times New Roman" panose="02020603050405020304" pitchFamily="18" charset="0"/>
            </a:endParaRPr>
          </a:p>
        </p:txBody>
      </p:sp>
      <p:sp>
        <p:nvSpPr>
          <p:cNvPr id="53" name="Shape 53"/>
          <p:cNvSpPr/>
          <p:nvPr/>
        </p:nvSpPr>
        <p:spPr>
          <a:xfrm>
            <a:off x="4497360" y="4351046"/>
            <a:ext cx="4177320" cy="274320"/>
          </a:xfrm>
          <a:prstGeom prst="rect">
            <a:avLst/>
          </a:prstGeom>
          <a:solidFill>
            <a:srgbClr val="FEF3C7"/>
          </a:solidFill>
          <a:ln w="12700">
            <a:solidFill>
              <a:srgbClr val="D97706"/>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54" name="Txt 54"/>
          <p:cNvSpPr/>
          <p:nvPr/>
        </p:nvSpPr>
        <p:spPr>
          <a:xfrm>
            <a:off x="4497360" y="4351046"/>
            <a:ext cx="1550000" cy="274320"/>
          </a:xfrm>
          <a:prstGeom prst="rect">
            <a:avLst/>
          </a:prstGeom>
          <a:noFill/>
          <a:ln/>
        </p:spPr>
        <p:txBody>
          <a:bodyPr wrap="square" lIns="91440" tIns="45720" rIns="91440" bIns="45720" rtlCol="0" anchor="ctr"/>
          <a:lstStyle/>
          <a:p>
            <a:pPr marL="0" indent="0" algn="ctr">
              <a:buNone/>
            </a:pPr>
            <a:r>
              <a:rPr lang="en-US" sz="950" b="1" dirty="0">
                <a:solidFill>
                  <a:srgbClr val="D97706"/>
                </a:solidFill>
                <a:latin typeface="Times New Roman" panose="02020603050405020304" pitchFamily="18" charset="0"/>
                <a:cs typeface="Times New Roman" panose="02020603050405020304" pitchFamily="18" charset="0"/>
              </a:rPr>
              <a:t>Borderline Confidence</a:t>
            </a:r>
            <a:endParaRPr lang="en-US" sz="950" dirty="0">
              <a:latin typeface="Times New Roman" panose="02020603050405020304" pitchFamily="18" charset="0"/>
              <a:cs typeface="Times New Roman" panose="02020603050405020304" pitchFamily="18" charset="0"/>
            </a:endParaRPr>
          </a:p>
        </p:txBody>
      </p:sp>
      <p:sp>
        <p:nvSpPr>
          <p:cNvPr id="55" name="Txt 55"/>
          <p:cNvSpPr/>
          <p:nvPr/>
        </p:nvSpPr>
        <p:spPr>
          <a:xfrm>
            <a:off x="6047360" y="4351046"/>
            <a:ext cx="2627320" cy="274320"/>
          </a:xfrm>
          <a:prstGeom prst="rect">
            <a:avLst/>
          </a:prstGeom>
          <a:noFill/>
          <a:ln/>
        </p:spPr>
        <p:txBody>
          <a:bodyPr wrap="square" lIns="91440" tIns="45720" rIns="91440" bIns="45720" rtlCol="0" anchor="ctr"/>
          <a:lstStyle/>
          <a:p>
            <a:pPr marL="0" indent="0" algn="l">
              <a:buNone/>
            </a:pPr>
            <a:r>
              <a:rPr lang="en-US" sz="880" dirty="0">
                <a:solidFill>
                  <a:srgbClr val="475569"/>
                </a:solidFill>
                <a:latin typeface="Times New Roman" panose="02020603050405020304" pitchFamily="18" charset="0"/>
                <a:cs typeface="Times New Roman" panose="02020603050405020304" pitchFamily="18" charset="0"/>
              </a:rPr>
              <a:t>Raw % displayed so analysts can judge ambiguous ~50% predictions</a:t>
            </a:r>
            <a:endParaRPr lang="en-US" sz="88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7034"/>
            <a:ext cx="9144000" cy="256032"/>
          </a:xfrm>
          <a:prstGeom prst="rect">
            <a:avLst/>
          </a:prstGeom>
          <a:solidFill>
            <a:srgbClr val="1F3864"/>
          </a:solidFill>
          <a:ln w="12700">
            <a:solidFill>
              <a:srgbClr val="1F3864"/>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3" name="Text 1"/>
          <p:cNvSpPr/>
          <p:nvPr/>
        </p:nvSpPr>
        <p:spPr>
          <a:xfrm>
            <a:off x="274320" y="7034"/>
            <a:ext cx="7132320" cy="256032"/>
          </a:xfrm>
          <a:prstGeom prst="rect">
            <a:avLst/>
          </a:prstGeom>
          <a:noFill/>
          <a:ln/>
        </p:spPr>
        <p:txBody>
          <a:bodyPr wrap="square" lIns="0" tIns="0" rIns="0" bIns="0" rtlCol="0" anchor="ctr"/>
          <a:lstStyle/>
          <a:p>
            <a:pPr marL="0" indent="0">
              <a:buNone/>
            </a:pPr>
            <a:r>
              <a:rPr lang="en-US" sz="850" dirty="0">
                <a:solidFill>
                  <a:srgbClr val="FFFFFF"/>
                </a:solidFill>
                <a:latin typeface="Times New Roman" panose="02020603050405020304" pitchFamily="18" charset="0"/>
                <a:cs typeface="Times New Roman" panose="02020603050405020304" pitchFamily="18" charset="0"/>
              </a:rPr>
              <a:t>Deepfake Image Detection System  |  TM471B — May 2026</a:t>
            </a:r>
            <a:endParaRPr lang="en-US" sz="850" dirty="0">
              <a:latin typeface="Times New Roman" panose="02020603050405020304" pitchFamily="18" charset="0"/>
              <a:cs typeface="Times New Roman" panose="02020603050405020304" pitchFamily="18" charset="0"/>
            </a:endParaRPr>
          </a:p>
        </p:txBody>
      </p:sp>
      <p:sp>
        <p:nvSpPr>
          <p:cNvPr id="4" name="Shape 2"/>
          <p:cNvSpPr/>
          <p:nvPr/>
        </p:nvSpPr>
        <p:spPr>
          <a:xfrm>
            <a:off x="8138160" y="34466"/>
            <a:ext cx="749808" cy="201168"/>
          </a:xfrm>
          <a:prstGeom prst="rect">
            <a:avLst/>
          </a:prstGeom>
          <a:solidFill>
            <a:srgbClr val="1A4F9E"/>
          </a:solidFill>
          <a:ln w="12700">
            <a:solidFill>
              <a:srgbClr val="FFFFFF"/>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5" name="Text 3"/>
          <p:cNvSpPr/>
          <p:nvPr/>
        </p:nvSpPr>
        <p:spPr>
          <a:xfrm>
            <a:off x="8138160" y="34466"/>
            <a:ext cx="749808"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Times New Roman" panose="02020603050405020304" pitchFamily="18" charset="0"/>
                <a:cs typeface="Times New Roman" panose="02020603050405020304" pitchFamily="18" charset="0"/>
              </a:rPr>
              <a:t>AOU</a:t>
            </a:r>
            <a:endParaRPr lang="en-US" sz="800" dirty="0">
              <a:latin typeface="Times New Roman" panose="02020603050405020304" pitchFamily="18" charset="0"/>
              <a:cs typeface="Times New Roman" panose="02020603050405020304" pitchFamily="18" charset="0"/>
            </a:endParaRPr>
          </a:p>
        </p:txBody>
      </p:sp>
      <p:sp>
        <p:nvSpPr>
          <p:cNvPr id="6" name="Text 4"/>
          <p:cNvSpPr/>
          <p:nvPr/>
        </p:nvSpPr>
        <p:spPr>
          <a:xfrm>
            <a:off x="8778240" y="4926506"/>
            <a:ext cx="320040" cy="182880"/>
          </a:xfrm>
          <a:prstGeom prst="rect">
            <a:avLst/>
          </a:prstGeom>
          <a:noFill/>
          <a:ln/>
        </p:spPr>
        <p:txBody>
          <a:bodyPr wrap="square" lIns="0" tIns="0" rIns="0" bIns="0" rtlCol="0" anchor="ctr"/>
          <a:lstStyle/>
          <a:p>
            <a:pPr marL="0" indent="0" algn="r">
              <a:buNone/>
            </a:pPr>
            <a:r>
              <a:rPr lang="en-US" sz="900" dirty="0">
                <a:solidFill>
                  <a:srgbClr val="475569"/>
                </a:solidFill>
                <a:latin typeface="Times New Roman" panose="02020603050405020304" pitchFamily="18" charset="0"/>
                <a:cs typeface="Times New Roman" panose="02020603050405020304" pitchFamily="18" charset="0"/>
              </a:rPr>
              <a:t>18</a:t>
            </a:r>
            <a:endParaRPr lang="en-US" sz="900" dirty="0">
              <a:latin typeface="Times New Roman" panose="02020603050405020304" pitchFamily="18" charset="0"/>
              <a:cs typeface="Times New Roman" panose="02020603050405020304" pitchFamily="18" charset="0"/>
            </a:endParaRPr>
          </a:p>
        </p:txBody>
      </p:sp>
      <p:sp>
        <p:nvSpPr>
          <p:cNvPr id="7" name="Text 5"/>
          <p:cNvSpPr/>
          <p:nvPr/>
        </p:nvSpPr>
        <p:spPr>
          <a:xfrm>
            <a:off x="411480" y="327074"/>
            <a:ext cx="8321040" cy="457200"/>
          </a:xfrm>
          <a:prstGeom prst="rect">
            <a:avLst/>
          </a:prstGeom>
          <a:noFill/>
          <a:ln/>
        </p:spPr>
        <p:txBody>
          <a:bodyPr wrap="square" lIns="0" tIns="0" rIns="0" bIns="0" rtlCol="0" anchor="ctr"/>
          <a:lstStyle/>
          <a:p>
            <a:pPr marL="0" indent="0">
              <a:buNone/>
            </a:pPr>
            <a:r>
              <a:rPr lang="en-US" sz="2300" b="1" dirty="0">
                <a:solidFill>
                  <a:srgbClr val="0056B3"/>
                </a:solidFill>
                <a:latin typeface="Times New Roman" panose="02020603050405020304" pitchFamily="18" charset="0"/>
                <a:cs typeface="Times New Roman" panose="02020603050405020304" pitchFamily="18" charset="0"/>
              </a:rPr>
              <a:t>System Interfaces</a:t>
            </a:r>
            <a:endParaRPr lang="en-US" sz="2300" dirty="0">
              <a:latin typeface="Times New Roman" panose="02020603050405020304" pitchFamily="18" charset="0"/>
              <a:cs typeface="Times New Roman" panose="02020603050405020304" pitchFamily="18" charset="0"/>
            </a:endParaRPr>
          </a:p>
        </p:txBody>
      </p:sp>
      <p:sp>
        <p:nvSpPr>
          <p:cNvPr id="8" name="Shape 6"/>
          <p:cNvSpPr/>
          <p:nvPr/>
        </p:nvSpPr>
        <p:spPr>
          <a:xfrm>
            <a:off x="411480" y="802562"/>
            <a:ext cx="8321040" cy="22860"/>
          </a:xfrm>
          <a:prstGeom prst="rect">
            <a:avLst/>
          </a:prstGeom>
          <a:solidFill>
            <a:srgbClr val="0056B3"/>
          </a:solidFill>
          <a:ln w="12700">
            <a:solidFill>
              <a:srgbClr val="0056B3"/>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9" name="Shape 8"/>
          <p:cNvSpPr/>
          <p:nvPr/>
        </p:nvSpPr>
        <p:spPr>
          <a:xfrm>
            <a:off x="246888" y="875714"/>
            <a:ext cx="8538552" cy="4023360"/>
          </a:xfrm>
          <a:prstGeom prst="rect">
            <a:avLst/>
          </a:prstGeom>
          <a:solidFill>
            <a:srgbClr val="F0F7FF"/>
          </a:solidFill>
          <a:ln w="12700">
            <a:solidFill>
              <a:srgbClr val="BFDBFE"/>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12" name="Shape 11"/>
          <p:cNvSpPr/>
          <p:nvPr/>
        </p:nvSpPr>
        <p:spPr>
          <a:xfrm>
            <a:off x="342720" y="905526"/>
            <a:ext cx="2700000" cy="640080"/>
          </a:xfrm>
          <a:prstGeom prst="rect">
            <a:avLst/>
          </a:prstGeom>
          <a:solidFill>
            <a:srgbClr val="1F3864"/>
          </a:solidFill>
          <a:ln w="12700">
            <a:solidFill>
              <a:srgbClr val="1F3864"/>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13" name="Text 12"/>
          <p:cNvSpPr/>
          <p:nvPr/>
        </p:nvSpPr>
        <p:spPr>
          <a:xfrm>
            <a:off x="342720" y="905525"/>
            <a:ext cx="2700000" cy="640079"/>
          </a:xfrm>
          <a:prstGeom prst="rect">
            <a:avLst/>
          </a:prstGeom>
          <a:noFill/>
          <a:ln/>
        </p:spPr>
        <p:txBody>
          <a:bodyPr wrap="square" lIns="91440" tIns="45720" rIns="91440" bIns="45720" rtlCol="0" anchor="ctr"/>
          <a:lstStyle/>
          <a:p>
            <a:pPr marL="0" indent="0" algn="ctr">
              <a:buNone/>
            </a:pPr>
            <a:r>
              <a:rPr lang="en-US" sz="1400" b="1" dirty="0">
                <a:solidFill>
                  <a:srgbClr val="FFFFFF"/>
                </a:solidFill>
                <a:latin typeface="Times New Roman" panose="02020603050405020304" pitchFamily="18" charset="0"/>
                <a:cs typeface="Times New Roman" panose="02020603050405020304" pitchFamily="18" charset="0"/>
              </a:rPr>
              <a:t>Upload Interface</a:t>
            </a:r>
            <a:endParaRPr lang="en-US" sz="1400" dirty="0">
              <a:latin typeface="Times New Roman" panose="02020603050405020304" pitchFamily="18" charset="0"/>
              <a:cs typeface="Times New Roman" panose="02020603050405020304" pitchFamily="18" charset="0"/>
            </a:endParaRPr>
          </a:p>
        </p:txBody>
      </p:sp>
      <p:sp>
        <p:nvSpPr>
          <p:cNvPr id="15" name="Shape 11"/>
          <p:cNvSpPr/>
          <p:nvPr/>
        </p:nvSpPr>
        <p:spPr>
          <a:xfrm>
            <a:off x="3162240" y="914119"/>
            <a:ext cx="2700000" cy="640080"/>
          </a:xfrm>
          <a:prstGeom prst="rect">
            <a:avLst/>
          </a:prstGeom>
          <a:solidFill>
            <a:srgbClr val="1F3864"/>
          </a:solidFill>
          <a:ln w="12700">
            <a:solidFill>
              <a:srgbClr val="1F3864"/>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16" name="Text 12"/>
          <p:cNvSpPr/>
          <p:nvPr/>
        </p:nvSpPr>
        <p:spPr>
          <a:xfrm>
            <a:off x="3162240" y="914119"/>
            <a:ext cx="2700000" cy="631486"/>
          </a:xfrm>
          <a:prstGeom prst="rect">
            <a:avLst/>
          </a:prstGeom>
          <a:noFill/>
          <a:ln/>
        </p:spPr>
        <p:txBody>
          <a:bodyPr wrap="square" lIns="91440" tIns="45720" rIns="91440" bIns="45720" rtlCol="0" anchor="ctr"/>
          <a:lstStyle/>
          <a:p>
            <a:pPr marL="0" indent="0" algn="ctr">
              <a:buNone/>
            </a:pPr>
            <a:r>
              <a:rPr lang="en-US" sz="1400" b="1" dirty="0">
                <a:solidFill>
                  <a:srgbClr val="FFFFFF"/>
                </a:solidFill>
                <a:latin typeface="Times New Roman" panose="02020603050405020304" pitchFamily="18" charset="0"/>
                <a:cs typeface="Times New Roman" panose="02020603050405020304" pitchFamily="18" charset="0"/>
              </a:rPr>
              <a:t>Result Interface</a:t>
            </a:r>
            <a:endParaRPr lang="en-US" sz="1400" dirty="0">
              <a:latin typeface="Times New Roman" panose="02020603050405020304" pitchFamily="18" charset="0"/>
              <a:cs typeface="Times New Roman" panose="02020603050405020304" pitchFamily="18" charset="0"/>
            </a:endParaRPr>
          </a:p>
        </p:txBody>
      </p:sp>
      <p:sp>
        <p:nvSpPr>
          <p:cNvPr id="18" name="Shape 11"/>
          <p:cNvSpPr/>
          <p:nvPr/>
        </p:nvSpPr>
        <p:spPr>
          <a:xfrm>
            <a:off x="5981760" y="914119"/>
            <a:ext cx="2700000" cy="640080"/>
          </a:xfrm>
          <a:prstGeom prst="rect">
            <a:avLst/>
          </a:prstGeom>
          <a:solidFill>
            <a:srgbClr val="1F3864"/>
          </a:solidFill>
          <a:ln w="12700">
            <a:solidFill>
              <a:srgbClr val="1F3864"/>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19" name="Text 12"/>
          <p:cNvSpPr/>
          <p:nvPr/>
        </p:nvSpPr>
        <p:spPr>
          <a:xfrm>
            <a:off x="5981760" y="914118"/>
            <a:ext cx="2700000" cy="631487"/>
          </a:xfrm>
          <a:prstGeom prst="rect">
            <a:avLst/>
          </a:prstGeom>
          <a:noFill/>
          <a:ln/>
        </p:spPr>
        <p:txBody>
          <a:bodyPr wrap="square" lIns="91440" tIns="45720" rIns="91440" bIns="45720" rtlCol="0" anchor="ctr"/>
          <a:lstStyle/>
          <a:p>
            <a:pPr marL="0" indent="0" algn="ctr">
              <a:buNone/>
            </a:pPr>
            <a:r>
              <a:rPr lang="en-US" sz="1400" b="1" dirty="0">
                <a:solidFill>
                  <a:srgbClr val="FFFFFF"/>
                </a:solidFill>
                <a:latin typeface="Times New Roman" panose="02020603050405020304" pitchFamily="18" charset="0"/>
                <a:cs typeface="Times New Roman" panose="02020603050405020304" pitchFamily="18" charset="0"/>
              </a:rPr>
              <a:t>Forensic Report</a:t>
            </a:r>
            <a:endParaRPr lang="en-US" sz="1400" dirty="0">
              <a:latin typeface="Times New Roman" panose="02020603050405020304" pitchFamily="18" charset="0"/>
              <a:cs typeface="Times New Roman" panose="02020603050405020304" pitchFamily="18" charset="0"/>
            </a:endParaRPr>
          </a:p>
        </p:txBody>
      </p:sp>
      <p:sp>
        <p:nvSpPr>
          <p:cNvPr id="20" name="Text 13"/>
          <p:cNvSpPr/>
          <p:nvPr/>
        </p:nvSpPr>
        <p:spPr>
          <a:xfrm>
            <a:off x="5981760" y="1234159"/>
            <a:ext cx="2700000" cy="320040"/>
          </a:xfrm>
          <a:prstGeom prst="rect">
            <a:avLst/>
          </a:prstGeom>
          <a:noFill/>
          <a:ln/>
        </p:spPr>
        <p:txBody>
          <a:bodyPr wrap="square" lIns="91440" tIns="45720" rIns="91440" bIns="45720" rtlCol="0" anchor="ctr"/>
          <a:lstStyle/>
          <a:p>
            <a:pPr marL="0" indent="0" algn="ctr">
              <a:buNone/>
            </a:pPr>
            <a:endParaRPr lang="en-US" sz="900" dirty="0">
              <a:latin typeface="Times New Roman" panose="02020603050405020304" pitchFamily="18" charset="0"/>
              <a:cs typeface="Times New Roman" panose="02020603050405020304" pitchFamily="18" charset="0"/>
            </a:endParaRPr>
          </a:p>
        </p:txBody>
      </p:sp>
      <p:pic>
        <p:nvPicPr>
          <p:cNvPr id="21" name="Picture 20">
            <a:extLst>
              <a:ext uri="{FF2B5EF4-FFF2-40B4-BE49-F238E27FC236}">
                <a16:creationId xmlns:a16="http://schemas.microsoft.com/office/drawing/2014/main" id="{9BB2AD16-1E20-C6BB-244F-E8EE126F24C3}"/>
              </a:ext>
            </a:extLst>
          </p:cNvPr>
          <p:cNvPicPr>
            <a:picLocks noChangeAspect="1"/>
          </p:cNvPicPr>
          <p:nvPr/>
        </p:nvPicPr>
        <p:blipFill>
          <a:blip r:embed="rId2"/>
          <a:stretch>
            <a:fillRect/>
          </a:stretch>
        </p:blipFill>
        <p:spPr>
          <a:xfrm>
            <a:off x="358560" y="1607756"/>
            <a:ext cx="2700000" cy="3143997"/>
          </a:xfrm>
          <a:prstGeom prst="rect">
            <a:avLst/>
          </a:prstGeom>
        </p:spPr>
      </p:pic>
      <p:pic>
        <p:nvPicPr>
          <p:cNvPr id="22" name="Picture 21">
            <a:extLst>
              <a:ext uri="{FF2B5EF4-FFF2-40B4-BE49-F238E27FC236}">
                <a16:creationId xmlns:a16="http://schemas.microsoft.com/office/drawing/2014/main" id="{78235FF0-7EFF-FF9C-E08E-2C48AFB83886}"/>
              </a:ext>
            </a:extLst>
          </p:cNvPr>
          <p:cNvPicPr>
            <a:picLocks noChangeAspect="1"/>
          </p:cNvPicPr>
          <p:nvPr/>
        </p:nvPicPr>
        <p:blipFill>
          <a:blip r:embed="rId3"/>
          <a:stretch>
            <a:fillRect/>
          </a:stretch>
        </p:blipFill>
        <p:spPr>
          <a:xfrm>
            <a:off x="3162240" y="1607756"/>
            <a:ext cx="2700000" cy="3143997"/>
          </a:xfrm>
          <a:prstGeom prst="rect">
            <a:avLst/>
          </a:prstGeom>
        </p:spPr>
      </p:pic>
      <p:pic>
        <p:nvPicPr>
          <p:cNvPr id="24" name="Picture 23">
            <a:extLst>
              <a:ext uri="{FF2B5EF4-FFF2-40B4-BE49-F238E27FC236}">
                <a16:creationId xmlns:a16="http://schemas.microsoft.com/office/drawing/2014/main" id="{34D7F850-E635-5B88-C76B-33A1A8F59DEC}"/>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965920" y="1630095"/>
            <a:ext cx="2715840" cy="3121658"/>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256032"/>
          </a:xfrm>
          <a:prstGeom prst="rect">
            <a:avLst/>
          </a:prstGeom>
          <a:solidFill>
            <a:srgbClr val="1F3864"/>
          </a:solidFill>
          <a:ln w="12700">
            <a:solidFill>
              <a:srgbClr val="1F3864"/>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3" name="Text 1"/>
          <p:cNvSpPr/>
          <p:nvPr/>
        </p:nvSpPr>
        <p:spPr>
          <a:xfrm>
            <a:off x="274320" y="0"/>
            <a:ext cx="7132320" cy="256032"/>
          </a:xfrm>
          <a:prstGeom prst="rect">
            <a:avLst/>
          </a:prstGeom>
          <a:noFill/>
          <a:ln/>
        </p:spPr>
        <p:txBody>
          <a:bodyPr wrap="square" lIns="0" tIns="0" rIns="0" bIns="0" rtlCol="0" anchor="ctr"/>
          <a:lstStyle/>
          <a:p>
            <a:pPr marL="0" indent="0">
              <a:buNone/>
            </a:pPr>
            <a:r>
              <a:rPr lang="en-US" sz="850" dirty="0">
                <a:solidFill>
                  <a:srgbClr val="FFFFFF"/>
                </a:solidFill>
                <a:latin typeface="Times New Roman" panose="02020603050405020304" pitchFamily="18" charset="0"/>
                <a:cs typeface="Times New Roman" panose="02020603050405020304" pitchFamily="18" charset="0"/>
              </a:rPr>
              <a:t>Deepfake Image Detection System  |  TM471B — May 2026</a:t>
            </a:r>
            <a:endParaRPr lang="en-US" sz="850" dirty="0">
              <a:latin typeface="Times New Roman" panose="02020603050405020304" pitchFamily="18" charset="0"/>
              <a:cs typeface="Times New Roman" panose="02020603050405020304" pitchFamily="18" charset="0"/>
            </a:endParaRPr>
          </a:p>
        </p:txBody>
      </p:sp>
      <p:sp>
        <p:nvSpPr>
          <p:cNvPr id="4" name="Shape 2"/>
          <p:cNvSpPr/>
          <p:nvPr/>
        </p:nvSpPr>
        <p:spPr>
          <a:xfrm>
            <a:off x="8138160" y="27432"/>
            <a:ext cx="749808" cy="201168"/>
          </a:xfrm>
          <a:prstGeom prst="rect">
            <a:avLst/>
          </a:prstGeom>
          <a:solidFill>
            <a:srgbClr val="1A4F9E"/>
          </a:solidFill>
          <a:ln w="12700">
            <a:solidFill>
              <a:srgbClr val="FFFFFF"/>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5" name="Text 3"/>
          <p:cNvSpPr/>
          <p:nvPr/>
        </p:nvSpPr>
        <p:spPr>
          <a:xfrm>
            <a:off x="8138160" y="27432"/>
            <a:ext cx="749808"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Times New Roman" panose="02020603050405020304" pitchFamily="18" charset="0"/>
                <a:cs typeface="Times New Roman" panose="02020603050405020304" pitchFamily="18" charset="0"/>
              </a:rPr>
              <a:t>AOU</a:t>
            </a:r>
            <a:endParaRPr lang="en-US" sz="800" dirty="0">
              <a:latin typeface="Times New Roman" panose="02020603050405020304" pitchFamily="18" charset="0"/>
              <a:cs typeface="Times New Roman" panose="02020603050405020304" pitchFamily="18" charset="0"/>
            </a:endParaRPr>
          </a:p>
        </p:txBody>
      </p:sp>
      <p:sp>
        <p:nvSpPr>
          <p:cNvPr id="6" name="Text 4"/>
          <p:cNvSpPr/>
          <p:nvPr/>
        </p:nvSpPr>
        <p:spPr>
          <a:xfrm>
            <a:off x="8778240" y="4919472"/>
            <a:ext cx="320040" cy="182880"/>
          </a:xfrm>
          <a:prstGeom prst="rect">
            <a:avLst/>
          </a:prstGeom>
          <a:noFill/>
          <a:ln/>
        </p:spPr>
        <p:txBody>
          <a:bodyPr wrap="square" lIns="0" tIns="0" rIns="0" bIns="0" rtlCol="0" anchor="ctr"/>
          <a:lstStyle/>
          <a:p>
            <a:pPr marL="0" indent="0" algn="r">
              <a:buNone/>
            </a:pPr>
            <a:r>
              <a:rPr lang="en-US" sz="900" dirty="0">
                <a:solidFill>
                  <a:srgbClr val="475569"/>
                </a:solidFill>
                <a:latin typeface="Times New Roman" panose="02020603050405020304" pitchFamily="18" charset="0"/>
                <a:cs typeface="Times New Roman" panose="02020603050405020304" pitchFamily="18" charset="0"/>
              </a:rPr>
              <a:t>10</a:t>
            </a:r>
            <a:endParaRPr lang="en-US" sz="900" dirty="0">
              <a:latin typeface="Times New Roman" panose="02020603050405020304" pitchFamily="18" charset="0"/>
              <a:cs typeface="Times New Roman" panose="02020603050405020304" pitchFamily="18" charset="0"/>
            </a:endParaRPr>
          </a:p>
        </p:txBody>
      </p:sp>
      <p:sp>
        <p:nvSpPr>
          <p:cNvPr id="7" name="Text 5"/>
          <p:cNvSpPr/>
          <p:nvPr/>
        </p:nvSpPr>
        <p:spPr>
          <a:xfrm>
            <a:off x="411480" y="320040"/>
            <a:ext cx="8321040" cy="457200"/>
          </a:xfrm>
          <a:prstGeom prst="rect">
            <a:avLst/>
          </a:prstGeom>
          <a:noFill/>
          <a:ln/>
        </p:spPr>
        <p:txBody>
          <a:bodyPr wrap="square" lIns="0" tIns="0" rIns="0" bIns="0" rtlCol="0" anchor="ctr"/>
          <a:lstStyle/>
          <a:p>
            <a:pPr marL="0" indent="0">
              <a:buNone/>
            </a:pPr>
            <a:r>
              <a:rPr lang="en-US" sz="2300" b="1" dirty="0">
                <a:solidFill>
                  <a:srgbClr val="0056B3"/>
                </a:solidFill>
                <a:latin typeface="Times New Roman" panose="02020603050405020304" pitchFamily="18" charset="0"/>
                <a:cs typeface="Times New Roman" panose="02020603050405020304" pitchFamily="18" charset="0"/>
              </a:rPr>
              <a:t>Results</a:t>
            </a:r>
            <a:endParaRPr lang="en-US" sz="2300" dirty="0">
              <a:latin typeface="Times New Roman" panose="02020603050405020304" pitchFamily="18" charset="0"/>
              <a:cs typeface="Times New Roman" panose="02020603050405020304" pitchFamily="18" charset="0"/>
            </a:endParaRPr>
          </a:p>
        </p:txBody>
      </p:sp>
      <p:sp>
        <p:nvSpPr>
          <p:cNvPr id="8" name="Shape 6"/>
          <p:cNvSpPr/>
          <p:nvPr/>
        </p:nvSpPr>
        <p:spPr>
          <a:xfrm>
            <a:off x="411480" y="795528"/>
            <a:ext cx="8321040" cy="22860"/>
          </a:xfrm>
          <a:prstGeom prst="rect">
            <a:avLst/>
          </a:prstGeom>
          <a:solidFill>
            <a:srgbClr val="0056B3"/>
          </a:solidFill>
          <a:ln w="12700">
            <a:solidFill>
              <a:srgbClr val="0056B3"/>
            </a:solidFill>
            <a:prstDash val="solid"/>
          </a:ln>
        </p:spPr>
        <p:txBody>
          <a:bodyPr/>
          <a:lstStyle/>
          <a:p>
            <a:endParaRPr lang="en-US">
              <a:latin typeface="Times New Roman" panose="02020603050405020304" pitchFamily="18" charset="0"/>
              <a:cs typeface="Times New Roman" panose="02020603050405020304" pitchFamily="18" charset="0"/>
            </a:endParaRPr>
          </a:p>
        </p:txBody>
      </p:sp>
      <p:graphicFrame>
        <p:nvGraphicFramePr>
          <p:cNvPr id="11" name="Table 0"/>
          <p:cNvGraphicFramePr>
            <a:graphicFrameLocks noGrp="1"/>
          </p:cNvGraphicFramePr>
          <p:nvPr>
            <p:extLst>
              <p:ext uri="{D42A27DB-BD31-4B8C-83A1-F6EECF244321}">
                <p14:modId xmlns:p14="http://schemas.microsoft.com/office/powerpoint/2010/main" val="3508272061"/>
              </p:ext>
            </p:extLst>
          </p:nvPr>
        </p:nvGraphicFramePr>
        <p:xfrm>
          <a:off x="548640" y="932688"/>
          <a:ext cx="7772400" cy="1639064"/>
        </p:xfrm>
        <a:graphic>
          <a:graphicData uri="http://schemas.openxmlformats.org/drawingml/2006/table">
            <a:tbl>
              <a:tblPr/>
              <a:tblGrid>
                <a:gridCol w="155448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24128">
                  <a:extLst>
                    <a:ext uri="{9D8B030D-6E8A-4147-A177-3AD203B41FA5}">
                      <a16:colId xmlns:a16="http://schemas.microsoft.com/office/drawing/2014/main" val="20002"/>
                    </a:ext>
                  </a:extLst>
                </a:gridCol>
                <a:gridCol w="1024128">
                  <a:extLst>
                    <a:ext uri="{9D8B030D-6E8A-4147-A177-3AD203B41FA5}">
                      <a16:colId xmlns:a16="http://schemas.microsoft.com/office/drawing/2014/main" val="20003"/>
                    </a:ext>
                  </a:extLst>
                </a:gridCol>
                <a:gridCol w="1024128">
                  <a:extLst>
                    <a:ext uri="{9D8B030D-6E8A-4147-A177-3AD203B41FA5}">
                      <a16:colId xmlns:a16="http://schemas.microsoft.com/office/drawing/2014/main" val="20004"/>
                    </a:ext>
                  </a:extLst>
                </a:gridCol>
                <a:gridCol w="1024128">
                  <a:extLst>
                    <a:ext uri="{9D8B030D-6E8A-4147-A177-3AD203B41FA5}">
                      <a16:colId xmlns:a16="http://schemas.microsoft.com/office/drawing/2014/main" val="20005"/>
                    </a:ext>
                  </a:extLst>
                </a:gridCol>
                <a:gridCol w="1024128">
                  <a:extLst>
                    <a:ext uri="{9D8B030D-6E8A-4147-A177-3AD203B41FA5}">
                      <a16:colId xmlns:a16="http://schemas.microsoft.com/office/drawing/2014/main" val="20006"/>
                    </a:ext>
                  </a:extLst>
                </a:gridCol>
              </a:tblGrid>
              <a:tr h="409766">
                <a:tc>
                  <a:txBody>
                    <a:bodyPr/>
                    <a:lstStyle/>
                    <a:p>
                      <a:pPr marL="0" indent="0">
                        <a:buNone/>
                      </a:pPr>
                      <a:r>
                        <a:rPr lang="en-US" sz="1100" b="1" dirty="0">
                          <a:solidFill>
                            <a:srgbClr val="FFFFFF"/>
                          </a:solidFill>
                          <a:latin typeface="Times New Roman" panose="02020603050405020304" pitchFamily="18" charset="0"/>
                          <a:cs typeface="Times New Roman" panose="02020603050405020304" pitchFamily="18" charset="0"/>
                        </a:rPr>
                        <a:t>Model</a:t>
                      </a:r>
                      <a:endParaRPr lang="en-US" sz="1100" dirty="0">
                        <a:latin typeface="Times New Roman" panose="02020603050405020304" pitchFamily="18" charset="0"/>
                        <a:cs typeface="Times New Roman" panose="02020603050405020304" pitchFamily="18" charset="0"/>
                      </a:endParaRPr>
                    </a:p>
                  </a:txBody>
                  <a:tcPr>
                    <a:lnL w="10160" cap="flat" cmpd="sng" algn="ctr">
                      <a:solidFill>
                        <a:srgbClr val="BFDBFE"/>
                      </a:solidFill>
                      <a:prstDash val="solid"/>
                      <a:round/>
                      <a:headEnd type="none" w="med" len="med"/>
                      <a:tailEnd type="none" w="med" len="med"/>
                    </a:lnL>
                    <a:lnR w="10160" cap="flat" cmpd="sng" algn="ctr">
                      <a:solidFill>
                        <a:srgbClr val="BFDBFE"/>
                      </a:solidFill>
                      <a:prstDash val="solid"/>
                      <a:round/>
                      <a:headEnd type="none" w="med" len="med"/>
                      <a:tailEnd type="none" w="med" len="med"/>
                    </a:lnR>
                    <a:lnT w="10160" cap="flat" cmpd="sng" algn="ctr">
                      <a:solidFill>
                        <a:srgbClr val="BFDBFE"/>
                      </a:solidFill>
                      <a:prstDash val="solid"/>
                      <a:round/>
                      <a:headEnd type="none" w="med" len="med"/>
                      <a:tailEnd type="none" w="med" len="med"/>
                    </a:lnT>
                    <a:lnB w="10160" cap="flat" cmpd="sng" algn="ctr">
                      <a:solidFill>
                        <a:srgbClr val="BFDBFE"/>
                      </a:solidFill>
                      <a:prstDash val="solid"/>
                      <a:round/>
                      <a:headEnd type="none" w="med" len="med"/>
                      <a:tailEnd type="none" w="med" len="med"/>
                    </a:lnB>
                    <a:solidFill>
                      <a:srgbClr val="1F3864"/>
                    </a:solidFill>
                  </a:tcPr>
                </a:tc>
                <a:tc>
                  <a:txBody>
                    <a:bodyPr/>
                    <a:lstStyle/>
                    <a:p>
                      <a:pPr marL="0" indent="0">
                        <a:buNone/>
                      </a:pPr>
                      <a:r>
                        <a:rPr lang="en-US" sz="1100" b="1" dirty="0">
                          <a:solidFill>
                            <a:srgbClr val="FFFFFF"/>
                          </a:solidFill>
                          <a:latin typeface="Times New Roman" panose="02020603050405020304" pitchFamily="18" charset="0"/>
                          <a:cs typeface="Times New Roman" panose="02020603050405020304" pitchFamily="18" charset="0"/>
                        </a:rPr>
                        <a:t>Accuracy</a:t>
                      </a:r>
                      <a:endParaRPr lang="en-US" sz="1100" dirty="0">
                        <a:latin typeface="Times New Roman" panose="02020603050405020304" pitchFamily="18" charset="0"/>
                        <a:cs typeface="Times New Roman" panose="02020603050405020304" pitchFamily="18" charset="0"/>
                      </a:endParaRPr>
                    </a:p>
                  </a:txBody>
                  <a:tcPr>
                    <a:lnL w="10160" cap="flat" cmpd="sng" algn="ctr">
                      <a:solidFill>
                        <a:srgbClr val="BFDBFE"/>
                      </a:solidFill>
                      <a:prstDash val="solid"/>
                      <a:round/>
                      <a:headEnd type="none" w="med" len="med"/>
                      <a:tailEnd type="none" w="med" len="med"/>
                    </a:lnL>
                    <a:lnR w="10160" cap="flat" cmpd="sng" algn="ctr">
                      <a:solidFill>
                        <a:srgbClr val="BFDBFE"/>
                      </a:solidFill>
                      <a:prstDash val="solid"/>
                      <a:round/>
                      <a:headEnd type="none" w="med" len="med"/>
                      <a:tailEnd type="none" w="med" len="med"/>
                    </a:lnR>
                    <a:lnT w="10160" cap="flat" cmpd="sng" algn="ctr">
                      <a:solidFill>
                        <a:srgbClr val="BFDBFE"/>
                      </a:solidFill>
                      <a:prstDash val="solid"/>
                      <a:round/>
                      <a:headEnd type="none" w="med" len="med"/>
                      <a:tailEnd type="none" w="med" len="med"/>
                    </a:lnT>
                    <a:lnB w="10160" cap="flat" cmpd="sng" algn="ctr">
                      <a:solidFill>
                        <a:srgbClr val="BFDBFE"/>
                      </a:solidFill>
                      <a:prstDash val="solid"/>
                      <a:round/>
                      <a:headEnd type="none" w="med" len="med"/>
                      <a:tailEnd type="none" w="med" len="med"/>
                    </a:lnB>
                    <a:solidFill>
                      <a:srgbClr val="1F3864"/>
                    </a:solidFill>
                  </a:tcPr>
                </a:tc>
                <a:tc>
                  <a:txBody>
                    <a:bodyPr/>
                    <a:lstStyle/>
                    <a:p>
                      <a:pPr marL="0" indent="0">
                        <a:buNone/>
                      </a:pPr>
                      <a:r>
                        <a:rPr lang="en-US" sz="1100" b="1" dirty="0">
                          <a:solidFill>
                            <a:srgbClr val="FFFFFF"/>
                          </a:solidFill>
                          <a:latin typeface="Times New Roman" panose="02020603050405020304" pitchFamily="18" charset="0"/>
                          <a:cs typeface="Times New Roman" panose="02020603050405020304" pitchFamily="18" charset="0"/>
                        </a:rPr>
                        <a:t>Prec.(Real)</a:t>
                      </a:r>
                      <a:endParaRPr lang="en-US" sz="1100" dirty="0">
                        <a:latin typeface="Times New Roman" panose="02020603050405020304" pitchFamily="18" charset="0"/>
                        <a:cs typeface="Times New Roman" panose="02020603050405020304" pitchFamily="18" charset="0"/>
                      </a:endParaRPr>
                    </a:p>
                  </a:txBody>
                  <a:tcPr>
                    <a:lnL w="10160" cap="flat" cmpd="sng" algn="ctr">
                      <a:solidFill>
                        <a:srgbClr val="BFDBFE"/>
                      </a:solidFill>
                      <a:prstDash val="solid"/>
                      <a:round/>
                      <a:headEnd type="none" w="med" len="med"/>
                      <a:tailEnd type="none" w="med" len="med"/>
                    </a:lnL>
                    <a:lnR w="10160" cap="flat" cmpd="sng" algn="ctr">
                      <a:solidFill>
                        <a:srgbClr val="BFDBFE"/>
                      </a:solidFill>
                      <a:prstDash val="solid"/>
                      <a:round/>
                      <a:headEnd type="none" w="med" len="med"/>
                      <a:tailEnd type="none" w="med" len="med"/>
                    </a:lnR>
                    <a:lnT w="10160" cap="flat" cmpd="sng" algn="ctr">
                      <a:solidFill>
                        <a:srgbClr val="BFDBFE"/>
                      </a:solidFill>
                      <a:prstDash val="solid"/>
                      <a:round/>
                      <a:headEnd type="none" w="med" len="med"/>
                      <a:tailEnd type="none" w="med" len="med"/>
                    </a:lnT>
                    <a:lnB w="10160" cap="flat" cmpd="sng" algn="ctr">
                      <a:solidFill>
                        <a:srgbClr val="BFDBFE"/>
                      </a:solidFill>
                      <a:prstDash val="solid"/>
                      <a:round/>
                      <a:headEnd type="none" w="med" len="med"/>
                      <a:tailEnd type="none" w="med" len="med"/>
                    </a:lnB>
                    <a:solidFill>
                      <a:srgbClr val="1F3864"/>
                    </a:solidFill>
                  </a:tcPr>
                </a:tc>
                <a:tc>
                  <a:txBody>
                    <a:bodyPr/>
                    <a:lstStyle/>
                    <a:p>
                      <a:pPr marL="0" indent="0">
                        <a:buNone/>
                      </a:pPr>
                      <a:r>
                        <a:rPr lang="en-US" sz="1100" b="1" dirty="0">
                          <a:solidFill>
                            <a:srgbClr val="FFFFFF"/>
                          </a:solidFill>
                          <a:latin typeface="Times New Roman" panose="02020603050405020304" pitchFamily="18" charset="0"/>
                          <a:cs typeface="Times New Roman" panose="02020603050405020304" pitchFamily="18" charset="0"/>
                        </a:rPr>
                        <a:t>Rec.(Real)</a:t>
                      </a:r>
                      <a:endParaRPr lang="en-US" sz="1100" dirty="0">
                        <a:latin typeface="Times New Roman" panose="02020603050405020304" pitchFamily="18" charset="0"/>
                        <a:cs typeface="Times New Roman" panose="02020603050405020304" pitchFamily="18" charset="0"/>
                      </a:endParaRPr>
                    </a:p>
                  </a:txBody>
                  <a:tcPr>
                    <a:lnL w="10160" cap="flat" cmpd="sng" algn="ctr">
                      <a:solidFill>
                        <a:srgbClr val="BFDBFE"/>
                      </a:solidFill>
                      <a:prstDash val="solid"/>
                      <a:round/>
                      <a:headEnd type="none" w="med" len="med"/>
                      <a:tailEnd type="none" w="med" len="med"/>
                    </a:lnL>
                    <a:lnR w="10160" cap="flat" cmpd="sng" algn="ctr">
                      <a:solidFill>
                        <a:srgbClr val="BFDBFE"/>
                      </a:solidFill>
                      <a:prstDash val="solid"/>
                      <a:round/>
                      <a:headEnd type="none" w="med" len="med"/>
                      <a:tailEnd type="none" w="med" len="med"/>
                    </a:lnR>
                    <a:lnT w="10160" cap="flat" cmpd="sng" algn="ctr">
                      <a:solidFill>
                        <a:srgbClr val="BFDBFE"/>
                      </a:solidFill>
                      <a:prstDash val="solid"/>
                      <a:round/>
                      <a:headEnd type="none" w="med" len="med"/>
                      <a:tailEnd type="none" w="med" len="med"/>
                    </a:lnT>
                    <a:lnB w="10160" cap="flat" cmpd="sng" algn="ctr">
                      <a:solidFill>
                        <a:srgbClr val="BFDBFE"/>
                      </a:solidFill>
                      <a:prstDash val="solid"/>
                      <a:round/>
                      <a:headEnd type="none" w="med" len="med"/>
                      <a:tailEnd type="none" w="med" len="med"/>
                    </a:lnB>
                    <a:solidFill>
                      <a:srgbClr val="1F3864"/>
                    </a:solidFill>
                  </a:tcPr>
                </a:tc>
                <a:tc>
                  <a:txBody>
                    <a:bodyPr/>
                    <a:lstStyle/>
                    <a:p>
                      <a:pPr marL="0" indent="0">
                        <a:buNone/>
                      </a:pPr>
                      <a:r>
                        <a:rPr lang="en-US" sz="1100" b="1" dirty="0">
                          <a:solidFill>
                            <a:srgbClr val="FFFFFF"/>
                          </a:solidFill>
                          <a:latin typeface="Times New Roman" panose="02020603050405020304" pitchFamily="18" charset="0"/>
                          <a:cs typeface="Times New Roman" panose="02020603050405020304" pitchFamily="18" charset="0"/>
                        </a:rPr>
                        <a:t>Prec.(Fake)</a:t>
                      </a:r>
                      <a:endParaRPr lang="en-US" sz="1100" dirty="0">
                        <a:latin typeface="Times New Roman" panose="02020603050405020304" pitchFamily="18" charset="0"/>
                        <a:cs typeface="Times New Roman" panose="02020603050405020304" pitchFamily="18" charset="0"/>
                      </a:endParaRPr>
                    </a:p>
                  </a:txBody>
                  <a:tcPr>
                    <a:lnL w="10160" cap="flat" cmpd="sng" algn="ctr">
                      <a:solidFill>
                        <a:srgbClr val="BFDBFE"/>
                      </a:solidFill>
                      <a:prstDash val="solid"/>
                      <a:round/>
                      <a:headEnd type="none" w="med" len="med"/>
                      <a:tailEnd type="none" w="med" len="med"/>
                    </a:lnL>
                    <a:lnR w="10160" cap="flat" cmpd="sng" algn="ctr">
                      <a:solidFill>
                        <a:srgbClr val="BFDBFE"/>
                      </a:solidFill>
                      <a:prstDash val="solid"/>
                      <a:round/>
                      <a:headEnd type="none" w="med" len="med"/>
                      <a:tailEnd type="none" w="med" len="med"/>
                    </a:lnR>
                    <a:lnT w="10160" cap="flat" cmpd="sng" algn="ctr">
                      <a:solidFill>
                        <a:srgbClr val="BFDBFE"/>
                      </a:solidFill>
                      <a:prstDash val="solid"/>
                      <a:round/>
                      <a:headEnd type="none" w="med" len="med"/>
                      <a:tailEnd type="none" w="med" len="med"/>
                    </a:lnT>
                    <a:lnB w="10160" cap="flat" cmpd="sng" algn="ctr">
                      <a:solidFill>
                        <a:srgbClr val="BFDBFE"/>
                      </a:solidFill>
                      <a:prstDash val="solid"/>
                      <a:round/>
                      <a:headEnd type="none" w="med" len="med"/>
                      <a:tailEnd type="none" w="med" len="med"/>
                    </a:lnB>
                    <a:solidFill>
                      <a:srgbClr val="1F3864"/>
                    </a:solidFill>
                  </a:tcPr>
                </a:tc>
                <a:tc>
                  <a:txBody>
                    <a:bodyPr/>
                    <a:lstStyle/>
                    <a:p>
                      <a:pPr marL="0" indent="0">
                        <a:buNone/>
                      </a:pPr>
                      <a:r>
                        <a:rPr lang="en-US" sz="1100" b="1" dirty="0">
                          <a:solidFill>
                            <a:srgbClr val="FFFFFF"/>
                          </a:solidFill>
                          <a:latin typeface="Times New Roman" panose="02020603050405020304" pitchFamily="18" charset="0"/>
                          <a:cs typeface="Times New Roman" panose="02020603050405020304" pitchFamily="18" charset="0"/>
                        </a:rPr>
                        <a:t>Rec.(Fake)</a:t>
                      </a:r>
                      <a:endParaRPr lang="en-US" sz="1100" dirty="0">
                        <a:latin typeface="Times New Roman" panose="02020603050405020304" pitchFamily="18" charset="0"/>
                        <a:cs typeface="Times New Roman" panose="02020603050405020304" pitchFamily="18" charset="0"/>
                      </a:endParaRPr>
                    </a:p>
                  </a:txBody>
                  <a:tcPr>
                    <a:lnL w="10160" cap="flat" cmpd="sng" algn="ctr">
                      <a:solidFill>
                        <a:srgbClr val="BFDBFE"/>
                      </a:solidFill>
                      <a:prstDash val="solid"/>
                      <a:round/>
                      <a:headEnd type="none" w="med" len="med"/>
                      <a:tailEnd type="none" w="med" len="med"/>
                    </a:lnL>
                    <a:lnR w="10160" cap="flat" cmpd="sng" algn="ctr">
                      <a:solidFill>
                        <a:srgbClr val="BFDBFE"/>
                      </a:solidFill>
                      <a:prstDash val="solid"/>
                      <a:round/>
                      <a:headEnd type="none" w="med" len="med"/>
                      <a:tailEnd type="none" w="med" len="med"/>
                    </a:lnR>
                    <a:lnT w="10160" cap="flat" cmpd="sng" algn="ctr">
                      <a:solidFill>
                        <a:srgbClr val="BFDBFE"/>
                      </a:solidFill>
                      <a:prstDash val="solid"/>
                      <a:round/>
                      <a:headEnd type="none" w="med" len="med"/>
                      <a:tailEnd type="none" w="med" len="med"/>
                    </a:lnT>
                    <a:lnB w="10160" cap="flat" cmpd="sng" algn="ctr">
                      <a:solidFill>
                        <a:srgbClr val="BFDBFE"/>
                      </a:solidFill>
                      <a:prstDash val="solid"/>
                      <a:round/>
                      <a:headEnd type="none" w="med" len="med"/>
                      <a:tailEnd type="none" w="med" len="med"/>
                    </a:lnB>
                    <a:solidFill>
                      <a:srgbClr val="1F3864"/>
                    </a:solidFill>
                  </a:tcPr>
                </a:tc>
                <a:tc>
                  <a:txBody>
                    <a:bodyPr/>
                    <a:lstStyle/>
                    <a:p>
                      <a:pPr marL="0" indent="0">
                        <a:buNone/>
                      </a:pPr>
                      <a:r>
                        <a:rPr lang="en-US" sz="1100" b="1" dirty="0">
                          <a:solidFill>
                            <a:srgbClr val="FFFFFF"/>
                          </a:solidFill>
                          <a:latin typeface="Times New Roman" panose="02020603050405020304" pitchFamily="18" charset="0"/>
                          <a:cs typeface="Times New Roman" panose="02020603050405020304" pitchFamily="18" charset="0"/>
                        </a:rPr>
                        <a:t>Macro F1</a:t>
                      </a:r>
                      <a:endParaRPr lang="en-US" sz="1100" dirty="0">
                        <a:latin typeface="Times New Roman" panose="02020603050405020304" pitchFamily="18" charset="0"/>
                        <a:cs typeface="Times New Roman" panose="02020603050405020304" pitchFamily="18" charset="0"/>
                      </a:endParaRPr>
                    </a:p>
                  </a:txBody>
                  <a:tcPr>
                    <a:lnL w="10160" cap="flat" cmpd="sng" algn="ctr">
                      <a:solidFill>
                        <a:srgbClr val="BFDBFE"/>
                      </a:solidFill>
                      <a:prstDash val="solid"/>
                      <a:round/>
                      <a:headEnd type="none" w="med" len="med"/>
                      <a:tailEnd type="none" w="med" len="med"/>
                    </a:lnL>
                    <a:lnR w="10160" cap="flat" cmpd="sng" algn="ctr">
                      <a:solidFill>
                        <a:srgbClr val="BFDBFE"/>
                      </a:solidFill>
                      <a:prstDash val="solid"/>
                      <a:round/>
                      <a:headEnd type="none" w="med" len="med"/>
                      <a:tailEnd type="none" w="med" len="med"/>
                    </a:lnR>
                    <a:lnT w="10160" cap="flat" cmpd="sng" algn="ctr">
                      <a:solidFill>
                        <a:srgbClr val="BFDBFE"/>
                      </a:solidFill>
                      <a:prstDash val="solid"/>
                      <a:round/>
                      <a:headEnd type="none" w="med" len="med"/>
                      <a:tailEnd type="none" w="med" len="med"/>
                    </a:lnT>
                    <a:lnB w="10160" cap="flat" cmpd="sng" algn="ctr">
                      <a:solidFill>
                        <a:srgbClr val="BFDBFE"/>
                      </a:solidFill>
                      <a:prstDash val="solid"/>
                      <a:round/>
                      <a:headEnd type="none" w="med" len="med"/>
                      <a:tailEnd type="none" w="med" len="med"/>
                    </a:lnB>
                    <a:solidFill>
                      <a:srgbClr val="1F3864"/>
                    </a:solidFill>
                  </a:tcPr>
                </a:tc>
                <a:extLst>
                  <a:ext uri="{0D108BD9-81ED-4DB2-BD59-A6C34878D82A}">
                    <a16:rowId xmlns:a16="http://schemas.microsoft.com/office/drawing/2014/main" val="10000"/>
                  </a:ext>
                </a:extLst>
              </a:tr>
              <a:tr h="409766">
                <a:tc>
                  <a:txBody>
                    <a:bodyPr/>
                    <a:lstStyle/>
                    <a:p>
                      <a:pPr marL="0" indent="0">
                        <a:buNone/>
                      </a:pPr>
                      <a:r>
                        <a:rPr lang="en-US" sz="1100" b="1" dirty="0">
                          <a:solidFill>
                            <a:srgbClr val="1F3864"/>
                          </a:solidFill>
                          <a:latin typeface="Times New Roman" panose="02020603050405020304" pitchFamily="18" charset="0"/>
                          <a:cs typeface="Times New Roman" panose="02020603050405020304" pitchFamily="18" charset="0"/>
                        </a:rPr>
                        <a:t>VGG16 ★</a:t>
                      </a:r>
                      <a:endParaRPr lang="en-US" sz="1100" dirty="0">
                        <a:latin typeface="Times New Roman" panose="02020603050405020304" pitchFamily="18" charset="0"/>
                        <a:cs typeface="Times New Roman" panose="02020603050405020304" pitchFamily="18" charset="0"/>
                      </a:endParaRPr>
                    </a:p>
                  </a:txBody>
                  <a:tcPr>
                    <a:lnL w="10160" cap="flat" cmpd="sng" algn="ctr">
                      <a:solidFill>
                        <a:srgbClr val="BFDBFE"/>
                      </a:solidFill>
                      <a:prstDash val="solid"/>
                      <a:round/>
                      <a:headEnd type="none" w="med" len="med"/>
                      <a:tailEnd type="none" w="med" len="med"/>
                    </a:lnL>
                    <a:lnR w="10160" cap="flat" cmpd="sng" algn="ctr">
                      <a:solidFill>
                        <a:srgbClr val="BFDBFE"/>
                      </a:solidFill>
                      <a:prstDash val="solid"/>
                      <a:round/>
                      <a:headEnd type="none" w="med" len="med"/>
                      <a:tailEnd type="none" w="med" len="med"/>
                    </a:lnR>
                    <a:lnT w="10160" cap="flat" cmpd="sng" algn="ctr">
                      <a:solidFill>
                        <a:srgbClr val="BFDBFE"/>
                      </a:solidFill>
                      <a:prstDash val="solid"/>
                      <a:round/>
                      <a:headEnd type="none" w="med" len="med"/>
                      <a:tailEnd type="none" w="med" len="med"/>
                    </a:lnT>
                    <a:lnB w="10160" cap="flat" cmpd="sng" algn="ctr">
                      <a:solidFill>
                        <a:srgbClr val="BFDBFE"/>
                      </a:solidFill>
                      <a:prstDash val="solid"/>
                      <a:round/>
                      <a:headEnd type="none" w="med" len="med"/>
                      <a:tailEnd type="none" w="med" len="med"/>
                    </a:lnB>
                    <a:solidFill>
                      <a:srgbClr val="EBF3FF"/>
                    </a:solidFill>
                  </a:tcPr>
                </a:tc>
                <a:tc>
                  <a:txBody>
                    <a:bodyPr/>
                    <a:lstStyle/>
                    <a:p>
                      <a:pPr marL="0" indent="0">
                        <a:buNone/>
                      </a:pPr>
                      <a:r>
                        <a:rPr lang="en-US" sz="1100" b="1" dirty="0">
                          <a:solidFill>
                            <a:srgbClr val="16A34A"/>
                          </a:solidFill>
                          <a:latin typeface="Times New Roman" panose="02020603050405020304" pitchFamily="18" charset="0"/>
                          <a:cs typeface="Times New Roman" panose="02020603050405020304" pitchFamily="18" charset="0"/>
                        </a:rPr>
                        <a:t>96.27%</a:t>
                      </a:r>
                      <a:endParaRPr lang="en-US" sz="1100" dirty="0">
                        <a:latin typeface="Times New Roman" panose="02020603050405020304" pitchFamily="18" charset="0"/>
                        <a:cs typeface="Times New Roman" panose="02020603050405020304" pitchFamily="18" charset="0"/>
                      </a:endParaRPr>
                    </a:p>
                  </a:txBody>
                  <a:tcPr>
                    <a:lnL w="10160" cap="flat" cmpd="sng" algn="ctr">
                      <a:solidFill>
                        <a:srgbClr val="BFDBFE"/>
                      </a:solidFill>
                      <a:prstDash val="solid"/>
                      <a:round/>
                      <a:headEnd type="none" w="med" len="med"/>
                      <a:tailEnd type="none" w="med" len="med"/>
                    </a:lnL>
                    <a:lnR w="10160" cap="flat" cmpd="sng" algn="ctr">
                      <a:solidFill>
                        <a:srgbClr val="BFDBFE"/>
                      </a:solidFill>
                      <a:prstDash val="solid"/>
                      <a:round/>
                      <a:headEnd type="none" w="med" len="med"/>
                      <a:tailEnd type="none" w="med" len="med"/>
                    </a:lnR>
                    <a:lnT w="10160" cap="flat" cmpd="sng" algn="ctr">
                      <a:solidFill>
                        <a:srgbClr val="BFDBFE"/>
                      </a:solidFill>
                      <a:prstDash val="solid"/>
                      <a:round/>
                      <a:headEnd type="none" w="med" len="med"/>
                      <a:tailEnd type="none" w="med" len="med"/>
                    </a:lnT>
                    <a:lnB w="10160" cap="flat" cmpd="sng" algn="ctr">
                      <a:solidFill>
                        <a:srgbClr val="BFDBFE"/>
                      </a:solidFill>
                      <a:prstDash val="solid"/>
                      <a:round/>
                      <a:headEnd type="none" w="med" len="med"/>
                      <a:tailEnd type="none" w="med" len="med"/>
                    </a:lnB>
                    <a:solidFill>
                      <a:srgbClr val="EBF3FF"/>
                    </a:solidFill>
                  </a:tcPr>
                </a:tc>
                <a:tc>
                  <a:txBody>
                    <a:bodyPr/>
                    <a:lstStyle/>
                    <a:p>
                      <a:pPr marL="0" indent="0">
                        <a:buNone/>
                      </a:pPr>
                      <a:r>
                        <a:rPr lang="en-US" sz="1100" b="1" dirty="0">
                          <a:solidFill>
                            <a:srgbClr val="16A34A"/>
                          </a:solidFill>
                          <a:latin typeface="Times New Roman" panose="02020603050405020304" pitchFamily="18" charset="0"/>
                          <a:cs typeface="Times New Roman" panose="02020603050405020304" pitchFamily="18" charset="0"/>
                        </a:rPr>
                        <a:t>0.97</a:t>
                      </a:r>
                      <a:endParaRPr lang="en-US" sz="1100" dirty="0">
                        <a:latin typeface="Times New Roman" panose="02020603050405020304" pitchFamily="18" charset="0"/>
                        <a:cs typeface="Times New Roman" panose="02020603050405020304" pitchFamily="18" charset="0"/>
                      </a:endParaRPr>
                    </a:p>
                  </a:txBody>
                  <a:tcPr>
                    <a:lnL w="10160" cap="flat" cmpd="sng" algn="ctr">
                      <a:solidFill>
                        <a:srgbClr val="BFDBFE"/>
                      </a:solidFill>
                      <a:prstDash val="solid"/>
                      <a:round/>
                      <a:headEnd type="none" w="med" len="med"/>
                      <a:tailEnd type="none" w="med" len="med"/>
                    </a:lnL>
                    <a:lnR w="10160" cap="flat" cmpd="sng" algn="ctr">
                      <a:solidFill>
                        <a:srgbClr val="BFDBFE"/>
                      </a:solidFill>
                      <a:prstDash val="solid"/>
                      <a:round/>
                      <a:headEnd type="none" w="med" len="med"/>
                      <a:tailEnd type="none" w="med" len="med"/>
                    </a:lnR>
                    <a:lnT w="10160" cap="flat" cmpd="sng" algn="ctr">
                      <a:solidFill>
                        <a:srgbClr val="BFDBFE"/>
                      </a:solidFill>
                      <a:prstDash val="solid"/>
                      <a:round/>
                      <a:headEnd type="none" w="med" len="med"/>
                      <a:tailEnd type="none" w="med" len="med"/>
                    </a:lnT>
                    <a:lnB w="10160" cap="flat" cmpd="sng" algn="ctr">
                      <a:solidFill>
                        <a:srgbClr val="BFDBFE"/>
                      </a:solidFill>
                      <a:prstDash val="solid"/>
                      <a:round/>
                      <a:headEnd type="none" w="med" len="med"/>
                      <a:tailEnd type="none" w="med" len="med"/>
                    </a:lnB>
                    <a:solidFill>
                      <a:srgbClr val="EBF3FF"/>
                    </a:solidFill>
                  </a:tcPr>
                </a:tc>
                <a:tc>
                  <a:txBody>
                    <a:bodyPr/>
                    <a:lstStyle/>
                    <a:p>
                      <a:pPr marL="0" indent="0">
                        <a:buNone/>
                      </a:pPr>
                      <a:r>
                        <a:rPr lang="en-US" sz="1100" b="1" dirty="0">
                          <a:solidFill>
                            <a:srgbClr val="16A34A"/>
                          </a:solidFill>
                          <a:latin typeface="Times New Roman" panose="02020603050405020304" pitchFamily="18" charset="0"/>
                          <a:cs typeface="Times New Roman" panose="02020603050405020304" pitchFamily="18" charset="0"/>
                        </a:rPr>
                        <a:t>0.96</a:t>
                      </a:r>
                      <a:endParaRPr lang="en-US" sz="1100" dirty="0">
                        <a:latin typeface="Times New Roman" panose="02020603050405020304" pitchFamily="18" charset="0"/>
                        <a:cs typeface="Times New Roman" panose="02020603050405020304" pitchFamily="18" charset="0"/>
                      </a:endParaRPr>
                    </a:p>
                  </a:txBody>
                  <a:tcPr>
                    <a:lnL w="10160" cap="flat" cmpd="sng" algn="ctr">
                      <a:solidFill>
                        <a:srgbClr val="BFDBFE"/>
                      </a:solidFill>
                      <a:prstDash val="solid"/>
                      <a:round/>
                      <a:headEnd type="none" w="med" len="med"/>
                      <a:tailEnd type="none" w="med" len="med"/>
                    </a:lnL>
                    <a:lnR w="10160" cap="flat" cmpd="sng" algn="ctr">
                      <a:solidFill>
                        <a:srgbClr val="BFDBFE"/>
                      </a:solidFill>
                      <a:prstDash val="solid"/>
                      <a:round/>
                      <a:headEnd type="none" w="med" len="med"/>
                      <a:tailEnd type="none" w="med" len="med"/>
                    </a:lnR>
                    <a:lnT w="10160" cap="flat" cmpd="sng" algn="ctr">
                      <a:solidFill>
                        <a:srgbClr val="BFDBFE"/>
                      </a:solidFill>
                      <a:prstDash val="solid"/>
                      <a:round/>
                      <a:headEnd type="none" w="med" len="med"/>
                      <a:tailEnd type="none" w="med" len="med"/>
                    </a:lnT>
                    <a:lnB w="10160" cap="flat" cmpd="sng" algn="ctr">
                      <a:solidFill>
                        <a:srgbClr val="BFDBFE"/>
                      </a:solidFill>
                      <a:prstDash val="solid"/>
                      <a:round/>
                      <a:headEnd type="none" w="med" len="med"/>
                      <a:tailEnd type="none" w="med" len="med"/>
                    </a:lnB>
                    <a:solidFill>
                      <a:srgbClr val="EBF3FF"/>
                    </a:solidFill>
                  </a:tcPr>
                </a:tc>
                <a:tc>
                  <a:txBody>
                    <a:bodyPr/>
                    <a:lstStyle/>
                    <a:p>
                      <a:pPr marL="0" indent="0">
                        <a:buNone/>
                      </a:pPr>
                      <a:r>
                        <a:rPr lang="en-US" sz="1100" b="1" dirty="0">
                          <a:solidFill>
                            <a:srgbClr val="16A34A"/>
                          </a:solidFill>
                          <a:latin typeface="Times New Roman" panose="02020603050405020304" pitchFamily="18" charset="0"/>
                          <a:cs typeface="Times New Roman" panose="02020603050405020304" pitchFamily="18" charset="0"/>
                        </a:rPr>
                        <a:t>0.96</a:t>
                      </a:r>
                      <a:endParaRPr lang="en-US" sz="1100" dirty="0">
                        <a:latin typeface="Times New Roman" panose="02020603050405020304" pitchFamily="18" charset="0"/>
                        <a:cs typeface="Times New Roman" panose="02020603050405020304" pitchFamily="18" charset="0"/>
                      </a:endParaRPr>
                    </a:p>
                  </a:txBody>
                  <a:tcPr>
                    <a:lnL w="10160" cap="flat" cmpd="sng" algn="ctr">
                      <a:solidFill>
                        <a:srgbClr val="BFDBFE"/>
                      </a:solidFill>
                      <a:prstDash val="solid"/>
                      <a:round/>
                      <a:headEnd type="none" w="med" len="med"/>
                      <a:tailEnd type="none" w="med" len="med"/>
                    </a:lnL>
                    <a:lnR w="10160" cap="flat" cmpd="sng" algn="ctr">
                      <a:solidFill>
                        <a:srgbClr val="BFDBFE"/>
                      </a:solidFill>
                      <a:prstDash val="solid"/>
                      <a:round/>
                      <a:headEnd type="none" w="med" len="med"/>
                      <a:tailEnd type="none" w="med" len="med"/>
                    </a:lnR>
                    <a:lnT w="10160" cap="flat" cmpd="sng" algn="ctr">
                      <a:solidFill>
                        <a:srgbClr val="BFDBFE"/>
                      </a:solidFill>
                      <a:prstDash val="solid"/>
                      <a:round/>
                      <a:headEnd type="none" w="med" len="med"/>
                      <a:tailEnd type="none" w="med" len="med"/>
                    </a:lnT>
                    <a:lnB w="10160" cap="flat" cmpd="sng" algn="ctr">
                      <a:solidFill>
                        <a:srgbClr val="BFDBFE"/>
                      </a:solidFill>
                      <a:prstDash val="solid"/>
                      <a:round/>
                      <a:headEnd type="none" w="med" len="med"/>
                      <a:tailEnd type="none" w="med" len="med"/>
                    </a:lnB>
                    <a:solidFill>
                      <a:srgbClr val="EBF3FF"/>
                    </a:solidFill>
                  </a:tcPr>
                </a:tc>
                <a:tc>
                  <a:txBody>
                    <a:bodyPr/>
                    <a:lstStyle/>
                    <a:p>
                      <a:pPr marL="0" indent="0">
                        <a:buNone/>
                      </a:pPr>
                      <a:r>
                        <a:rPr lang="en-US" sz="1100" b="1" dirty="0">
                          <a:solidFill>
                            <a:srgbClr val="16A34A"/>
                          </a:solidFill>
                          <a:latin typeface="Times New Roman" panose="02020603050405020304" pitchFamily="18" charset="0"/>
                          <a:cs typeface="Times New Roman" panose="02020603050405020304" pitchFamily="18" charset="0"/>
                        </a:rPr>
                        <a:t>0.97</a:t>
                      </a:r>
                      <a:endParaRPr lang="en-US" sz="1100" dirty="0">
                        <a:latin typeface="Times New Roman" panose="02020603050405020304" pitchFamily="18" charset="0"/>
                        <a:cs typeface="Times New Roman" panose="02020603050405020304" pitchFamily="18" charset="0"/>
                      </a:endParaRPr>
                    </a:p>
                  </a:txBody>
                  <a:tcPr>
                    <a:lnL w="10160" cap="flat" cmpd="sng" algn="ctr">
                      <a:solidFill>
                        <a:srgbClr val="BFDBFE"/>
                      </a:solidFill>
                      <a:prstDash val="solid"/>
                      <a:round/>
                      <a:headEnd type="none" w="med" len="med"/>
                      <a:tailEnd type="none" w="med" len="med"/>
                    </a:lnL>
                    <a:lnR w="10160" cap="flat" cmpd="sng" algn="ctr">
                      <a:solidFill>
                        <a:srgbClr val="BFDBFE"/>
                      </a:solidFill>
                      <a:prstDash val="solid"/>
                      <a:round/>
                      <a:headEnd type="none" w="med" len="med"/>
                      <a:tailEnd type="none" w="med" len="med"/>
                    </a:lnR>
                    <a:lnT w="10160" cap="flat" cmpd="sng" algn="ctr">
                      <a:solidFill>
                        <a:srgbClr val="BFDBFE"/>
                      </a:solidFill>
                      <a:prstDash val="solid"/>
                      <a:round/>
                      <a:headEnd type="none" w="med" len="med"/>
                      <a:tailEnd type="none" w="med" len="med"/>
                    </a:lnT>
                    <a:lnB w="10160" cap="flat" cmpd="sng" algn="ctr">
                      <a:solidFill>
                        <a:srgbClr val="BFDBFE"/>
                      </a:solidFill>
                      <a:prstDash val="solid"/>
                      <a:round/>
                      <a:headEnd type="none" w="med" len="med"/>
                      <a:tailEnd type="none" w="med" len="med"/>
                    </a:lnB>
                    <a:solidFill>
                      <a:srgbClr val="EBF3FF"/>
                    </a:solidFill>
                  </a:tcPr>
                </a:tc>
                <a:tc>
                  <a:txBody>
                    <a:bodyPr/>
                    <a:lstStyle/>
                    <a:p>
                      <a:pPr marL="0" indent="0">
                        <a:buNone/>
                      </a:pPr>
                      <a:r>
                        <a:rPr lang="en-US" sz="1100" b="1" dirty="0">
                          <a:solidFill>
                            <a:srgbClr val="16A34A"/>
                          </a:solidFill>
                          <a:latin typeface="Times New Roman" panose="02020603050405020304" pitchFamily="18" charset="0"/>
                          <a:cs typeface="Times New Roman" panose="02020603050405020304" pitchFamily="18" charset="0"/>
                        </a:rPr>
                        <a:t>0.96</a:t>
                      </a:r>
                      <a:endParaRPr lang="en-US" sz="1100" dirty="0">
                        <a:latin typeface="Times New Roman" panose="02020603050405020304" pitchFamily="18" charset="0"/>
                        <a:cs typeface="Times New Roman" panose="02020603050405020304" pitchFamily="18" charset="0"/>
                      </a:endParaRPr>
                    </a:p>
                  </a:txBody>
                  <a:tcPr>
                    <a:lnL w="10160" cap="flat" cmpd="sng" algn="ctr">
                      <a:solidFill>
                        <a:srgbClr val="BFDBFE"/>
                      </a:solidFill>
                      <a:prstDash val="solid"/>
                      <a:round/>
                      <a:headEnd type="none" w="med" len="med"/>
                      <a:tailEnd type="none" w="med" len="med"/>
                    </a:lnL>
                    <a:lnR w="10160" cap="flat" cmpd="sng" algn="ctr">
                      <a:solidFill>
                        <a:srgbClr val="BFDBFE"/>
                      </a:solidFill>
                      <a:prstDash val="solid"/>
                      <a:round/>
                      <a:headEnd type="none" w="med" len="med"/>
                      <a:tailEnd type="none" w="med" len="med"/>
                    </a:lnR>
                    <a:lnT w="10160" cap="flat" cmpd="sng" algn="ctr">
                      <a:solidFill>
                        <a:srgbClr val="BFDBFE"/>
                      </a:solidFill>
                      <a:prstDash val="solid"/>
                      <a:round/>
                      <a:headEnd type="none" w="med" len="med"/>
                      <a:tailEnd type="none" w="med" len="med"/>
                    </a:lnT>
                    <a:lnB w="10160" cap="flat" cmpd="sng" algn="ctr">
                      <a:solidFill>
                        <a:srgbClr val="BFDBFE"/>
                      </a:solidFill>
                      <a:prstDash val="solid"/>
                      <a:round/>
                      <a:headEnd type="none" w="med" len="med"/>
                      <a:tailEnd type="none" w="med" len="med"/>
                    </a:lnB>
                    <a:solidFill>
                      <a:srgbClr val="EBF3FF"/>
                    </a:solidFill>
                  </a:tcPr>
                </a:tc>
                <a:extLst>
                  <a:ext uri="{0D108BD9-81ED-4DB2-BD59-A6C34878D82A}">
                    <a16:rowId xmlns:a16="http://schemas.microsoft.com/office/drawing/2014/main" val="10001"/>
                  </a:ext>
                </a:extLst>
              </a:tr>
              <a:tr h="409766">
                <a:tc>
                  <a:txBody>
                    <a:bodyPr/>
                    <a:lstStyle/>
                    <a:p>
                      <a:pPr marL="0" indent="0">
                        <a:buNone/>
                      </a:pPr>
                      <a:r>
                        <a:rPr lang="en-US" sz="1100" dirty="0">
                          <a:solidFill>
                            <a:srgbClr val="1E293B"/>
                          </a:solidFill>
                          <a:latin typeface="Times New Roman" panose="02020603050405020304" pitchFamily="18" charset="0"/>
                          <a:cs typeface="Times New Roman" panose="02020603050405020304" pitchFamily="18" charset="0"/>
                        </a:rPr>
                        <a:t>EfficientNet-B3</a:t>
                      </a:r>
                      <a:endParaRPr lang="en-US" sz="1100" dirty="0">
                        <a:latin typeface="Times New Roman" panose="02020603050405020304" pitchFamily="18" charset="0"/>
                        <a:cs typeface="Times New Roman" panose="02020603050405020304" pitchFamily="18" charset="0"/>
                      </a:endParaRPr>
                    </a:p>
                  </a:txBody>
                  <a:tcPr>
                    <a:lnL w="10160" cap="flat" cmpd="sng" algn="ctr">
                      <a:solidFill>
                        <a:srgbClr val="BFDBFE"/>
                      </a:solidFill>
                      <a:prstDash val="solid"/>
                      <a:round/>
                      <a:headEnd type="none" w="med" len="med"/>
                      <a:tailEnd type="none" w="med" len="med"/>
                    </a:lnL>
                    <a:lnR w="10160" cap="flat" cmpd="sng" algn="ctr">
                      <a:solidFill>
                        <a:srgbClr val="BFDBFE"/>
                      </a:solidFill>
                      <a:prstDash val="solid"/>
                      <a:round/>
                      <a:headEnd type="none" w="med" len="med"/>
                      <a:tailEnd type="none" w="med" len="med"/>
                    </a:lnR>
                    <a:lnT w="10160" cap="flat" cmpd="sng" algn="ctr">
                      <a:solidFill>
                        <a:srgbClr val="BFDBFE"/>
                      </a:solidFill>
                      <a:prstDash val="solid"/>
                      <a:round/>
                      <a:headEnd type="none" w="med" len="med"/>
                      <a:tailEnd type="none" w="med" len="med"/>
                    </a:lnT>
                    <a:lnB w="10160" cap="flat" cmpd="sng" algn="ctr">
                      <a:solidFill>
                        <a:srgbClr val="BFDBFE"/>
                      </a:solidFill>
                      <a:prstDash val="solid"/>
                      <a:round/>
                      <a:headEnd type="none" w="med" len="med"/>
                      <a:tailEnd type="none" w="med" len="med"/>
                    </a:lnB>
                  </a:tcPr>
                </a:tc>
                <a:tc>
                  <a:txBody>
                    <a:bodyPr/>
                    <a:lstStyle/>
                    <a:p>
                      <a:pPr marL="0" indent="0">
                        <a:buNone/>
                      </a:pPr>
                      <a:r>
                        <a:rPr lang="en-US" sz="1100" dirty="0">
                          <a:solidFill>
                            <a:srgbClr val="1E293B"/>
                          </a:solidFill>
                          <a:latin typeface="Times New Roman" panose="02020603050405020304" pitchFamily="18" charset="0"/>
                          <a:cs typeface="Times New Roman" panose="02020603050405020304" pitchFamily="18" charset="0"/>
                        </a:rPr>
                        <a:t>92.71%</a:t>
                      </a:r>
                      <a:endParaRPr lang="en-US" sz="1100" dirty="0">
                        <a:latin typeface="Times New Roman" panose="02020603050405020304" pitchFamily="18" charset="0"/>
                        <a:cs typeface="Times New Roman" panose="02020603050405020304" pitchFamily="18" charset="0"/>
                      </a:endParaRPr>
                    </a:p>
                  </a:txBody>
                  <a:tcPr>
                    <a:lnL w="10160" cap="flat" cmpd="sng" algn="ctr">
                      <a:solidFill>
                        <a:srgbClr val="BFDBFE"/>
                      </a:solidFill>
                      <a:prstDash val="solid"/>
                      <a:round/>
                      <a:headEnd type="none" w="med" len="med"/>
                      <a:tailEnd type="none" w="med" len="med"/>
                    </a:lnL>
                    <a:lnR w="10160" cap="flat" cmpd="sng" algn="ctr">
                      <a:solidFill>
                        <a:srgbClr val="BFDBFE"/>
                      </a:solidFill>
                      <a:prstDash val="solid"/>
                      <a:round/>
                      <a:headEnd type="none" w="med" len="med"/>
                      <a:tailEnd type="none" w="med" len="med"/>
                    </a:lnR>
                    <a:lnT w="10160" cap="flat" cmpd="sng" algn="ctr">
                      <a:solidFill>
                        <a:srgbClr val="BFDBFE"/>
                      </a:solidFill>
                      <a:prstDash val="solid"/>
                      <a:round/>
                      <a:headEnd type="none" w="med" len="med"/>
                      <a:tailEnd type="none" w="med" len="med"/>
                    </a:lnT>
                    <a:lnB w="10160" cap="flat" cmpd="sng" algn="ctr">
                      <a:solidFill>
                        <a:srgbClr val="BFDBFE"/>
                      </a:solidFill>
                      <a:prstDash val="solid"/>
                      <a:round/>
                      <a:headEnd type="none" w="med" len="med"/>
                      <a:tailEnd type="none" w="med" len="med"/>
                    </a:lnB>
                  </a:tcPr>
                </a:tc>
                <a:tc>
                  <a:txBody>
                    <a:bodyPr/>
                    <a:lstStyle/>
                    <a:p>
                      <a:pPr marL="0" indent="0">
                        <a:buNone/>
                      </a:pPr>
                      <a:r>
                        <a:rPr lang="en-US" sz="1100" dirty="0">
                          <a:solidFill>
                            <a:srgbClr val="1E293B"/>
                          </a:solidFill>
                          <a:latin typeface="Times New Roman" panose="02020603050405020304" pitchFamily="18" charset="0"/>
                          <a:cs typeface="Times New Roman" panose="02020603050405020304" pitchFamily="18" charset="0"/>
                        </a:rPr>
                        <a:t>0.95</a:t>
                      </a:r>
                      <a:endParaRPr lang="en-US" sz="1100" dirty="0">
                        <a:latin typeface="Times New Roman" panose="02020603050405020304" pitchFamily="18" charset="0"/>
                        <a:cs typeface="Times New Roman" panose="02020603050405020304" pitchFamily="18" charset="0"/>
                      </a:endParaRPr>
                    </a:p>
                  </a:txBody>
                  <a:tcPr>
                    <a:lnL w="10160" cap="flat" cmpd="sng" algn="ctr">
                      <a:solidFill>
                        <a:srgbClr val="BFDBFE"/>
                      </a:solidFill>
                      <a:prstDash val="solid"/>
                      <a:round/>
                      <a:headEnd type="none" w="med" len="med"/>
                      <a:tailEnd type="none" w="med" len="med"/>
                    </a:lnL>
                    <a:lnR w="10160" cap="flat" cmpd="sng" algn="ctr">
                      <a:solidFill>
                        <a:srgbClr val="BFDBFE"/>
                      </a:solidFill>
                      <a:prstDash val="solid"/>
                      <a:round/>
                      <a:headEnd type="none" w="med" len="med"/>
                      <a:tailEnd type="none" w="med" len="med"/>
                    </a:lnR>
                    <a:lnT w="10160" cap="flat" cmpd="sng" algn="ctr">
                      <a:solidFill>
                        <a:srgbClr val="BFDBFE"/>
                      </a:solidFill>
                      <a:prstDash val="solid"/>
                      <a:round/>
                      <a:headEnd type="none" w="med" len="med"/>
                      <a:tailEnd type="none" w="med" len="med"/>
                    </a:lnT>
                    <a:lnB w="10160" cap="flat" cmpd="sng" algn="ctr">
                      <a:solidFill>
                        <a:srgbClr val="BFDBFE"/>
                      </a:solidFill>
                      <a:prstDash val="solid"/>
                      <a:round/>
                      <a:headEnd type="none" w="med" len="med"/>
                      <a:tailEnd type="none" w="med" len="med"/>
                    </a:lnB>
                  </a:tcPr>
                </a:tc>
                <a:tc>
                  <a:txBody>
                    <a:bodyPr/>
                    <a:lstStyle/>
                    <a:p>
                      <a:pPr marL="0" indent="0">
                        <a:buNone/>
                      </a:pPr>
                      <a:r>
                        <a:rPr lang="en-US" sz="1100" dirty="0">
                          <a:solidFill>
                            <a:srgbClr val="1E293B"/>
                          </a:solidFill>
                          <a:latin typeface="Times New Roman" panose="02020603050405020304" pitchFamily="18" charset="0"/>
                          <a:cs typeface="Times New Roman" panose="02020603050405020304" pitchFamily="18" charset="0"/>
                        </a:rPr>
                        <a:t>0.90</a:t>
                      </a:r>
                      <a:endParaRPr lang="en-US" sz="1100" dirty="0">
                        <a:latin typeface="Times New Roman" panose="02020603050405020304" pitchFamily="18" charset="0"/>
                        <a:cs typeface="Times New Roman" panose="02020603050405020304" pitchFamily="18" charset="0"/>
                      </a:endParaRPr>
                    </a:p>
                  </a:txBody>
                  <a:tcPr>
                    <a:lnL w="10160" cap="flat" cmpd="sng" algn="ctr">
                      <a:solidFill>
                        <a:srgbClr val="BFDBFE"/>
                      </a:solidFill>
                      <a:prstDash val="solid"/>
                      <a:round/>
                      <a:headEnd type="none" w="med" len="med"/>
                      <a:tailEnd type="none" w="med" len="med"/>
                    </a:lnL>
                    <a:lnR w="10160" cap="flat" cmpd="sng" algn="ctr">
                      <a:solidFill>
                        <a:srgbClr val="BFDBFE"/>
                      </a:solidFill>
                      <a:prstDash val="solid"/>
                      <a:round/>
                      <a:headEnd type="none" w="med" len="med"/>
                      <a:tailEnd type="none" w="med" len="med"/>
                    </a:lnR>
                    <a:lnT w="10160" cap="flat" cmpd="sng" algn="ctr">
                      <a:solidFill>
                        <a:srgbClr val="BFDBFE"/>
                      </a:solidFill>
                      <a:prstDash val="solid"/>
                      <a:round/>
                      <a:headEnd type="none" w="med" len="med"/>
                      <a:tailEnd type="none" w="med" len="med"/>
                    </a:lnT>
                    <a:lnB w="10160" cap="flat" cmpd="sng" algn="ctr">
                      <a:solidFill>
                        <a:srgbClr val="BFDBFE"/>
                      </a:solidFill>
                      <a:prstDash val="solid"/>
                      <a:round/>
                      <a:headEnd type="none" w="med" len="med"/>
                      <a:tailEnd type="none" w="med" len="med"/>
                    </a:lnB>
                  </a:tcPr>
                </a:tc>
                <a:tc>
                  <a:txBody>
                    <a:bodyPr/>
                    <a:lstStyle/>
                    <a:p>
                      <a:pPr marL="0" indent="0">
                        <a:buNone/>
                      </a:pPr>
                      <a:r>
                        <a:rPr lang="en-US" sz="1100" dirty="0">
                          <a:solidFill>
                            <a:srgbClr val="1E293B"/>
                          </a:solidFill>
                          <a:latin typeface="Times New Roman" panose="02020603050405020304" pitchFamily="18" charset="0"/>
                          <a:cs typeface="Times New Roman" panose="02020603050405020304" pitchFamily="18" charset="0"/>
                        </a:rPr>
                        <a:t>0.91</a:t>
                      </a:r>
                      <a:endParaRPr lang="en-US" sz="1100" dirty="0">
                        <a:latin typeface="Times New Roman" panose="02020603050405020304" pitchFamily="18" charset="0"/>
                        <a:cs typeface="Times New Roman" panose="02020603050405020304" pitchFamily="18" charset="0"/>
                      </a:endParaRPr>
                    </a:p>
                  </a:txBody>
                  <a:tcPr>
                    <a:lnL w="10160" cap="flat" cmpd="sng" algn="ctr">
                      <a:solidFill>
                        <a:srgbClr val="BFDBFE"/>
                      </a:solidFill>
                      <a:prstDash val="solid"/>
                      <a:round/>
                      <a:headEnd type="none" w="med" len="med"/>
                      <a:tailEnd type="none" w="med" len="med"/>
                    </a:lnL>
                    <a:lnR w="10160" cap="flat" cmpd="sng" algn="ctr">
                      <a:solidFill>
                        <a:srgbClr val="BFDBFE"/>
                      </a:solidFill>
                      <a:prstDash val="solid"/>
                      <a:round/>
                      <a:headEnd type="none" w="med" len="med"/>
                      <a:tailEnd type="none" w="med" len="med"/>
                    </a:lnR>
                    <a:lnT w="10160" cap="flat" cmpd="sng" algn="ctr">
                      <a:solidFill>
                        <a:srgbClr val="BFDBFE"/>
                      </a:solidFill>
                      <a:prstDash val="solid"/>
                      <a:round/>
                      <a:headEnd type="none" w="med" len="med"/>
                      <a:tailEnd type="none" w="med" len="med"/>
                    </a:lnT>
                    <a:lnB w="10160" cap="flat" cmpd="sng" algn="ctr">
                      <a:solidFill>
                        <a:srgbClr val="BFDBFE"/>
                      </a:solidFill>
                      <a:prstDash val="solid"/>
                      <a:round/>
                      <a:headEnd type="none" w="med" len="med"/>
                      <a:tailEnd type="none" w="med" len="med"/>
                    </a:lnB>
                  </a:tcPr>
                </a:tc>
                <a:tc>
                  <a:txBody>
                    <a:bodyPr/>
                    <a:lstStyle/>
                    <a:p>
                      <a:pPr marL="0" indent="0">
                        <a:buNone/>
                      </a:pPr>
                      <a:r>
                        <a:rPr lang="en-US" sz="1100" dirty="0">
                          <a:solidFill>
                            <a:srgbClr val="1E293B"/>
                          </a:solidFill>
                          <a:latin typeface="Times New Roman" panose="02020603050405020304" pitchFamily="18" charset="0"/>
                          <a:cs typeface="Times New Roman" panose="02020603050405020304" pitchFamily="18" charset="0"/>
                        </a:rPr>
                        <a:t>0.95</a:t>
                      </a:r>
                      <a:endParaRPr lang="en-US" sz="1100" dirty="0">
                        <a:latin typeface="Times New Roman" panose="02020603050405020304" pitchFamily="18" charset="0"/>
                        <a:cs typeface="Times New Roman" panose="02020603050405020304" pitchFamily="18" charset="0"/>
                      </a:endParaRPr>
                    </a:p>
                  </a:txBody>
                  <a:tcPr>
                    <a:lnL w="10160" cap="flat" cmpd="sng" algn="ctr">
                      <a:solidFill>
                        <a:srgbClr val="BFDBFE"/>
                      </a:solidFill>
                      <a:prstDash val="solid"/>
                      <a:round/>
                      <a:headEnd type="none" w="med" len="med"/>
                      <a:tailEnd type="none" w="med" len="med"/>
                    </a:lnL>
                    <a:lnR w="10160" cap="flat" cmpd="sng" algn="ctr">
                      <a:solidFill>
                        <a:srgbClr val="BFDBFE"/>
                      </a:solidFill>
                      <a:prstDash val="solid"/>
                      <a:round/>
                      <a:headEnd type="none" w="med" len="med"/>
                      <a:tailEnd type="none" w="med" len="med"/>
                    </a:lnR>
                    <a:lnT w="10160" cap="flat" cmpd="sng" algn="ctr">
                      <a:solidFill>
                        <a:srgbClr val="BFDBFE"/>
                      </a:solidFill>
                      <a:prstDash val="solid"/>
                      <a:round/>
                      <a:headEnd type="none" w="med" len="med"/>
                      <a:tailEnd type="none" w="med" len="med"/>
                    </a:lnT>
                    <a:lnB w="10160" cap="flat" cmpd="sng" algn="ctr">
                      <a:solidFill>
                        <a:srgbClr val="BFDBFE"/>
                      </a:solidFill>
                      <a:prstDash val="solid"/>
                      <a:round/>
                      <a:headEnd type="none" w="med" len="med"/>
                      <a:tailEnd type="none" w="med" len="med"/>
                    </a:lnB>
                  </a:tcPr>
                </a:tc>
                <a:tc>
                  <a:txBody>
                    <a:bodyPr/>
                    <a:lstStyle/>
                    <a:p>
                      <a:pPr marL="0" indent="0">
                        <a:buNone/>
                      </a:pPr>
                      <a:r>
                        <a:rPr lang="en-US" sz="1100" dirty="0">
                          <a:solidFill>
                            <a:srgbClr val="1E293B"/>
                          </a:solidFill>
                          <a:latin typeface="Times New Roman" panose="02020603050405020304" pitchFamily="18" charset="0"/>
                          <a:cs typeface="Times New Roman" panose="02020603050405020304" pitchFamily="18" charset="0"/>
                        </a:rPr>
                        <a:t>0.93</a:t>
                      </a:r>
                      <a:endParaRPr lang="en-US" sz="1100" dirty="0">
                        <a:latin typeface="Times New Roman" panose="02020603050405020304" pitchFamily="18" charset="0"/>
                        <a:cs typeface="Times New Roman" panose="02020603050405020304" pitchFamily="18" charset="0"/>
                      </a:endParaRPr>
                    </a:p>
                  </a:txBody>
                  <a:tcPr>
                    <a:lnL w="10160" cap="flat" cmpd="sng" algn="ctr">
                      <a:solidFill>
                        <a:srgbClr val="BFDBFE"/>
                      </a:solidFill>
                      <a:prstDash val="solid"/>
                      <a:round/>
                      <a:headEnd type="none" w="med" len="med"/>
                      <a:tailEnd type="none" w="med" len="med"/>
                    </a:lnL>
                    <a:lnR w="10160" cap="flat" cmpd="sng" algn="ctr">
                      <a:solidFill>
                        <a:srgbClr val="BFDBFE"/>
                      </a:solidFill>
                      <a:prstDash val="solid"/>
                      <a:round/>
                      <a:headEnd type="none" w="med" len="med"/>
                      <a:tailEnd type="none" w="med" len="med"/>
                    </a:lnR>
                    <a:lnT w="10160" cap="flat" cmpd="sng" algn="ctr">
                      <a:solidFill>
                        <a:srgbClr val="BFDBFE"/>
                      </a:solidFill>
                      <a:prstDash val="solid"/>
                      <a:round/>
                      <a:headEnd type="none" w="med" len="med"/>
                      <a:tailEnd type="none" w="med" len="med"/>
                    </a:lnT>
                    <a:lnB w="10160" cap="flat" cmpd="sng" algn="ctr">
                      <a:solidFill>
                        <a:srgbClr val="BFDBFE"/>
                      </a:solidFill>
                      <a:prstDash val="solid"/>
                      <a:round/>
                      <a:headEnd type="none" w="med" len="med"/>
                      <a:tailEnd type="none" w="med" len="med"/>
                    </a:lnB>
                  </a:tcPr>
                </a:tc>
                <a:extLst>
                  <a:ext uri="{0D108BD9-81ED-4DB2-BD59-A6C34878D82A}">
                    <a16:rowId xmlns:a16="http://schemas.microsoft.com/office/drawing/2014/main" val="10002"/>
                  </a:ext>
                </a:extLst>
              </a:tr>
              <a:tr h="409766">
                <a:tc>
                  <a:txBody>
                    <a:bodyPr/>
                    <a:lstStyle/>
                    <a:p>
                      <a:pPr marL="0" indent="0">
                        <a:buNone/>
                      </a:pPr>
                      <a:r>
                        <a:rPr lang="en-US" sz="1100" dirty="0">
                          <a:solidFill>
                            <a:srgbClr val="1E293B"/>
                          </a:solidFill>
                          <a:latin typeface="Times New Roman" panose="02020603050405020304" pitchFamily="18" charset="0"/>
                          <a:cs typeface="Times New Roman" panose="02020603050405020304" pitchFamily="18" charset="0"/>
                        </a:rPr>
                        <a:t>ResNet18</a:t>
                      </a:r>
                      <a:endParaRPr lang="en-US" sz="1100" dirty="0">
                        <a:latin typeface="Times New Roman" panose="02020603050405020304" pitchFamily="18" charset="0"/>
                        <a:cs typeface="Times New Roman" panose="02020603050405020304" pitchFamily="18" charset="0"/>
                      </a:endParaRPr>
                    </a:p>
                  </a:txBody>
                  <a:tcPr>
                    <a:lnL w="10160" cap="flat" cmpd="sng" algn="ctr">
                      <a:solidFill>
                        <a:srgbClr val="BFDBFE"/>
                      </a:solidFill>
                      <a:prstDash val="solid"/>
                      <a:round/>
                      <a:headEnd type="none" w="med" len="med"/>
                      <a:tailEnd type="none" w="med" len="med"/>
                    </a:lnL>
                    <a:lnR w="10160" cap="flat" cmpd="sng" algn="ctr">
                      <a:solidFill>
                        <a:srgbClr val="BFDBFE"/>
                      </a:solidFill>
                      <a:prstDash val="solid"/>
                      <a:round/>
                      <a:headEnd type="none" w="med" len="med"/>
                      <a:tailEnd type="none" w="med" len="med"/>
                    </a:lnR>
                    <a:lnT w="10160" cap="flat" cmpd="sng" algn="ctr">
                      <a:solidFill>
                        <a:srgbClr val="BFDBFE"/>
                      </a:solidFill>
                      <a:prstDash val="solid"/>
                      <a:round/>
                      <a:headEnd type="none" w="med" len="med"/>
                      <a:tailEnd type="none" w="med" len="med"/>
                    </a:lnT>
                    <a:lnB w="10160" cap="flat" cmpd="sng" algn="ctr">
                      <a:solidFill>
                        <a:srgbClr val="BFDBFE"/>
                      </a:solidFill>
                      <a:prstDash val="solid"/>
                      <a:round/>
                      <a:headEnd type="none" w="med" len="med"/>
                      <a:tailEnd type="none" w="med" len="med"/>
                    </a:lnB>
                  </a:tcPr>
                </a:tc>
                <a:tc>
                  <a:txBody>
                    <a:bodyPr/>
                    <a:lstStyle/>
                    <a:p>
                      <a:pPr marL="0" indent="0">
                        <a:buNone/>
                      </a:pPr>
                      <a:r>
                        <a:rPr lang="en-US" sz="1100" dirty="0">
                          <a:solidFill>
                            <a:srgbClr val="1E293B"/>
                          </a:solidFill>
                          <a:latin typeface="Times New Roman" panose="02020603050405020304" pitchFamily="18" charset="0"/>
                          <a:cs typeface="Times New Roman" panose="02020603050405020304" pitchFamily="18" charset="0"/>
                        </a:rPr>
                        <a:t>90.49%</a:t>
                      </a:r>
                      <a:endParaRPr lang="en-US" sz="1100" dirty="0">
                        <a:latin typeface="Times New Roman" panose="02020603050405020304" pitchFamily="18" charset="0"/>
                        <a:cs typeface="Times New Roman" panose="02020603050405020304" pitchFamily="18" charset="0"/>
                      </a:endParaRPr>
                    </a:p>
                  </a:txBody>
                  <a:tcPr>
                    <a:lnL w="10160" cap="flat" cmpd="sng" algn="ctr">
                      <a:solidFill>
                        <a:srgbClr val="BFDBFE"/>
                      </a:solidFill>
                      <a:prstDash val="solid"/>
                      <a:round/>
                      <a:headEnd type="none" w="med" len="med"/>
                      <a:tailEnd type="none" w="med" len="med"/>
                    </a:lnL>
                    <a:lnR w="10160" cap="flat" cmpd="sng" algn="ctr">
                      <a:solidFill>
                        <a:srgbClr val="BFDBFE"/>
                      </a:solidFill>
                      <a:prstDash val="solid"/>
                      <a:round/>
                      <a:headEnd type="none" w="med" len="med"/>
                      <a:tailEnd type="none" w="med" len="med"/>
                    </a:lnR>
                    <a:lnT w="10160" cap="flat" cmpd="sng" algn="ctr">
                      <a:solidFill>
                        <a:srgbClr val="BFDBFE"/>
                      </a:solidFill>
                      <a:prstDash val="solid"/>
                      <a:round/>
                      <a:headEnd type="none" w="med" len="med"/>
                      <a:tailEnd type="none" w="med" len="med"/>
                    </a:lnT>
                    <a:lnB w="10160" cap="flat" cmpd="sng" algn="ctr">
                      <a:solidFill>
                        <a:srgbClr val="BFDBFE"/>
                      </a:solidFill>
                      <a:prstDash val="solid"/>
                      <a:round/>
                      <a:headEnd type="none" w="med" len="med"/>
                      <a:tailEnd type="none" w="med" len="med"/>
                    </a:lnB>
                  </a:tcPr>
                </a:tc>
                <a:tc>
                  <a:txBody>
                    <a:bodyPr/>
                    <a:lstStyle/>
                    <a:p>
                      <a:pPr marL="0" indent="0">
                        <a:buNone/>
                      </a:pPr>
                      <a:r>
                        <a:rPr lang="en-US" sz="1100" dirty="0">
                          <a:solidFill>
                            <a:srgbClr val="1E293B"/>
                          </a:solidFill>
                          <a:latin typeface="Times New Roman" panose="02020603050405020304" pitchFamily="18" charset="0"/>
                          <a:cs typeface="Times New Roman" panose="02020603050405020304" pitchFamily="18" charset="0"/>
                        </a:rPr>
                        <a:t>0.92</a:t>
                      </a:r>
                      <a:endParaRPr lang="en-US" sz="1100" dirty="0">
                        <a:latin typeface="Times New Roman" panose="02020603050405020304" pitchFamily="18" charset="0"/>
                        <a:cs typeface="Times New Roman" panose="02020603050405020304" pitchFamily="18" charset="0"/>
                      </a:endParaRPr>
                    </a:p>
                  </a:txBody>
                  <a:tcPr>
                    <a:lnL w="10160" cap="flat" cmpd="sng" algn="ctr">
                      <a:solidFill>
                        <a:srgbClr val="BFDBFE"/>
                      </a:solidFill>
                      <a:prstDash val="solid"/>
                      <a:round/>
                      <a:headEnd type="none" w="med" len="med"/>
                      <a:tailEnd type="none" w="med" len="med"/>
                    </a:lnL>
                    <a:lnR w="10160" cap="flat" cmpd="sng" algn="ctr">
                      <a:solidFill>
                        <a:srgbClr val="BFDBFE"/>
                      </a:solidFill>
                      <a:prstDash val="solid"/>
                      <a:round/>
                      <a:headEnd type="none" w="med" len="med"/>
                      <a:tailEnd type="none" w="med" len="med"/>
                    </a:lnR>
                    <a:lnT w="10160" cap="flat" cmpd="sng" algn="ctr">
                      <a:solidFill>
                        <a:srgbClr val="BFDBFE"/>
                      </a:solidFill>
                      <a:prstDash val="solid"/>
                      <a:round/>
                      <a:headEnd type="none" w="med" len="med"/>
                      <a:tailEnd type="none" w="med" len="med"/>
                    </a:lnT>
                    <a:lnB w="10160" cap="flat" cmpd="sng" algn="ctr">
                      <a:solidFill>
                        <a:srgbClr val="BFDBFE"/>
                      </a:solidFill>
                      <a:prstDash val="solid"/>
                      <a:round/>
                      <a:headEnd type="none" w="med" len="med"/>
                      <a:tailEnd type="none" w="med" len="med"/>
                    </a:lnB>
                  </a:tcPr>
                </a:tc>
                <a:tc>
                  <a:txBody>
                    <a:bodyPr/>
                    <a:lstStyle/>
                    <a:p>
                      <a:pPr marL="0" indent="0">
                        <a:buNone/>
                      </a:pPr>
                      <a:r>
                        <a:rPr lang="en-US" sz="1100" dirty="0">
                          <a:solidFill>
                            <a:srgbClr val="1E293B"/>
                          </a:solidFill>
                          <a:latin typeface="Times New Roman" panose="02020603050405020304" pitchFamily="18" charset="0"/>
                          <a:cs typeface="Times New Roman" panose="02020603050405020304" pitchFamily="18" charset="0"/>
                        </a:rPr>
                        <a:t>0.89</a:t>
                      </a:r>
                      <a:endParaRPr lang="en-US" sz="1100" dirty="0">
                        <a:latin typeface="Times New Roman" panose="02020603050405020304" pitchFamily="18" charset="0"/>
                        <a:cs typeface="Times New Roman" panose="02020603050405020304" pitchFamily="18" charset="0"/>
                      </a:endParaRPr>
                    </a:p>
                  </a:txBody>
                  <a:tcPr>
                    <a:lnL w="10160" cap="flat" cmpd="sng" algn="ctr">
                      <a:solidFill>
                        <a:srgbClr val="BFDBFE"/>
                      </a:solidFill>
                      <a:prstDash val="solid"/>
                      <a:round/>
                      <a:headEnd type="none" w="med" len="med"/>
                      <a:tailEnd type="none" w="med" len="med"/>
                    </a:lnL>
                    <a:lnR w="10160" cap="flat" cmpd="sng" algn="ctr">
                      <a:solidFill>
                        <a:srgbClr val="BFDBFE"/>
                      </a:solidFill>
                      <a:prstDash val="solid"/>
                      <a:round/>
                      <a:headEnd type="none" w="med" len="med"/>
                      <a:tailEnd type="none" w="med" len="med"/>
                    </a:lnR>
                    <a:lnT w="10160" cap="flat" cmpd="sng" algn="ctr">
                      <a:solidFill>
                        <a:srgbClr val="BFDBFE"/>
                      </a:solidFill>
                      <a:prstDash val="solid"/>
                      <a:round/>
                      <a:headEnd type="none" w="med" len="med"/>
                      <a:tailEnd type="none" w="med" len="med"/>
                    </a:lnT>
                    <a:lnB w="10160" cap="flat" cmpd="sng" algn="ctr">
                      <a:solidFill>
                        <a:srgbClr val="BFDBFE"/>
                      </a:solidFill>
                      <a:prstDash val="solid"/>
                      <a:round/>
                      <a:headEnd type="none" w="med" len="med"/>
                      <a:tailEnd type="none" w="med" len="med"/>
                    </a:lnB>
                  </a:tcPr>
                </a:tc>
                <a:tc>
                  <a:txBody>
                    <a:bodyPr/>
                    <a:lstStyle/>
                    <a:p>
                      <a:pPr marL="0" indent="0">
                        <a:buNone/>
                      </a:pPr>
                      <a:r>
                        <a:rPr lang="en-US" sz="1100" dirty="0">
                          <a:solidFill>
                            <a:srgbClr val="1E293B"/>
                          </a:solidFill>
                          <a:latin typeface="Times New Roman" panose="02020603050405020304" pitchFamily="18" charset="0"/>
                          <a:cs typeface="Times New Roman" panose="02020603050405020304" pitchFamily="18" charset="0"/>
                        </a:rPr>
                        <a:t>0.89</a:t>
                      </a:r>
                      <a:endParaRPr lang="en-US" sz="1100" dirty="0">
                        <a:latin typeface="Times New Roman" panose="02020603050405020304" pitchFamily="18" charset="0"/>
                        <a:cs typeface="Times New Roman" panose="02020603050405020304" pitchFamily="18" charset="0"/>
                      </a:endParaRPr>
                    </a:p>
                  </a:txBody>
                  <a:tcPr>
                    <a:lnL w="10160" cap="flat" cmpd="sng" algn="ctr">
                      <a:solidFill>
                        <a:srgbClr val="BFDBFE"/>
                      </a:solidFill>
                      <a:prstDash val="solid"/>
                      <a:round/>
                      <a:headEnd type="none" w="med" len="med"/>
                      <a:tailEnd type="none" w="med" len="med"/>
                    </a:lnL>
                    <a:lnR w="10160" cap="flat" cmpd="sng" algn="ctr">
                      <a:solidFill>
                        <a:srgbClr val="BFDBFE"/>
                      </a:solidFill>
                      <a:prstDash val="solid"/>
                      <a:round/>
                      <a:headEnd type="none" w="med" len="med"/>
                      <a:tailEnd type="none" w="med" len="med"/>
                    </a:lnR>
                    <a:lnT w="10160" cap="flat" cmpd="sng" algn="ctr">
                      <a:solidFill>
                        <a:srgbClr val="BFDBFE"/>
                      </a:solidFill>
                      <a:prstDash val="solid"/>
                      <a:round/>
                      <a:headEnd type="none" w="med" len="med"/>
                      <a:tailEnd type="none" w="med" len="med"/>
                    </a:lnT>
                    <a:lnB w="10160" cap="flat" cmpd="sng" algn="ctr">
                      <a:solidFill>
                        <a:srgbClr val="BFDBFE"/>
                      </a:solidFill>
                      <a:prstDash val="solid"/>
                      <a:round/>
                      <a:headEnd type="none" w="med" len="med"/>
                      <a:tailEnd type="none" w="med" len="med"/>
                    </a:lnB>
                  </a:tcPr>
                </a:tc>
                <a:tc>
                  <a:txBody>
                    <a:bodyPr/>
                    <a:lstStyle/>
                    <a:p>
                      <a:pPr marL="0" indent="0">
                        <a:buNone/>
                      </a:pPr>
                      <a:r>
                        <a:rPr lang="en-US" sz="1100" dirty="0">
                          <a:solidFill>
                            <a:srgbClr val="1E293B"/>
                          </a:solidFill>
                          <a:latin typeface="Times New Roman" panose="02020603050405020304" pitchFamily="18" charset="0"/>
                          <a:cs typeface="Times New Roman" panose="02020603050405020304" pitchFamily="18" charset="0"/>
                        </a:rPr>
                        <a:t>0.92</a:t>
                      </a:r>
                      <a:endParaRPr lang="en-US" sz="1100" dirty="0">
                        <a:latin typeface="Times New Roman" panose="02020603050405020304" pitchFamily="18" charset="0"/>
                        <a:cs typeface="Times New Roman" panose="02020603050405020304" pitchFamily="18" charset="0"/>
                      </a:endParaRPr>
                    </a:p>
                  </a:txBody>
                  <a:tcPr>
                    <a:lnL w="10160" cap="flat" cmpd="sng" algn="ctr">
                      <a:solidFill>
                        <a:srgbClr val="BFDBFE"/>
                      </a:solidFill>
                      <a:prstDash val="solid"/>
                      <a:round/>
                      <a:headEnd type="none" w="med" len="med"/>
                      <a:tailEnd type="none" w="med" len="med"/>
                    </a:lnL>
                    <a:lnR w="10160" cap="flat" cmpd="sng" algn="ctr">
                      <a:solidFill>
                        <a:srgbClr val="BFDBFE"/>
                      </a:solidFill>
                      <a:prstDash val="solid"/>
                      <a:round/>
                      <a:headEnd type="none" w="med" len="med"/>
                      <a:tailEnd type="none" w="med" len="med"/>
                    </a:lnR>
                    <a:lnT w="10160" cap="flat" cmpd="sng" algn="ctr">
                      <a:solidFill>
                        <a:srgbClr val="BFDBFE"/>
                      </a:solidFill>
                      <a:prstDash val="solid"/>
                      <a:round/>
                      <a:headEnd type="none" w="med" len="med"/>
                      <a:tailEnd type="none" w="med" len="med"/>
                    </a:lnT>
                    <a:lnB w="10160" cap="flat" cmpd="sng" algn="ctr">
                      <a:solidFill>
                        <a:srgbClr val="BFDBFE"/>
                      </a:solidFill>
                      <a:prstDash val="solid"/>
                      <a:round/>
                      <a:headEnd type="none" w="med" len="med"/>
                      <a:tailEnd type="none" w="med" len="med"/>
                    </a:lnB>
                  </a:tcPr>
                </a:tc>
                <a:tc>
                  <a:txBody>
                    <a:bodyPr/>
                    <a:lstStyle/>
                    <a:p>
                      <a:pPr marL="0" indent="0">
                        <a:buNone/>
                      </a:pPr>
                      <a:r>
                        <a:rPr lang="en-US" sz="1100" dirty="0">
                          <a:solidFill>
                            <a:srgbClr val="1E293B"/>
                          </a:solidFill>
                          <a:latin typeface="Times New Roman" panose="02020603050405020304" pitchFamily="18" charset="0"/>
                          <a:cs typeface="Times New Roman" panose="02020603050405020304" pitchFamily="18" charset="0"/>
                        </a:rPr>
                        <a:t>0.90</a:t>
                      </a:r>
                      <a:endParaRPr lang="en-US" sz="1100" dirty="0">
                        <a:latin typeface="Times New Roman" panose="02020603050405020304" pitchFamily="18" charset="0"/>
                        <a:cs typeface="Times New Roman" panose="02020603050405020304" pitchFamily="18" charset="0"/>
                      </a:endParaRPr>
                    </a:p>
                  </a:txBody>
                  <a:tcPr>
                    <a:lnL w="10160" cap="flat" cmpd="sng" algn="ctr">
                      <a:solidFill>
                        <a:srgbClr val="BFDBFE"/>
                      </a:solidFill>
                      <a:prstDash val="solid"/>
                      <a:round/>
                      <a:headEnd type="none" w="med" len="med"/>
                      <a:tailEnd type="none" w="med" len="med"/>
                    </a:lnL>
                    <a:lnR w="10160" cap="flat" cmpd="sng" algn="ctr">
                      <a:solidFill>
                        <a:srgbClr val="BFDBFE"/>
                      </a:solidFill>
                      <a:prstDash val="solid"/>
                      <a:round/>
                      <a:headEnd type="none" w="med" len="med"/>
                      <a:tailEnd type="none" w="med" len="med"/>
                    </a:lnR>
                    <a:lnT w="10160" cap="flat" cmpd="sng" algn="ctr">
                      <a:solidFill>
                        <a:srgbClr val="BFDBFE"/>
                      </a:solidFill>
                      <a:prstDash val="solid"/>
                      <a:round/>
                      <a:headEnd type="none" w="med" len="med"/>
                      <a:tailEnd type="none" w="med" len="med"/>
                    </a:lnT>
                    <a:lnB w="10160" cap="flat" cmpd="sng" algn="ctr">
                      <a:solidFill>
                        <a:srgbClr val="BFDBFE"/>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10" name="Text 17"/>
          <p:cNvSpPr/>
          <p:nvPr/>
        </p:nvSpPr>
        <p:spPr>
          <a:xfrm>
            <a:off x="8147304" y="2944368"/>
            <a:ext cx="1115568" cy="502920"/>
          </a:xfrm>
          <a:prstGeom prst="rect">
            <a:avLst/>
          </a:prstGeom>
          <a:noFill/>
          <a:ln/>
        </p:spPr>
        <p:txBody>
          <a:bodyPr wrap="square" lIns="0" tIns="0" rIns="0" bIns="0" rtlCol="0" anchor="b"/>
          <a:lstStyle/>
          <a:p>
            <a:pPr marL="0" indent="0" algn="ctr">
              <a:buNone/>
            </a:pPr>
            <a:r>
              <a:rPr lang="en-US" sz="1800" b="1" dirty="0">
                <a:solidFill>
                  <a:srgbClr val="FFFFFF"/>
                </a:solidFill>
                <a:latin typeface="Times New Roman" panose="02020603050405020304" pitchFamily="18" charset="0"/>
                <a:cs typeface="Times New Roman" panose="02020603050405020304" pitchFamily="18" charset="0"/>
              </a:rPr>
              <a:t>100%</a:t>
            </a:r>
            <a:endParaRPr lang="en-US" sz="1800" dirty="0">
              <a:latin typeface="Times New Roman" panose="02020603050405020304" pitchFamily="18" charset="0"/>
              <a:cs typeface="Times New Roman" panose="02020603050405020304" pitchFamily="18" charset="0"/>
            </a:endParaRPr>
          </a:p>
        </p:txBody>
      </p:sp>
      <p:pic>
        <p:nvPicPr>
          <p:cNvPr id="24" name="Picture 23">
            <a:extLst>
              <a:ext uri="{FF2B5EF4-FFF2-40B4-BE49-F238E27FC236}">
                <a16:creationId xmlns:a16="http://schemas.microsoft.com/office/drawing/2014/main" id="{4668D810-7A19-A326-8B09-F2E77F8BB7E7}"/>
              </a:ext>
            </a:extLst>
          </p:cNvPr>
          <p:cNvPicPr>
            <a:picLocks noChangeAspect="1"/>
          </p:cNvPicPr>
          <p:nvPr/>
        </p:nvPicPr>
        <p:blipFill>
          <a:blip r:embed="rId3"/>
          <a:stretch>
            <a:fillRect/>
          </a:stretch>
        </p:blipFill>
        <p:spPr>
          <a:xfrm>
            <a:off x="411480" y="2839322"/>
            <a:ext cx="4220308" cy="2023429"/>
          </a:xfrm>
          <a:prstGeom prst="rect">
            <a:avLst/>
          </a:prstGeom>
        </p:spPr>
      </p:pic>
      <p:pic>
        <p:nvPicPr>
          <p:cNvPr id="26" name="Picture 25">
            <a:extLst>
              <a:ext uri="{FF2B5EF4-FFF2-40B4-BE49-F238E27FC236}">
                <a16:creationId xmlns:a16="http://schemas.microsoft.com/office/drawing/2014/main" id="{3C265963-467F-BB4B-518D-DF890D1B550C}"/>
              </a:ext>
            </a:extLst>
          </p:cNvPr>
          <p:cNvPicPr>
            <a:picLocks noChangeAspect="1"/>
          </p:cNvPicPr>
          <p:nvPr/>
        </p:nvPicPr>
        <p:blipFill>
          <a:blip r:embed="rId4"/>
          <a:stretch>
            <a:fillRect/>
          </a:stretch>
        </p:blipFill>
        <p:spPr>
          <a:xfrm>
            <a:off x="4844210" y="2839322"/>
            <a:ext cx="3668854" cy="2023429"/>
          </a:xfrm>
          <a:prstGeom prst="rect">
            <a:avLst/>
          </a:prstGeom>
        </p:spPr>
      </p:pic>
      <p:sp>
        <p:nvSpPr>
          <p:cNvPr id="27" name="Shape 6">
            <a:extLst>
              <a:ext uri="{FF2B5EF4-FFF2-40B4-BE49-F238E27FC236}">
                <a16:creationId xmlns:a16="http://schemas.microsoft.com/office/drawing/2014/main" id="{45DD0B30-6792-A84E-47F2-62639FC61786}"/>
              </a:ext>
            </a:extLst>
          </p:cNvPr>
          <p:cNvSpPr/>
          <p:nvPr/>
        </p:nvSpPr>
        <p:spPr>
          <a:xfrm>
            <a:off x="384048" y="2694107"/>
            <a:ext cx="8321040" cy="22860"/>
          </a:xfrm>
          <a:prstGeom prst="rect">
            <a:avLst/>
          </a:prstGeom>
          <a:solidFill>
            <a:srgbClr val="0056B3"/>
          </a:solidFill>
          <a:ln w="12700">
            <a:solidFill>
              <a:srgbClr val="0056B3"/>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9E536453-BB69-BBFB-1727-9163FB9B0FB7}"/>
              </a:ext>
            </a:extLst>
          </p:cNvPr>
          <p:cNvSpPr/>
          <p:nvPr/>
        </p:nvSpPr>
        <p:spPr>
          <a:xfrm>
            <a:off x="0" y="0"/>
            <a:ext cx="9144000" cy="256032"/>
          </a:xfrm>
          <a:prstGeom prst="rect">
            <a:avLst/>
          </a:prstGeom>
          <a:solidFill>
            <a:srgbClr val="1F3864"/>
          </a:solidFill>
          <a:ln w="12700">
            <a:solidFill>
              <a:srgbClr val="1F3864"/>
            </a:solidFill>
            <a:prstDash val="solid"/>
          </a:ln>
        </p:spPr>
        <p:txBody>
          <a:bodyPr/>
          <a:lstStyle/>
          <a:p>
            <a:endParaRPr lang="en-US" dirty="0"/>
          </a:p>
        </p:txBody>
      </p:sp>
      <p:sp>
        <p:nvSpPr>
          <p:cNvPr id="3" name="Text 1">
            <a:extLst>
              <a:ext uri="{FF2B5EF4-FFF2-40B4-BE49-F238E27FC236}">
                <a16:creationId xmlns:a16="http://schemas.microsoft.com/office/drawing/2014/main" id="{E3F67EAC-56F0-4BF6-77E9-9D0035952B46}"/>
              </a:ext>
            </a:extLst>
          </p:cNvPr>
          <p:cNvSpPr/>
          <p:nvPr/>
        </p:nvSpPr>
        <p:spPr>
          <a:xfrm>
            <a:off x="274320" y="0"/>
            <a:ext cx="7132320" cy="256032"/>
          </a:xfrm>
          <a:prstGeom prst="rect">
            <a:avLst/>
          </a:prstGeom>
          <a:noFill/>
          <a:ln/>
        </p:spPr>
        <p:txBody>
          <a:bodyPr wrap="square" lIns="0" tIns="0" rIns="0" bIns="0" rtlCol="0" anchor="ctr"/>
          <a:lstStyle/>
          <a:p>
            <a:pPr marL="0" indent="0">
              <a:buNone/>
            </a:pPr>
            <a:r>
              <a:rPr lang="en-US" sz="850" dirty="0">
                <a:solidFill>
                  <a:srgbClr val="FFFFFF"/>
                </a:solidFill>
              </a:rPr>
              <a:t>Deepfake Image Detection System  |  TM471B — May 2026</a:t>
            </a:r>
            <a:endParaRPr lang="en-US" sz="850" dirty="0"/>
          </a:p>
        </p:txBody>
      </p:sp>
      <p:sp>
        <p:nvSpPr>
          <p:cNvPr id="9" name="Shape 2">
            <a:extLst>
              <a:ext uri="{FF2B5EF4-FFF2-40B4-BE49-F238E27FC236}">
                <a16:creationId xmlns:a16="http://schemas.microsoft.com/office/drawing/2014/main" id="{7B45FA73-EB8A-74C0-EA93-189D57D76229}"/>
              </a:ext>
            </a:extLst>
          </p:cNvPr>
          <p:cNvSpPr/>
          <p:nvPr/>
        </p:nvSpPr>
        <p:spPr>
          <a:xfrm>
            <a:off x="8138160" y="27432"/>
            <a:ext cx="749808" cy="201168"/>
          </a:xfrm>
          <a:prstGeom prst="rect">
            <a:avLst/>
          </a:prstGeom>
          <a:solidFill>
            <a:srgbClr val="1A4F9E"/>
          </a:solidFill>
          <a:ln w="12700">
            <a:solidFill>
              <a:srgbClr val="FFFFFF"/>
            </a:solidFill>
            <a:prstDash val="solid"/>
          </a:ln>
        </p:spPr>
        <p:txBody>
          <a:bodyPr/>
          <a:lstStyle/>
          <a:p>
            <a:endParaRPr lang="en-US"/>
          </a:p>
        </p:txBody>
      </p:sp>
      <p:sp>
        <p:nvSpPr>
          <p:cNvPr id="10" name="Text 3">
            <a:extLst>
              <a:ext uri="{FF2B5EF4-FFF2-40B4-BE49-F238E27FC236}">
                <a16:creationId xmlns:a16="http://schemas.microsoft.com/office/drawing/2014/main" id="{621859F9-6E3A-9A89-D94F-6B15F006866E}"/>
              </a:ext>
            </a:extLst>
          </p:cNvPr>
          <p:cNvSpPr/>
          <p:nvPr/>
        </p:nvSpPr>
        <p:spPr>
          <a:xfrm>
            <a:off x="8138160" y="27432"/>
            <a:ext cx="749808" cy="201168"/>
          </a:xfrm>
          <a:prstGeom prst="rect">
            <a:avLst/>
          </a:prstGeom>
          <a:noFill/>
          <a:ln/>
        </p:spPr>
        <p:txBody>
          <a:bodyPr wrap="square" lIns="0" tIns="0" rIns="0" bIns="0" rtlCol="0" anchor="ctr"/>
          <a:lstStyle/>
          <a:p>
            <a:pPr marL="0" indent="0" algn="ctr">
              <a:buNone/>
            </a:pPr>
            <a:r>
              <a:rPr lang="en-US" sz="800" b="1" dirty="0">
                <a:solidFill>
                  <a:srgbClr val="FFFFFF"/>
                </a:solidFill>
              </a:rPr>
              <a:t>AOU</a:t>
            </a:r>
            <a:endParaRPr lang="en-US" sz="800" dirty="0"/>
          </a:p>
        </p:txBody>
      </p:sp>
      <p:pic>
        <p:nvPicPr>
          <p:cNvPr id="13" name="Picture 12">
            <a:extLst>
              <a:ext uri="{FF2B5EF4-FFF2-40B4-BE49-F238E27FC236}">
                <a16:creationId xmlns:a16="http://schemas.microsoft.com/office/drawing/2014/main" id="{DC120E65-C0D6-D44E-5CCA-A1B7C97F33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4320" y="950323"/>
            <a:ext cx="8613648" cy="3970020"/>
          </a:xfrm>
          <a:prstGeom prst="rect">
            <a:avLst/>
          </a:prstGeom>
        </p:spPr>
      </p:pic>
      <p:sp>
        <p:nvSpPr>
          <p:cNvPr id="4" name="Text 5">
            <a:extLst>
              <a:ext uri="{FF2B5EF4-FFF2-40B4-BE49-F238E27FC236}">
                <a16:creationId xmlns:a16="http://schemas.microsoft.com/office/drawing/2014/main" id="{C1FCB7A3-5BC8-11A4-83C6-09F619BA6033}"/>
              </a:ext>
            </a:extLst>
          </p:cNvPr>
          <p:cNvSpPr/>
          <p:nvPr/>
        </p:nvSpPr>
        <p:spPr>
          <a:xfrm>
            <a:off x="411480" y="320040"/>
            <a:ext cx="8321040" cy="457200"/>
          </a:xfrm>
          <a:prstGeom prst="rect">
            <a:avLst/>
          </a:prstGeom>
          <a:noFill/>
          <a:ln/>
        </p:spPr>
        <p:txBody>
          <a:bodyPr wrap="square" lIns="0" tIns="0" rIns="0" bIns="0" rtlCol="0" anchor="ctr"/>
          <a:lstStyle/>
          <a:p>
            <a:pPr marL="0" indent="0">
              <a:buNone/>
            </a:pPr>
            <a:r>
              <a:rPr lang="en-US" sz="2300" b="1" dirty="0">
                <a:solidFill>
                  <a:srgbClr val="0056B3"/>
                </a:solidFill>
                <a:latin typeface="Times New Roman" panose="02020603050405020304" pitchFamily="18" charset="0"/>
                <a:cs typeface="Times New Roman" panose="02020603050405020304" pitchFamily="18" charset="0"/>
              </a:rPr>
              <a:t>System Architecture</a:t>
            </a:r>
            <a:endParaRPr lang="en-US" sz="2300" dirty="0">
              <a:latin typeface="Times New Roman" panose="02020603050405020304" pitchFamily="18" charset="0"/>
              <a:cs typeface="Times New Roman" panose="02020603050405020304" pitchFamily="18" charset="0"/>
            </a:endParaRPr>
          </a:p>
        </p:txBody>
      </p:sp>
      <p:sp>
        <p:nvSpPr>
          <p:cNvPr id="5" name="Shape 6">
            <a:extLst>
              <a:ext uri="{FF2B5EF4-FFF2-40B4-BE49-F238E27FC236}">
                <a16:creationId xmlns:a16="http://schemas.microsoft.com/office/drawing/2014/main" id="{8F53FFAA-B247-F800-5DFA-CE4AAF82D140}"/>
              </a:ext>
            </a:extLst>
          </p:cNvPr>
          <p:cNvSpPr/>
          <p:nvPr/>
        </p:nvSpPr>
        <p:spPr>
          <a:xfrm>
            <a:off x="411480" y="795528"/>
            <a:ext cx="8321040" cy="22860"/>
          </a:xfrm>
          <a:prstGeom prst="rect">
            <a:avLst/>
          </a:prstGeom>
          <a:solidFill>
            <a:srgbClr val="0056B3"/>
          </a:solidFill>
          <a:ln w="12700">
            <a:solidFill>
              <a:srgbClr val="0056B3"/>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625599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457200" y="0"/>
            <a:ext cx="8229600" cy="658368"/>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Future Work</a:t>
            </a:r>
            <a:endParaRPr lang="en-US" sz="2600" dirty="0"/>
          </a:p>
        </p:txBody>
      </p:sp>
      <p:sp>
        <p:nvSpPr>
          <p:cNvPr id="4" name="Shape 2"/>
          <p:cNvSpPr/>
          <p:nvPr/>
        </p:nvSpPr>
        <p:spPr>
          <a:xfrm>
            <a:off x="329184" y="910883"/>
            <a:ext cx="4206240" cy="1801368"/>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5" name="Shape 3"/>
          <p:cNvSpPr/>
          <p:nvPr/>
        </p:nvSpPr>
        <p:spPr>
          <a:xfrm>
            <a:off x="329184" y="910883"/>
            <a:ext cx="4206240" cy="411480"/>
          </a:xfrm>
          <a:prstGeom prst="rect">
            <a:avLst/>
          </a:prstGeom>
          <a:solidFill>
            <a:srgbClr val="065A82"/>
          </a:solidFill>
          <a:ln/>
        </p:spPr>
        <p:txBody>
          <a:bodyPr/>
          <a:lstStyle/>
          <a:p>
            <a:endParaRPr lang="en-US"/>
          </a:p>
        </p:txBody>
      </p:sp>
      <p:sp>
        <p:nvSpPr>
          <p:cNvPr id="6" name="Text 4"/>
          <p:cNvSpPr/>
          <p:nvPr/>
        </p:nvSpPr>
        <p:spPr>
          <a:xfrm>
            <a:off x="420624" y="910883"/>
            <a:ext cx="4023360" cy="41148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Video Analysis</a:t>
            </a:r>
            <a:endParaRPr lang="en-US" sz="1300" dirty="0"/>
          </a:p>
        </p:txBody>
      </p:sp>
      <p:pic>
        <p:nvPicPr>
          <p:cNvPr id="7" name="Image 0" descr="preencoded.png"/>
          <p:cNvPicPr>
            <a:picLocks noChangeAspect="1"/>
          </p:cNvPicPr>
          <p:nvPr/>
        </p:nvPicPr>
        <p:blipFill>
          <a:blip r:embed="rId3"/>
          <a:stretch>
            <a:fillRect/>
          </a:stretch>
        </p:blipFill>
        <p:spPr>
          <a:xfrm>
            <a:off x="461772" y="1784135"/>
            <a:ext cx="530352" cy="530352"/>
          </a:xfrm>
          <a:prstGeom prst="rect">
            <a:avLst/>
          </a:prstGeom>
        </p:spPr>
      </p:pic>
      <p:sp>
        <p:nvSpPr>
          <p:cNvPr id="8" name="Text 5"/>
          <p:cNvSpPr/>
          <p:nvPr/>
        </p:nvSpPr>
        <p:spPr>
          <a:xfrm>
            <a:off x="1106424" y="1386371"/>
            <a:ext cx="3291840" cy="1325880"/>
          </a:xfrm>
          <a:prstGeom prst="rect">
            <a:avLst/>
          </a:prstGeom>
          <a:noFill/>
          <a:ln/>
        </p:spPr>
        <p:txBody>
          <a:bodyPr wrap="square" rtlCol="0" anchor="ctr"/>
          <a:lstStyle/>
          <a:p>
            <a:pPr marL="0" indent="0">
              <a:buNone/>
            </a:pPr>
            <a:r>
              <a:rPr lang="en-US" sz="1150" dirty="0">
                <a:solidFill>
                  <a:srgbClr val="1A2E3B"/>
                </a:solidFill>
                <a:latin typeface="Calibri" pitchFamily="34" charset="0"/>
                <a:ea typeface="Calibri" pitchFamily="34" charset="-122"/>
                <a:cs typeface="Calibri" pitchFamily="34" charset="-120"/>
              </a:rPr>
              <a:t>Optical flow + frame-consistency checks for AI-manipulated video sequences</a:t>
            </a:r>
            <a:endParaRPr lang="en-US" sz="1150" dirty="0"/>
          </a:p>
        </p:txBody>
      </p:sp>
      <p:sp>
        <p:nvSpPr>
          <p:cNvPr id="9" name="Shape 6"/>
          <p:cNvSpPr/>
          <p:nvPr/>
        </p:nvSpPr>
        <p:spPr>
          <a:xfrm>
            <a:off x="4764024" y="910883"/>
            <a:ext cx="4206240" cy="1801368"/>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10" name="Shape 7"/>
          <p:cNvSpPr/>
          <p:nvPr/>
        </p:nvSpPr>
        <p:spPr>
          <a:xfrm>
            <a:off x="4764024" y="910883"/>
            <a:ext cx="4206240" cy="411480"/>
          </a:xfrm>
          <a:prstGeom prst="rect">
            <a:avLst/>
          </a:prstGeom>
          <a:solidFill>
            <a:srgbClr val="002060"/>
          </a:solidFill>
          <a:ln/>
        </p:spPr>
        <p:txBody>
          <a:bodyPr/>
          <a:lstStyle/>
          <a:p>
            <a:endParaRPr lang="en-US"/>
          </a:p>
        </p:txBody>
      </p:sp>
      <p:sp>
        <p:nvSpPr>
          <p:cNvPr id="11" name="Text 8"/>
          <p:cNvSpPr/>
          <p:nvPr/>
        </p:nvSpPr>
        <p:spPr>
          <a:xfrm>
            <a:off x="4855464" y="910883"/>
            <a:ext cx="4023360" cy="41148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Audio Detection</a:t>
            </a:r>
            <a:endParaRPr lang="en-US" sz="1300" dirty="0"/>
          </a:p>
        </p:txBody>
      </p:sp>
      <p:pic>
        <p:nvPicPr>
          <p:cNvPr id="12" name="Image 1" descr="preencoded.png"/>
          <p:cNvPicPr>
            <a:picLocks noChangeAspect="1"/>
          </p:cNvPicPr>
          <p:nvPr/>
        </p:nvPicPr>
        <p:blipFill>
          <a:blip r:embed="rId4"/>
          <a:stretch>
            <a:fillRect/>
          </a:stretch>
        </p:blipFill>
        <p:spPr>
          <a:xfrm>
            <a:off x="4901184" y="1752131"/>
            <a:ext cx="530352" cy="530352"/>
          </a:xfrm>
          <a:prstGeom prst="rect">
            <a:avLst/>
          </a:prstGeom>
        </p:spPr>
      </p:pic>
      <p:sp>
        <p:nvSpPr>
          <p:cNvPr id="13" name="Text 9"/>
          <p:cNvSpPr/>
          <p:nvPr/>
        </p:nvSpPr>
        <p:spPr>
          <a:xfrm>
            <a:off x="5541264" y="1386371"/>
            <a:ext cx="3291840" cy="1325880"/>
          </a:xfrm>
          <a:prstGeom prst="rect">
            <a:avLst/>
          </a:prstGeom>
          <a:noFill/>
          <a:ln/>
        </p:spPr>
        <p:txBody>
          <a:bodyPr wrap="square" rtlCol="0" anchor="ctr"/>
          <a:lstStyle/>
          <a:p>
            <a:pPr marL="0" indent="0">
              <a:buNone/>
            </a:pPr>
            <a:r>
              <a:rPr lang="en-US" sz="1150" dirty="0">
                <a:solidFill>
                  <a:srgbClr val="1A2E3B"/>
                </a:solidFill>
                <a:latin typeface="Calibri" pitchFamily="34" charset="0"/>
                <a:ea typeface="Calibri" pitchFamily="34" charset="-122"/>
                <a:cs typeface="Calibri" pitchFamily="34" charset="-120"/>
              </a:rPr>
              <a:t>Spectrogram classifiers (RawNet2, Wav2Vec) to identify AI-generated speech &amp; voice cloning</a:t>
            </a:r>
            <a:endParaRPr lang="en-US" sz="1150" dirty="0"/>
          </a:p>
        </p:txBody>
      </p:sp>
      <p:sp>
        <p:nvSpPr>
          <p:cNvPr id="14" name="Shape 10"/>
          <p:cNvSpPr/>
          <p:nvPr/>
        </p:nvSpPr>
        <p:spPr>
          <a:xfrm>
            <a:off x="329184" y="2776259"/>
            <a:ext cx="4206240" cy="1801368"/>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15" name="Shape 11"/>
          <p:cNvSpPr/>
          <p:nvPr/>
        </p:nvSpPr>
        <p:spPr>
          <a:xfrm>
            <a:off x="329184" y="2776259"/>
            <a:ext cx="4206240" cy="411480"/>
          </a:xfrm>
          <a:prstGeom prst="rect">
            <a:avLst/>
          </a:prstGeom>
          <a:solidFill>
            <a:srgbClr val="002060"/>
          </a:solidFill>
          <a:ln/>
        </p:spPr>
        <p:txBody>
          <a:bodyPr/>
          <a:lstStyle/>
          <a:p>
            <a:endParaRPr lang="en-US"/>
          </a:p>
        </p:txBody>
      </p:sp>
      <p:sp>
        <p:nvSpPr>
          <p:cNvPr id="16" name="Text 12"/>
          <p:cNvSpPr/>
          <p:nvPr/>
        </p:nvSpPr>
        <p:spPr>
          <a:xfrm>
            <a:off x="420624" y="2776259"/>
            <a:ext cx="4023360" cy="41148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ID Document Verify</a:t>
            </a:r>
            <a:endParaRPr lang="en-US" sz="1300" dirty="0"/>
          </a:p>
        </p:txBody>
      </p:sp>
      <p:pic>
        <p:nvPicPr>
          <p:cNvPr id="17" name="Image 2" descr="preencoded.png"/>
          <p:cNvPicPr>
            <a:picLocks noChangeAspect="1"/>
          </p:cNvPicPr>
          <p:nvPr/>
        </p:nvPicPr>
        <p:blipFill>
          <a:blip r:embed="rId5"/>
          <a:stretch>
            <a:fillRect/>
          </a:stretch>
        </p:blipFill>
        <p:spPr>
          <a:xfrm>
            <a:off x="461772" y="3617507"/>
            <a:ext cx="530352" cy="530352"/>
          </a:xfrm>
          <a:prstGeom prst="rect">
            <a:avLst/>
          </a:prstGeom>
        </p:spPr>
      </p:pic>
      <p:sp>
        <p:nvSpPr>
          <p:cNvPr id="18" name="Text 13"/>
          <p:cNvSpPr/>
          <p:nvPr/>
        </p:nvSpPr>
        <p:spPr>
          <a:xfrm>
            <a:off x="1106424" y="3251747"/>
            <a:ext cx="3291840" cy="1325880"/>
          </a:xfrm>
          <a:prstGeom prst="rect">
            <a:avLst/>
          </a:prstGeom>
          <a:noFill/>
          <a:ln/>
        </p:spPr>
        <p:txBody>
          <a:bodyPr wrap="square" rtlCol="0" anchor="ctr"/>
          <a:lstStyle/>
          <a:p>
            <a:pPr marL="0" indent="0">
              <a:buNone/>
            </a:pPr>
            <a:r>
              <a:rPr lang="en-US" sz="1150" dirty="0">
                <a:solidFill>
                  <a:srgbClr val="1A2E3B"/>
                </a:solidFill>
                <a:latin typeface="Calibri" pitchFamily="34" charset="0"/>
                <a:ea typeface="Calibri" pitchFamily="34" charset="-122"/>
                <a:cs typeface="Calibri" pitchFamily="34" charset="-120"/>
              </a:rPr>
              <a:t>OCR consistency checks and MRZ validation for passports and national ID cards</a:t>
            </a:r>
            <a:endParaRPr lang="en-US" sz="1150" dirty="0"/>
          </a:p>
        </p:txBody>
      </p:sp>
      <p:sp>
        <p:nvSpPr>
          <p:cNvPr id="19" name="Shape 14"/>
          <p:cNvSpPr/>
          <p:nvPr/>
        </p:nvSpPr>
        <p:spPr>
          <a:xfrm>
            <a:off x="4764024" y="2776259"/>
            <a:ext cx="4206240" cy="1801368"/>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20" name="Shape 15"/>
          <p:cNvSpPr/>
          <p:nvPr/>
        </p:nvSpPr>
        <p:spPr>
          <a:xfrm>
            <a:off x="4764024" y="2776259"/>
            <a:ext cx="4206240" cy="411480"/>
          </a:xfrm>
          <a:prstGeom prst="rect">
            <a:avLst/>
          </a:prstGeom>
          <a:solidFill>
            <a:srgbClr val="1C7293"/>
          </a:solidFill>
          <a:ln/>
        </p:spPr>
        <p:txBody>
          <a:bodyPr/>
          <a:lstStyle/>
          <a:p>
            <a:endParaRPr lang="en-US"/>
          </a:p>
        </p:txBody>
      </p:sp>
      <p:sp>
        <p:nvSpPr>
          <p:cNvPr id="21" name="Text 16"/>
          <p:cNvSpPr/>
          <p:nvPr/>
        </p:nvSpPr>
        <p:spPr>
          <a:xfrm>
            <a:off x="4855464" y="2776259"/>
            <a:ext cx="4023360" cy="41148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Model Expansion</a:t>
            </a:r>
            <a:endParaRPr lang="en-US" sz="1300" dirty="0"/>
          </a:p>
        </p:txBody>
      </p:sp>
      <p:pic>
        <p:nvPicPr>
          <p:cNvPr id="22" name="Image 3" descr="preencoded.png"/>
          <p:cNvPicPr>
            <a:picLocks noChangeAspect="1"/>
          </p:cNvPicPr>
          <p:nvPr/>
        </p:nvPicPr>
        <p:blipFill>
          <a:blip r:embed="rId6"/>
          <a:stretch>
            <a:fillRect/>
          </a:stretch>
        </p:blipFill>
        <p:spPr>
          <a:xfrm>
            <a:off x="4901184" y="3617507"/>
            <a:ext cx="530352" cy="530352"/>
          </a:xfrm>
          <a:prstGeom prst="rect">
            <a:avLst/>
          </a:prstGeom>
        </p:spPr>
      </p:pic>
      <p:sp>
        <p:nvSpPr>
          <p:cNvPr id="23" name="Text 17"/>
          <p:cNvSpPr/>
          <p:nvPr/>
        </p:nvSpPr>
        <p:spPr>
          <a:xfrm>
            <a:off x="5541264" y="3251747"/>
            <a:ext cx="3291840" cy="1325880"/>
          </a:xfrm>
          <a:prstGeom prst="rect">
            <a:avLst/>
          </a:prstGeom>
          <a:noFill/>
          <a:ln/>
        </p:spPr>
        <p:txBody>
          <a:bodyPr wrap="square" rtlCol="0" anchor="ctr"/>
          <a:lstStyle/>
          <a:p>
            <a:pPr marL="0" indent="0">
              <a:buNone/>
            </a:pPr>
            <a:r>
              <a:rPr lang="en-US" sz="1150" dirty="0">
                <a:solidFill>
                  <a:srgbClr val="1A2E3B"/>
                </a:solidFill>
                <a:latin typeface="Calibri" pitchFamily="34" charset="0"/>
                <a:ea typeface="Calibri" pitchFamily="34" charset="-122"/>
                <a:cs typeface="Calibri" pitchFamily="34" charset="-120"/>
              </a:rPr>
              <a:t>Retrain on Stable Diffusion / DALL·E; explore Vision Transformers (ViT) for cross-dataset robustness</a:t>
            </a:r>
            <a:endParaRPr lang="en-US" sz="1150" dirty="0"/>
          </a:p>
        </p:txBody>
      </p:sp>
      <p:sp>
        <p:nvSpPr>
          <p:cNvPr id="34" name="Shape 0">
            <a:extLst>
              <a:ext uri="{FF2B5EF4-FFF2-40B4-BE49-F238E27FC236}">
                <a16:creationId xmlns:a16="http://schemas.microsoft.com/office/drawing/2014/main" id="{2165F022-07B0-FE64-682A-45A0F44ECB62}"/>
              </a:ext>
            </a:extLst>
          </p:cNvPr>
          <p:cNvSpPr/>
          <p:nvPr/>
        </p:nvSpPr>
        <p:spPr>
          <a:xfrm>
            <a:off x="0" y="0"/>
            <a:ext cx="9144000" cy="256032"/>
          </a:xfrm>
          <a:prstGeom prst="rect">
            <a:avLst/>
          </a:prstGeom>
          <a:solidFill>
            <a:srgbClr val="1F3864"/>
          </a:solidFill>
          <a:ln w="12700">
            <a:solidFill>
              <a:srgbClr val="1F3864"/>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35" name="Text 1">
            <a:extLst>
              <a:ext uri="{FF2B5EF4-FFF2-40B4-BE49-F238E27FC236}">
                <a16:creationId xmlns:a16="http://schemas.microsoft.com/office/drawing/2014/main" id="{5C1BF260-1BD6-AD72-4EA5-7B969320C5B3}"/>
              </a:ext>
            </a:extLst>
          </p:cNvPr>
          <p:cNvSpPr/>
          <p:nvPr/>
        </p:nvSpPr>
        <p:spPr>
          <a:xfrm>
            <a:off x="274320" y="0"/>
            <a:ext cx="7132320" cy="256032"/>
          </a:xfrm>
          <a:prstGeom prst="rect">
            <a:avLst/>
          </a:prstGeom>
          <a:noFill/>
          <a:ln/>
        </p:spPr>
        <p:txBody>
          <a:bodyPr wrap="square" lIns="0" tIns="0" rIns="0" bIns="0" rtlCol="0" anchor="ctr"/>
          <a:lstStyle/>
          <a:p>
            <a:pPr marL="0" indent="0">
              <a:buNone/>
            </a:pPr>
            <a:r>
              <a:rPr lang="en-US" sz="850" dirty="0">
                <a:solidFill>
                  <a:srgbClr val="FFFFFF"/>
                </a:solidFill>
                <a:latin typeface="Times New Roman" panose="02020603050405020304" pitchFamily="18" charset="0"/>
                <a:cs typeface="Times New Roman" panose="02020603050405020304" pitchFamily="18" charset="0"/>
              </a:rPr>
              <a:t>Deepfake Image Detection System  |  TM471B — May 2026</a:t>
            </a:r>
            <a:endParaRPr lang="en-US" sz="850" dirty="0">
              <a:latin typeface="Times New Roman" panose="02020603050405020304" pitchFamily="18" charset="0"/>
              <a:cs typeface="Times New Roman" panose="02020603050405020304" pitchFamily="18" charset="0"/>
            </a:endParaRPr>
          </a:p>
        </p:txBody>
      </p:sp>
      <p:sp>
        <p:nvSpPr>
          <p:cNvPr id="36" name="Shape 2">
            <a:extLst>
              <a:ext uri="{FF2B5EF4-FFF2-40B4-BE49-F238E27FC236}">
                <a16:creationId xmlns:a16="http://schemas.microsoft.com/office/drawing/2014/main" id="{810D19B0-46AD-2481-68A2-9D43CBF128F3}"/>
              </a:ext>
            </a:extLst>
          </p:cNvPr>
          <p:cNvSpPr/>
          <p:nvPr/>
        </p:nvSpPr>
        <p:spPr>
          <a:xfrm>
            <a:off x="8138160" y="27432"/>
            <a:ext cx="749808" cy="201168"/>
          </a:xfrm>
          <a:prstGeom prst="rect">
            <a:avLst/>
          </a:prstGeom>
          <a:solidFill>
            <a:srgbClr val="1A4F9E"/>
          </a:solidFill>
          <a:ln w="12700">
            <a:solidFill>
              <a:srgbClr val="FFFFFF"/>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37" name="Text 3">
            <a:extLst>
              <a:ext uri="{FF2B5EF4-FFF2-40B4-BE49-F238E27FC236}">
                <a16:creationId xmlns:a16="http://schemas.microsoft.com/office/drawing/2014/main" id="{640540A2-E696-A06F-6FEC-45DE6BC6BC69}"/>
              </a:ext>
            </a:extLst>
          </p:cNvPr>
          <p:cNvSpPr/>
          <p:nvPr/>
        </p:nvSpPr>
        <p:spPr>
          <a:xfrm>
            <a:off x="8138160" y="27432"/>
            <a:ext cx="749808"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Times New Roman" panose="02020603050405020304" pitchFamily="18" charset="0"/>
                <a:cs typeface="Times New Roman" panose="02020603050405020304" pitchFamily="18" charset="0"/>
              </a:rPr>
              <a:t>AOU</a:t>
            </a:r>
            <a:endParaRPr lang="en-US" sz="800" dirty="0">
              <a:latin typeface="Times New Roman" panose="02020603050405020304" pitchFamily="18" charset="0"/>
              <a:cs typeface="Times New Roman" panose="02020603050405020304" pitchFamily="18" charset="0"/>
            </a:endParaRPr>
          </a:p>
        </p:txBody>
      </p:sp>
      <p:sp>
        <p:nvSpPr>
          <p:cNvPr id="38" name="Text 5">
            <a:extLst>
              <a:ext uri="{FF2B5EF4-FFF2-40B4-BE49-F238E27FC236}">
                <a16:creationId xmlns:a16="http://schemas.microsoft.com/office/drawing/2014/main" id="{9371C6B6-81DF-5048-F0DF-7AC28582321A}"/>
              </a:ext>
            </a:extLst>
          </p:cNvPr>
          <p:cNvSpPr/>
          <p:nvPr/>
        </p:nvSpPr>
        <p:spPr>
          <a:xfrm>
            <a:off x="411480" y="320040"/>
            <a:ext cx="8321040" cy="457200"/>
          </a:xfrm>
          <a:prstGeom prst="rect">
            <a:avLst/>
          </a:prstGeom>
          <a:noFill/>
          <a:ln/>
        </p:spPr>
        <p:txBody>
          <a:bodyPr wrap="square" lIns="0" tIns="0" rIns="0" bIns="0" rtlCol="0" anchor="ctr"/>
          <a:lstStyle/>
          <a:p>
            <a:pPr marL="0" indent="0">
              <a:buNone/>
            </a:pPr>
            <a:r>
              <a:rPr lang="en-US" sz="2300" b="1" dirty="0">
                <a:solidFill>
                  <a:srgbClr val="0056B3"/>
                </a:solidFill>
                <a:latin typeface="Times New Roman" panose="02020603050405020304" pitchFamily="18" charset="0"/>
                <a:cs typeface="Times New Roman" panose="02020603050405020304" pitchFamily="18" charset="0"/>
              </a:rPr>
              <a:t>Future Work</a:t>
            </a:r>
            <a:endParaRPr lang="en-US" sz="2300" dirty="0">
              <a:latin typeface="Times New Roman" panose="02020603050405020304" pitchFamily="18" charset="0"/>
              <a:cs typeface="Times New Roman" panose="02020603050405020304" pitchFamily="18" charset="0"/>
            </a:endParaRPr>
          </a:p>
        </p:txBody>
      </p:sp>
      <p:sp>
        <p:nvSpPr>
          <p:cNvPr id="39" name="Shape 6">
            <a:extLst>
              <a:ext uri="{FF2B5EF4-FFF2-40B4-BE49-F238E27FC236}">
                <a16:creationId xmlns:a16="http://schemas.microsoft.com/office/drawing/2014/main" id="{6E7672C2-2D6B-DC8C-E9EA-CC0DC205EA2A}"/>
              </a:ext>
            </a:extLst>
          </p:cNvPr>
          <p:cNvSpPr/>
          <p:nvPr/>
        </p:nvSpPr>
        <p:spPr>
          <a:xfrm>
            <a:off x="393192" y="802914"/>
            <a:ext cx="8321040" cy="22860"/>
          </a:xfrm>
          <a:prstGeom prst="rect">
            <a:avLst/>
          </a:prstGeom>
          <a:solidFill>
            <a:srgbClr val="0056B3"/>
          </a:solidFill>
          <a:ln w="12700">
            <a:solidFill>
              <a:srgbClr val="0056B3"/>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675894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256032"/>
          </a:xfrm>
          <a:prstGeom prst="rect">
            <a:avLst/>
          </a:prstGeom>
          <a:solidFill>
            <a:srgbClr val="1F3864"/>
          </a:solidFill>
          <a:ln w="12700">
            <a:solidFill>
              <a:srgbClr val="1F3864"/>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3" name="Text 1"/>
          <p:cNvSpPr/>
          <p:nvPr/>
        </p:nvSpPr>
        <p:spPr>
          <a:xfrm>
            <a:off x="274320" y="0"/>
            <a:ext cx="7132320" cy="256032"/>
          </a:xfrm>
          <a:prstGeom prst="rect">
            <a:avLst/>
          </a:prstGeom>
          <a:noFill/>
          <a:ln/>
        </p:spPr>
        <p:txBody>
          <a:bodyPr wrap="square" lIns="0" tIns="0" rIns="0" bIns="0" rtlCol="0" anchor="ctr"/>
          <a:lstStyle/>
          <a:p>
            <a:pPr marL="0" indent="0">
              <a:buNone/>
            </a:pPr>
            <a:r>
              <a:rPr lang="en-US" sz="850" dirty="0">
                <a:solidFill>
                  <a:srgbClr val="FFFFFF"/>
                </a:solidFill>
                <a:latin typeface="Times New Roman" panose="02020603050405020304" pitchFamily="18" charset="0"/>
                <a:cs typeface="Times New Roman" panose="02020603050405020304" pitchFamily="18" charset="0"/>
              </a:rPr>
              <a:t>Deepfake Image Detection System  |  TM471B — May 2026</a:t>
            </a:r>
            <a:endParaRPr lang="en-US" sz="850" dirty="0">
              <a:latin typeface="Times New Roman" panose="02020603050405020304" pitchFamily="18" charset="0"/>
              <a:cs typeface="Times New Roman" panose="02020603050405020304" pitchFamily="18" charset="0"/>
            </a:endParaRPr>
          </a:p>
        </p:txBody>
      </p:sp>
      <p:sp>
        <p:nvSpPr>
          <p:cNvPr id="4" name="Shape 2"/>
          <p:cNvSpPr/>
          <p:nvPr/>
        </p:nvSpPr>
        <p:spPr>
          <a:xfrm>
            <a:off x="8138160" y="27432"/>
            <a:ext cx="749808" cy="201168"/>
          </a:xfrm>
          <a:prstGeom prst="rect">
            <a:avLst/>
          </a:prstGeom>
          <a:solidFill>
            <a:srgbClr val="1A4F9E"/>
          </a:solidFill>
          <a:ln w="12700">
            <a:solidFill>
              <a:srgbClr val="FFFFFF"/>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5" name="Text 3"/>
          <p:cNvSpPr/>
          <p:nvPr/>
        </p:nvSpPr>
        <p:spPr>
          <a:xfrm>
            <a:off x="8138160" y="27432"/>
            <a:ext cx="749808"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Times New Roman" panose="02020603050405020304" pitchFamily="18" charset="0"/>
                <a:cs typeface="Times New Roman" panose="02020603050405020304" pitchFamily="18" charset="0"/>
              </a:rPr>
              <a:t>AOU</a:t>
            </a:r>
            <a:endParaRPr lang="en-US" sz="800" dirty="0">
              <a:latin typeface="Times New Roman" panose="02020603050405020304" pitchFamily="18" charset="0"/>
              <a:cs typeface="Times New Roman" panose="02020603050405020304" pitchFamily="18" charset="0"/>
            </a:endParaRPr>
          </a:p>
        </p:txBody>
      </p:sp>
      <p:sp>
        <p:nvSpPr>
          <p:cNvPr id="6" name="Text 4"/>
          <p:cNvSpPr/>
          <p:nvPr/>
        </p:nvSpPr>
        <p:spPr>
          <a:xfrm>
            <a:off x="8778240" y="4919472"/>
            <a:ext cx="320040" cy="182880"/>
          </a:xfrm>
          <a:prstGeom prst="rect">
            <a:avLst/>
          </a:prstGeom>
          <a:noFill/>
          <a:ln/>
        </p:spPr>
        <p:txBody>
          <a:bodyPr wrap="square" lIns="0" tIns="0" rIns="0" bIns="0" rtlCol="0" anchor="ctr"/>
          <a:lstStyle/>
          <a:p>
            <a:pPr marL="0" indent="0" algn="r">
              <a:buNone/>
            </a:pPr>
            <a:r>
              <a:rPr lang="en-US" sz="900" dirty="0">
                <a:solidFill>
                  <a:srgbClr val="475569"/>
                </a:solidFill>
                <a:latin typeface="Times New Roman" panose="02020603050405020304" pitchFamily="18" charset="0"/>
                <a:cs typeface="Times New Roman" panose="02020603050405020304" pitchFamily="18" charset="0"/>
              </a:rPr>
              <a:t>12</a:t>
            </a:r>
            <a:endParaRPr lang="en-US" sz="900" dirty="0">
              <a:latin typeface="Times New Roman" panose="02020603050405020304" pitchFamily="18" charset="0"/>
              <a:cs typeface="Times New Roman" panose="02020603050405020304" pitchFamily="18" charset="0"/>
            </a:endParaRPr>
          </a:p>
        </p:txBody>
      </p:sp>
      <p:sp>
        <p:nvSpPr>
          <p:cNvPr id="7" name="Text 5"/>
          <p:cNvSpPr/>
          <p:nvPr/>
        </p:nvSpPr>
        <p:spPr>
          <a:xfrm>
            <a:off x="411480" y="320040"/>
            <a:ext cx="8321040" cy="457200"/>
          </a:xfrm>
          <a:prstGeom prst="rect">
            <a:avLst/>
          </a:prstGeom>
          <a:noFill/>
          <a:ln/>
        </p:spPr>
        <p:txBody>
          <a:bodyPr wrap="square" lIns="0" tIns="0" rIns="0" bIns="0" rtlCol="0" anchor="ctr"/>
          <a:lstStyle/>
          <a:p>
            <a:pPr marL="0" indent="0">
              <a:buNone/>
            </a:pPr>
            <a:r>
              <a:rPr lang="en-US" sz="2300" b="1" dirty="0">
                <a:solidFill>
                  <a:srgbClr val="0056B3"/>
                </a:solidFill>
                <a:latin typeface="Times New Roman" panose="02020603050405020304" pitchFamily="18" charset="0"/>
                <a:cs typeface="Times New Roman" panose="02020603050405020304" pitchFamily="18" charset="0"/>
              </a:rPr>
              <a:t>Conclusion</a:t>
            </a:r>
            <a:endParaRPr lang="en-US" sz="2300" dirty="0">
              <a:latin typeface="Times New Roman" panose="02020603050405020304" pitchFamily="18" charset="0"/>
              <a:cs typeface="Times New Roman" panose="02020603050405020304" pitchFamily="18" charset="0"/>
            </a:endParaRPr>
          </a:p>
        </p:txBody>
      </p:sp>
      <p:sp>
        <p:nvSpPr>
          <p:cNvPr id="8" name="Shape 6"/>
          <p:cNvSpPr/>
          <p:nvPr/>
        </p:nvSpPr>
        <p:spPr>
          <a:xfrm>
            <a:off x="411480" y="795528"/>
            <a:ext cx="8321040" cy="22860"/>
          </a:xfrm>
          <a:prstGeom prst="rect">
            <a:avLst/>
          </a:prstGeom>
          <a:solidFill>
            <a:srgbClr val="0056B3"/>
          </a:solidFill>
          <a:ln w="12700">
            <a:solidFill>
              <a:srgbClr val="0056B3"/>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9" name="Shape 7"/>
          <p:cNvSpPr/>
          <p:nvPr/>
        </p:nvSpPr>
        <p:spPr>
          <a:xfrm>
            <a:off x="411480" y="914400"/>
            <a:ext cx="8321040" cy="731520"/>
          </a:xfrm>
          <a:prstGeom prst="rect">
            <a:avLst/>
          </a:prstGeom>
          <a:solidFill>
            <a:srgbClr val="EBF3FF"/>
          </a:solidFill>
          <a:ln w="12700">
            <a:solidFill>
              <a:srgbClr val="BFDBFE"/>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10" name="Shape 8"/>
          <p:cNvSpPr/>
          <p:nvPr/>
        </p:nvSpPr>
        <p:spPr>
          <a:xfrm>
            <a:off x="411480" y="914400"/>
            <a:ext cx="54864" cy="731520"/>
          </a:xfrm>
          <a:prstGeom prst="rect">
            <a:avLst/>
          </a:prstGeom>
          <a:solidFill>
            <a:srgbClr val="0056B3"/>
          </a:solidFill>
          <a:ln w="12700">
            <a:solidFill>
              <a:srgbClr val="0056B3"/>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11" name="Text 9"/>
          <p:cNvSpPr/>
          <p:nvPr/>
        </p:nvSpPr>
        <p:spPr>
          <a:xfrm>
            <a:off x="566928" y="914400"/>
            <a:ext cx="8046720" cy="731520"/>
          </a:xfrm>
          <a:prstGeom prst="rect">
            <a:avLst/>
          </a:prstGeom>
          <a:noFill/>
          <a:ln/>
        </p:spPr>
        <p:txBody>
          <a:bodyPr wrap="square" lIns="50800" tIns="50800" rIns="50800" bIns="50800" rtlCol="0" anchor="ctr"/>
          <a:lstStyle/>
          <a:p>
            <a:pPr marL="0" indent="0">
              <a:buNone/>
            </a:pPr>
            <a:r>
              <a:rPr lang="en-US" sz="1250" dirty="0">
                <a:solidFill>
                  <a:srgbClr val="1E293B"/>
                </a:solidFill>
                <a:latin typeface="Times New Roman" panose="02020603050405020304" pitchFamily="18" charset="0"/>
                <a:cs typeface="Times New Roman" panose="02020603050405020304" pitchFamily="18" charset="0"/>
              </a:rPr>
              <a:t>VGG16 achieved 96.27% test accuracy with a balanced Macro F1-score of 0.96, satisfying all functional requirements and the ≥90% accuracy threshold while delivering real-time inference within ≤5 seconds.</a:t>
            </a:r>
            <a:endParaRPr lang="en-US" sz="1250" dirty="0">
              <a:latin typeface="Times New Roman" panose="02020603050405020304" pitchFamily="18" charset="0"/>
              <a:cs typeface="Times New Roman" panose="02020603050405020304" pitchFamily="18" charset="0"/>
            </a:endParaRPr>
          </a:p>
        </p:txBody>
      </p:sp>
      <p:sp>
        <p:nvSpPr>
          <p:cNvPr id="12" name="Shape 10"/>
          <p:cNvSpPr/>
          <p:nvPr/>
        </p:nvSpPr>
        <p:spPr>
          <a:xfrm>
            <a:off x="411480" y="1737360"/>
            <a:ext cx="8321040" cy="347472"/>
          </a:xfrm>
          <a:prstGeom prst="rect">
            <a:avLst/>
          </a:prstGeom>
          <a:solidFill>
            <a:srgbClr val="1F3864"/>
          </a:solidFill>
          <a:ln w="12700">
            <a:solidFill>
              <a:srgbClr val="1F3864"/>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13" name="Text 11"/>
          <p:cNvSpPr/>
          <p:nvPr/>
        </p:nvSpPr>
        <p:spPr>
          <a:xfrm>
            <a:off x="411480" y="1737360"/>
            <a:ext cx="8321040"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Times New Roman" panose="02020603050405020304" pitchFamily="18" charset="0"/>
                <a:cs typeface="Times New Roman" panose="02020603050405020304" pitchFamily="18" charset="0"/>
              </a:rPr>
              <a:t>Three Contributions to AI-Assisted Digital Forensics</a:t>
            </a:r>
            <a:endParaRPr lang="en-US" sz="1200" dirty="0">
              <a:latin typeface="Times New Roman" panose="02020603050405020304" pitchFamily="18" charset="0"/>
              <a:cs typeface="Times New Roman" panose="02020603050405020304" pitchFamily="18" charset="0"/>
            </a:endParaRPr>
          </a:p>
        </p:txBody>
      </p:sp>
      <p:sp>
        <p:nvSpPr>
          <p:cNvPr id="14" name="Shape 12"/>
          <p:cNvSpPr/>
          <p:nvPr/>
        </p:nvSpPr>
        <p:spPr>
          <a:xfrm>
            <a:off x="475488" y="2157984"/>
            <a:ext cx="274320" cy="274320"/>
          </a:xfrm>
          <a:prstGeom prst="ellipse">
            <a:avLst/>
          </a:prstGeom>
          <a:solidFill>
            <a:srgbClr val="0056B3"/>
          </a:solidFill>
          <a:ln w="12700">
            <a:solidFill>
              <a:srgbClr val="0056B3"/>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15" name="Text 13"/>
          <p:cNvSpPr/>
          <p:nvPr/>
        </p:nvSpPr>
        <p:spPr>
          <a:xfrm>
            <a:off x="475488" y="2157984"/>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Times New Roman" panose="02020603050405020304" pitchFamily="18" charset="0"/>
                <a:cs typeface="Times New Roman" panose="02020603050405020304" pitchFamily="18" charset="0"/>
              </a:rPr>
              <a:t>1</a:t>
            </a:r>
            <a:endParaRPr lang="en-US" sz="1000" dirty="0">
              <a:latin typeface="Times New Roman" panose="02020603050405020304" pitchFamily="18" charset="0"/>
              <a:cs typeface="Times New Roman" panose="02020603050405020304" pitchFamily="18" charset="0"/>
            </a:endParaRPr>
          </a:p>
        </p:txBody>
      </p:sp>
      <p:sp>
        <p:nvSpPr>
          <p:cNvPr id="16" name="Text 14"/>
          <p:cNvSpPr/>
          <p:nvPr/>
        </p:nvSpPr>
        <p:spPr>
          <a:xfrm>
            <a:off x="859536" y="2103120"/>
            <a:ext cx="7863840" cy="603504"/>
          </a:xfrm>
          <a:prstGeom prst="rect">
            <a:avLst/>
          </a:prstGeom>
          <a:noFill/>
          <a:ln/>
        </p:spPr>
        <p:txBody>
          <a:bodyPr wrap="square" lIns="25400" tIns="25400" rIns="25400" bIns="25400" rtlCol="0" anchor="ctr"/>
          <a:lstStyle/>
          <a:p>
            <a:pPr marL="0" indent="0">
              <a:buNone/>
            </a:pPr>
            <a:r>
              <a:rPr lang="en-US" sz="1150" dirty="0">
                <a:solidFill>
                  <a:srgbClr val="1E293B"/>
                </a:solidFill>
                <a:latin typeface="Times New Roman" panose="02020603050405020304" pitchFamily="18" charset="0"/>
                <a:cs typeface="Times New Roman" panose="02020603050405020304" pitchFamily="18" charset="0"/>
              </a:rPr>
              <a:t>Rigorous empirical comparison of VGG16, EfficientNet-B3, and ResNet18 under identical, reproducible conditions — providing a reference benchmark on RealVsFake_81k.</a:t>
            </a:r>
            <a:endParaRPr lang="en-US" sz="1150" dirty="0">
              <a:latin typeface="Times New Roman" panose="02020603050405020304" pitchFamily="18" charset="0"/>
              <a:cs typeface="Times New Roman" panose="02020603050405020304" pitchFamily="18" charset="0"/>
            </a:endParaRPr>
          </a:p>
        </p:txBody>
      </p:sp>
      <p:sp>
        <p:nvSpPr>
          <p:cNvPr id="17" name="Shape 15"/>
          <p:cNvSpPr/>
          <p:nvPr/>
        </p:nvSpPr>
        <p:spPr>
          <a:xfrm>
            <a:off x="475488" y="2798064"/>
            <a:ext cx="274320" cy="274320"/>
          </a:xfrm>
          <a:prstGeom prst="ellipse">
            <a:avLst/>
          </a:prstGeom>
          <a:solidFill>
            <a:srgbClr val="0056B3"/>
          </a:solidFill>
          <a:ln w="12700">
            <a:solidFill>
              <a:srgbClr val="0056B3"/>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18" name="Text 16"/>
          <p:cNvSpPr/>
          <p:nvPr/>
        </p:nvSpPr>
        <p:spPr>
          <a:xfrm>
            <a:off x="475488" y="2798064"/>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Times New Roman" panose="02020603050405020304" pitchFamily="18" charset="0"/>
                <a:cs typeface="Times New Roman" panose="02020603050405020304" pitchFamily="18" charset="0"/>
              </a:rPr>
              <a:t>2</a:t>
            </a:r>
            <a:endParaRPr lang="en-US" sz="1000" dirty="0">
              <a:latin typeface="Times New Roman" panose="02020603050405020304" pitchFamily="18" charset="0"/>
              <a:cs typeface="Times New Roman" panose="02020603050405020304" pitchFamily="18" charset="0"/>
            </a:endParaRPr>
          </a:p>
        </p:txBody>
      </p:sp>
      <p:sp>
        <p:nvSpPr>
          <p:cNvPr id="19" name="Text 17"/>
          <p:cNvSpPr/>
          <p:nvPr/>
        </p:nvSpPr>
        <p:spPr>
          <a:xfrm>
            <a:off x="859536" y="2743200"/>
            <a:ext cx="7863840" cy="603504"/>
          </a:xfrm>
          <a:prstGeom prst="rect">
            <a:avLst/>
          </a:prstGeom>
          <a:noFill/>
          <a:ln/>
        </p:spPr>
        <p:txBody>
          <a:bodyPr wrap="square" lIns="25400" tIns="25400" rIns="25400" bIns="25400" rtlCol="0" anchor="ctr"/>
          <a:lstStyle/>
          <a:p>
            <a:pPr marL="0" indent="0">
              <a:buNone/>
            </a:pPr>
            <a:r>
              <a:rPr lang="en-US" sz="1150" dirty="0">
                <a:solidFill>
                  <a:srgbClr val="1E293B"/>
                </a:solidFill>
                <a:latin typeface="Times New Roman" panose="02020603050405020304" pitchFamily="18" charset="0"/>
                <a:cs typeface="Times New Roman" panose="02020603050405020304" pitchFamily="18" charset="0"/>
              </a:rPr>
              <a:t>Practical integration of MTCNN + VGG16 + Grad-CAM into a deployable, browser-based forensic tool accessible without installation or account registration.</a:t>
            </a:r>
            <a:endParaRPr lang="en-US" sz="1150" dirty="0">
              <a:latin typeface="Times New Roman" panose="02020603050405020304" pitchFamily="18" charset="0"/>
              <a:cs typeface="Times New Roman" panose="02020603050405020304" pitchFamily="18" charset="0"/>
            </a:endParaRPr>
          </a:p>
        </p:txBody>
      </p:sp>
      <p:sp>
        <p:nvSpPr>
          <p:cNvPr id="20" name="Shape 18"/>
          <p:cNvSpPr/>
          <p:nvPr/>
        </p:nvSpPr>
        <p:spPr>
          <a:xfrm>
            <a:off x="475488" y="3438144"/>
            <a:ext cx="274320" cy="274320"/>
          </a:xfrm>
          <a:prstGeom prst="ellipse">
            <a:avLst/>
          </a:prstGeom>
          <a:solidFill>
            <a:srgbClr val="0056B3"/>
          </a:solidFill>
          <a:ln w="12700">
            <a:solidFill>
              <a:srgbClr val="0056B3"/>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21" name="Text 19"/>
          <p:cNvSpPr/>
          <p:nvPr/>
        </p:nvSpPr>
        <p:spPr>
          <a:xfrm>
            <a:off x="475488" y="3438144"/>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Times New Roman" panose="02020603050405020304" pitchFamily="18" charset="0"/>
                <a:cs typeface="Times New Roman" panose="02020603050405020304" pitchFamily="18" charset="0"/>
              </a:rPr>
              <a:t>3</a:t>
            </a:r>
            <a:endParaRPr lang="en-US" sz="1000" dirty="0">
              <a:latin typeface="Times New Roman" panose="02020603050405020304" pitchFamily="18" charset="0"/>
              <a:cs typeface="Times New Roman" panose="02020603050405020304" pitchFamily="18" charset="0"/>
            </a:endParaRPr>
          </a:p>
        </p:txBody>
      </p:sp>
      <p:sp>
        <p:nvSpPr>
          <p:cNvPr id="22" name="Text 20"/>
          <p:cNvSpPr/>
          <p:nvPr/>
        </p:nvSpPr>
        <p:spPr>
          <a:xfrm>
            <a:off x="859536" y="3383280"/>
            <a:ext cx="7863840" cy="603504"/>
          </a:xfrm>
          <a:prstGeom prst="rect">
            <a:avLst/>
          </a:prstGeom>
          <a:noFill/>
          <a:ln/>
        </p:spPr>
        <p:txBody>
          <a:bodyPr wrap="square" lIns="25400" tIns="25400" rIns="25400" bIns="25400" rtlCol="0" anchor="ctr"/>
          <a:lstStyle/>
          <a:p>
            <a:pPr marL="0" indent="0">
              <a:buNone/>
            </a:pPr>
            <a:r>
              <a:rPr lang="en-US" sz="1150" dirty="0">
                <a:solidFill>
                  <a:srgbClr val="1E293B"/>
                </a:solidFill>
                <a:latin typeface="Times New Roman" panose="02020603050405020304" pitchFamily="18" charset="0"/>
                <a:cs typeface="Times New Roman" panose="02020603050405020304" pitchFamily="18" charset="0"/>
              </a:rPr>
              <a:t>Concrete roadmap for future development: video analysis, audio verification, identity document inspection, Vision Transformers, and active learning.</a:t>
            </a:r>
            <a:endParaRPr lang="en-US" sz="1150" dirty="0">
              <a:latin typeface="Times New Roman" panose="02020603050405020304" pitchFamily="18" charset="0"/>
              <a:cs typeface="Times New Roman" panose="02020603050405020304" pitchFamily="18" charset="0"/>
            </a:endParaRPr>
          </a:p>
        </p:txBody>
      </p:sp>
      <p:sp>
        <p:nvSpPr>
          <p:cNvPr id="23" name="Shape 21"/>
          <p:cNvSpPr/>
          <p:nvPr/>
        </p:nvSpPr>
        <p:spPr>
          <a:xfrm>
            <a:off x="411480" y="4059936"/>
            <a:ext cx="8321040" cy="713232"/>
          </a:xfrm>
          <a:prstGeom prst="rect">
            <a:avLst/>
          </a:prstGeom>
          <a:solidFill>
            <a:srgbClr val="1F3864"/>
          </a:solidFill>
          <a:ln w="12700">
            <a:solidFill>
              <a:srgbClr val="1F3864"/>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24" name="Text 22"/>
          <p:cNvSpPr/>
          <p:nvPr/>
        </p:nvSpPr>
        <p:spPr>
          <a:xfrm>
            <a:off x="502920" y="4059936"/>
            <a:ext cx="8138160" cy="713232"/>
          </a:xfrm>
          <a:prstGeom prst="rect">
            <a:avLst/>
          </a:prstGeom>
          <a:noFill/>
          <a:ln/>
        </p:spPr>
        <p:txBody>
          <a:bodyPr wrap="square" lIns="50800" tIns="50800" rIns="50800" bIns="50800" rtlCol="0" anchor="ctr"/>
          <a:lstStyle/>
          <a:p>
            <a:pPr marL="0" indent="0" algn="ctr">
              <a:buNone/>
            </a:pPr>
            <a:r>
              <a:rPr lang="en-US" sz="1200" i="1" dirty="0">
                <a:solidFill>
                  <a:srgbClr val="FFFFFF"/>
                </a:solidFill>
                <a:latin typeface="Times New Roman" panose="02020603050405020304" pitchFamily="18" charset="0"/>
                <a:cs typeface="Times New Roman" panose="02020603050405020304" pitchFamily="18" charset="0"/>
              </a:rPr>
              <a:t>"Deepfake technology is advancing faster than the forensic </a:t>
            </a:r>
            <a:r>
              <a:rPr lang="en-US" sz="1200" i="1">
                <a:solidFill>
                  <a:srgbClr val="FFFFFF"/>
                </a:solidFill>
                <a:latin typeface="Times New Roman" panose="02020603050405020304" pitchFamily="18" charset="0"/>
                <a:cs typeface="Times New Roman" panose="02020603050405020304" pitchFamily="18" charset="0"/>
              </a:rPr>
              <a:t>frameworksdi </a:t>
            </a:r>
            <a:r>
              <a:rPr lang="en-US" sz="1200" i="1" dirty="0">
                <a:solidFill>
                  <a:srgbClr val="FFFFFF"/>
                </a:solidFill>
                <a:latin typeface="Times New Roman" panose="02020603050405020304" pitchFamily="18" charset="0"/>
                <a:cs typeface="Times New Roman" panose="02020603050405020304" pitchFamily="18" charset="0"/>
              </a:rPr>
              <a:t>designed to contain it. This project demonstrates that accurate, explainable, and privacy-preserving detection is achievable today using open-source architectures."</a:t>
            </a:r>
            <a:endParaRPr lang="en-US" sz="1200" dirty="0">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2571</TotalTime>
  <Words>1892</Words>
  <Application>Microsoft Office PowerPoint</Application>
  <PresentationFormat>On-screen Show (16:9)</PresentationFormat>
  <Paragraphs>295</Paragraphs>
  <Slides>14</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Ziad Mohamed</dc:creator>
  <cp:lastModifiedBy>Ziad Mohamed Ahmed Mohamed</cp:lastModifiedBy>
  <cp:revision>14</cp:revision>
  <dcterms:created xsi:type="dcterms:W3CDTF">2026-05-12T05:04:45Z</dcterms:created>
  <dcterms:modified xsi:type="dcterms:W3CDTF">2026-05-14T18:52:32Z</dcterms:modified>
</cp:coreProperties>
</file>